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Barlow Condensed" panose="00000506000000000000" pitchFamily="2" charset="0"/>
      <p:regular r:id="rId17"/>
      <p:bold r:id="rId18"/>
      <p:italic r:id="rId19"/>
      <p:boldItalic r:id="rId20"/>
    </p:embeddedFont>
    <p:embeddedFont>
      <p:font typeface="Cabin" panose="020B0604020202020204" charset="0"/>
      <p:regular r:id="rId21"/>
      <p:bold r:id="rId22"/>
      <p:italic r:id="rId23"/>
      <p:boldItalic r:id="rId24"/>
    </p:embeddedFont>
    <p:embeddedFont>
      <p:font typeface="Cabin Medium" panose="020B0604020202020204" charset="0"/>
      <p:regular r:id="rId25"/>
      <p:bold r:id="rId26"/>
      <p:italic r:id="rId27"/>
      <p:boldItalic r:id="rId28"/>
    </p:embeddedFont>
    <p:embeddedFont>
      <p:font typeface="Cabin SemiBold" panose="020B0604020202020204" charset="0"/>
      <p:regular r:id="rId29"/>
      <p:bold r:id="rId30"/>
      <p:italic r:id="rId31"/>
      <p:boldItalic r:id="rId32"/>
    </p:embeddedFont>
    <p:embeddedFont>
      <p:font typeface="Comfortaa" panose="020B0604020202020204" charset="0"/>
      <p:regular r:id="rId33"/>
      <p:bold r:id="rId34"/>
    </p:embeddedFont>
    <p:embeddedFont>
      <p:font typeface="Comfortaa Medium" panose="020B0604020202020204" charset="0"/>
      <p:regular r:id="rId35"/>
      <p:bold r:id="rId36"/>
    </p:embeddedFont>
    <p:embeddedFont>
      <p:font typeface="Josefin Sans"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02">
          <p15:clr>
            <a:srgbClr val="747775"/>
          </p15:clr>
        </p15:guide>
        <p15:guide id="2" pos="5567">
          <p15:clr>
            <a:srgbClr val="747775"/>
          </p15:clr>
        </p15:guide>
        <p15:guide id="3" orient="horz"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k+9Kv6okf5hcnk2JrNyvZvtz4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3C29ED-DF52-495A-8174-471A50D0532C}">
  <a:tblStyle styleId="{133C29ED-DF52-495A-8174-471A50D0532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0F0"/>
          </a:solidFill>
        </a:fill>
      </a:tcStyle>
    </a:wholeTbl>
    <a:band1H>
      <a:tcTxStyle b="off" i="off"/>
      <a:tcStyle>
        <a:tcBdr/>
        <a:fill>
          <a:solidFill>
            <a:srgbClr val="E0E0E0"/>
          </a:solidFill>
        </a:fill>
      </a:tcStyle>
    </a:band1H>
    <a:band2H>
      <a:tcTxStyle b="off" i="off"/>
      <a:tcStyle>
        <a:tcBdr/>
      </a:tcStyle>
    </a:band2H>
    <a:band1V>
      <a:tcTxStyle b="off" i="off"/>
      <a:tcStyle>
        <a:tcBdr/>
        <a:fill>
          <a:solidFill>
            <a:srgbClr val="E0E0E0"/>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 styleId="{43D06EDE-987B-4894-A242-B41088D9BEBC}"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DB02A97-F7C7-495C-9862-EC5E712B0BC7}"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7" d="100"/>
          <a:sy n="127" d="100"/>
        </p:scale>
        <p:origin x="708" y="150"/>
      </p:cViewPr>
      <p:guideLst>
        <p:guide pos="402"/>
        <p:guide pos="5567"/>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 Id="rId5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L"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f6d87f1187_0_282: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48" name="Google Shape;148;g3f6d87f1187_0_282: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SzPts val="1200"/>
              <a:buNone/>
            </a:pPr>
            <a:endParaRPr/>
          </a:p>
        </p:txBody>
      </p:sp>
      <p:sp>
        <p:nvSpPr>
          <p:cNvPr id="149" name="Google Shape;149;g3f6d87f1187_0_282: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CL"/>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6d87f1187_0_290: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57" name="Google Shape;157;g3f6d87f1187_0_290: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58" name="Google Shape;158;g3f6d87f1187_0_290: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f6d87f1187_0_298: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66" name="Google Shape;166;g3f6d87f1187_0_298: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67" name="Google Shape;167;g3f6d87f1187_0_298: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f6d87f1187_0_306: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75" name="Google Shape;175;g3f6d87f1187_0_306: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76" name="Google Shape;176;g3f6d87f1187_0_306: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f6d87f1187_0_313: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83" name="Google Shape;183;g3f6d87f1187_0_313: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84" name="Google Shape;184;g3f6d87f1187_0_313: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6d87f1187_0_320: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91" name="Google Shape;191;g3f6d87f1187_0_320: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92" name="Google Shape;192;g3f6d87f1187_0_320: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f6d87f1187_0_327: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199" name="Google Shape;199;g3f6d87f1187_0_327: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00" name="Google Shape;200;g3f6d87f1187_0_327: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6d87f1187_0_334: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207" name="Google Shape;207;g3f6d87f1187_0_334: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08" name="Google Shape;208;g3f6d87f1187_0_334: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f6d87f1187_0_341: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215" name="Google Shape;215;g3f6d87f1187_0_341: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16" name="Google Shape;216;g3f6d87f1187_0_341: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6d87f1187_0_348:notes"/>
          <p:cNvSpPr>
            <a:spLocks noGrp="1" noRot="1" noChangeAspect="1"/>
          </p:cNvSpPr>
          <p:nvPr>
            <p:ph type="sldImg" idx="2"/>
          </p:nvPr>
        </p:nvSpPr>
        <p:spPr>
          <a:xfrm>
            <a:off x="1243909" y="977533"/>
            <a:ext cx="3733500" cy="2639400"/>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223" name="Google Shape;223;g3f6d87f1187_0_348: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24" name="Google Shape;224;g3f6d87f1187_0_348: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f6d87f1187_0_399: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1300" cap="flat" cmpd="sng">
            <a:solidFill>
              <a:srgbClr val="000000"/>
            </a:solidFill>
            <a:prstDash val="solid"/>
            <a:round/>
            <a:headEnd type="none" w="sm" len="sm"/>
            <a:tailEnd type="none" w="sm" len="sm"/>
          </a:ln>
        </p:spPr>
      </p:sp>
      <p:sp>
        <p:nvSpPr>
          <p:cNvPr id="275" name="Google Shape;275;g3f6d87f1187_0_399: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76" name="Google Shape;276;g3f6d87f1187_0_399: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838114d7a9_0_53:notes"/>
          <p:cNvSpPr>
            <a:spLocks noGrp="1" noRot="1" noChangeAspect="1"/>
          </p:cNvSpPr>
          <p:nvPr>
            <p:ph type="sldImg" idx="2"/>
          </p:nvPr>
        </p:nvSpPr>
        <p:spPr>
          <a:xfrm>
            <a:off x="1243909" y="977533"/>
            <a:ext cx="3733500" cy="2639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g3838114d7a9_0_53: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87" name="Google Shape;287;g3838114d7a9_0_53: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6732cdb071_0_488:notes"/>
          <p:cNvSpPr>
            <a:spLocks noGrp="1" noRot="1" noChangeAspect="1"/>
          </p:cNvSpPr>
          <p:nvPr>
            <p:ph type="sldImg" idx="2"/>
          </p:nvPr>
        </p:nvSpPr>
        <p:spPr>
          <a:xfrm>
            <a:off x="1243909" y="977533"/>
            <a:ext cx="3733500" cy="2639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6732cdb071_0_488: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307" name="Google Shape;307;g36732cdb071_0_488: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f84fc51fa7_1_5:notes"/>
          <p:cNvSpPr>
            <a:spLocks noGrp="1" noRot="1" noChangeAspect="1"/>
          </p:cNvSpPr>
          <p:nvPr>
            <p:ph type="sldImg" idx="2"/>
          </p:nvPr>
        </p:nvSpPr>
        <p:spPr>
          <a:xfrm>
            <a:off x="1350963" y="977900"/>
            <a:ext cx="3519487" cy="26384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g3f84fc51fa7_1_5:notes"/>
          <p:cNvSpPr txBox="1">
            <a:spLocks noGrp="1"/>
          </p:cNvSpPr>
          <p:nvPr>
            <p:ph type="body" idx="1"/>
          </p:nvPr>
        </p:nvSpPr>
        <p:spPr>
          <a:xfrm>
            <a:off x="622145" y="3763504"/>
            <a:ext cx="4977300" cy="3079500"/>
          </a:xfrm>
          <a:prstGeom prst="rect">
            <a:avLst/>
          </a:prstGeom>
          <a:noFill/>
          <a:ln>
            <a:noFill/>
          </a:ln>
        </p:spPr>
        <p:txBody>
          <a:bodyPr spcFirstLastPara="1" wrap="square" lIns="81350" tIns="40675" rIns="81350" bIns="4067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318" name="Google Shape;318;g3f84fc51fa7_1_5:notes"/>
          <p:cNvSpPr txBox="1">
            <a:spLocks noGrp="1"/>
          </p:cNvSpPr>
          <p:nvPr>
            <p:ph type="sldNum" idx="12"/>
          </p:nvPr>
        </p:nvSpPr>
        <p:spPr>
          <a:xfrm>
            <a:off x="3524050" y="7427897"/>
            <a:ext cx="2696100" cy="392400"/>
          </a:xfrm>
          <a:prstGeom prst="rect">
            <a:avLst/>
          </a:prstGeom>
          <a:noFill/>
          <a:ln>
            <a:noFill/>
          </a:ln>
        </p:spPr>
        <p:txBody>
          <a:bodyPr spcFirstLastPara="1" wrap="square" lIns="81350" tIns="40675" rIns="81350" bIns="40675" anchor="b" anchorCtr="0">
            <a:noAutofit/>
          </a:bodyPr>
          <a:lstStyle/>
          <a:p>
            <a:pPr marL="0" lvl="0" indent="0" algn="r" rtl="0">
              <a:lnSpc>
                <a:spcPct val="100000"/>
              </a:lnSpc>
              <a:spcBef>
                <a:spcPts val="0"/>
              </a:spcBef>
              <a:spcAft>
                <a:spcPts val="0"/>
              </a:spcAft>
              <a:buClr>
                <a:srgbClr val="000000"/>
              </a:buClr>
              <a:buSzPts val="1100"/>
              <a:buFont typeface="Arial"/>
              <a:buNone/>
            </a:pPr>
            <a:fld id="{00000000-1234-1234-1234-123412341234}" type="slidenum">
              <a:rPr lang="es-CL"/>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ix columns of text">
  <p:cSld name="Six columns of text">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ix columns of text">
  <p:cSld name="1_Six columns of text">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7">
  <p:cSld name="TITLE_AND_BODY_5">
    <p:spTree>
      <p:nvGrpSpPr>
        <p:cNvPr id="1" name="Shape 13"/>
        <p:cNvGrpSpPr/>
        <p:nvPr/>
      </p:nvGrpSpPr>
      <p:grpSpPr>
        <a:xfrm>
          <a:off x="0" y="0"/>
          <a:ext cx="0" cy="0"/>
          <a:chOff x="0" y="0"/>
          <a:chExt cx="0" cy="0"/>
        </a:xfrm>
      </p:grpSpPr>
      <p:sp>
        <p:nvSpPr>
          <p:cNvPr id="14" name="Google Shape;14;g28f41235915_0_119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 name="Google Shape;15;g28f41235915_0_119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6" name="Google Shape;16;g28f41235915_0_119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sp>
        <p:nvSpPr>
          <p:cNvPr id="18" name="Google Shape;18;p115"/>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rgbClr val="C582F4"/>
              </a:buClr>
              <a:buSzPts val="6000"/>
              <a:buFont typeface="Barlow Condensed"/>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 name="Google Shape;19;p115"/>
          <p:cNvSpPr txBox="1">
            <a:spLocks noGrp="1"/>
          </p:cNvSpPr>
          <p:nvPr>
            <p:ph type="subTitle" idx="1"/>
          </p:nvPr>
        </p:nvSpPr>
        <p:spPr>
          <a:xfrm>
            <a:off x="685800" y="3602037"/>
            <a:ext cx="7772400" cy="2133599"/>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apositiva de título 1">
  <p:cSld name="TITLE_28">
    <p:spTree>
      <p:nvGrpSpPr>
        <p:cNvPr id="1" name="Shape 21"/>
        <p:cNvGrpSpPr/>
        <p:nvPr/>
      </p:nvGrpSpPr>
      <p:grpSpPr>
        <a:xfrm>
          <a:off x="0" y="0"/>
          <a:ext cx="0" cy="0"/>
          <a:chOff x="0" y="0"/>
          <a:chExt cx="0" cy="0"/>
        </a:xfrm>
      </p:grpSpPr>
      <p:sp>
        <p:nvSpPr>
          <p:cNvPr id="22" name="Google Shape;22;g36107079609_0_183"/>
          <p:cNvSpPr txBox="1">
            <a:spLocks noGrp="1"/>
          </p:cNvSpPr>
          <p:nvPr>
            <p:ph type="ctrTitle"/>
          </p:nvPr>
        </p:nvSpPr>
        <p:spPr>
          <a:xfrm>
            <a:off x="1143000" y="1122363"/>
            <a:ext cx="6858000" cy="2387700"/>
          </a:xfrm>
          <a:prstGeom prst="rect">
            <a:avLst/>
          </a:prstGeom>
          <a:noFill/>
          <a:ln>
            <a:noFill/>
          </a:ln>
        </p:spPr>
        <p:txBody>
          <a:bodyPr spcFirstLastPara="1" wrap="square" lIns="69550" tIns="34775" rIns="69550" bIns="34775" anchor="b" anchorCtr="0">
            <a:noAutofit/>
          </a:bodyPr>
          <a:lstStyle>
            <a:lvl1pPr marR="0" lvl="0" algn="ctr" rtl="0">
              <a:lnSpc>
                <a:spcPct val="90000"/>
              </a:lnSpc>
              <a:spcBef>
                <a:spcPts val="0"/>
              </a:spcBef>
              <a:spcAft>
                <a:spcPts val="0"/>
              </a:spcAft>
              <a:buClr>
                <a:schemeClr val="dk1"/>
              </a:buClr>
              <a:buSzPts val="4600"/>
              <a:buFont typeface="Calibri"/>
              <a:buChar char="●"/>
              <a:defRPr sz="4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g36107079609_0_183"/>
          <p:cNvSpPr txBox="1">
            <a:spLocks noGrp="1"/>
          </p:cNvSpPr>
          <p:nvPr>
            <p:ph type="subTitle" idx="1"/>
          </p:nvPr>
        </p:nvSpPr>
        <p:spPr>
          <a:xfrm>
            <a:off x="1143000" y="3602038"/>
            <a:ext cx="6858000" cy="1656000"/>
          </a:xfrm>
          <a:prstGeom prst="rect">
            <a:avLst/>
          </a:prstGeom>
          <a:noFill/>
          <a:ln>
            <a:noFill/>
          </a:ln>
        </p:spPr>
        <p:txBody>
          <a:bodyPr spcFirstLastPara="1" wrap="square" lIns="69550" tIns="34775" rIns="69550" bIns="34775" anchor="t" anchorCtr="0">
            <a:noAutofit/>
          </a:bodyPr>
          <a:lstStyle>
            <a:lvl1pPr marR="0" lvl="0" algn="ctr" rtl="0">
              <a:lnSpc>
                <a:spcPct val="90000"/>
              </a:lnSpc>
              <a:spcBef>
                <a:spcPts val="8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1pPr>
            <a:lvl2pPr marR="0" lvl="1" algn="ctr" rtl="0">
              <a:lnSpc>
                <a:spcPct val="90000"/>
              </a:lnSpc>
              <a:spcBef>
                <a:spcPts val="400"/>
              </a:spcBef>
              <a:spcAft>
                <a:spcPts val="0"/>
              </a:spcAft>
              <a:buClr>
                <a:schemeClr val="dk1"/>
              </a:buClr>
              <a:buSzPts val="1500"/>
              <a:buFont typeface="Arial"/>
              <a:buNone/>
              <a:defRPr sz="1500" b="0" i="0" u="none" strike="noStrike" cap="none">
                <a:solidFill>
                  <a:srgbClr val="000000"/>
                </a:solidFill>
                <a:latin typeface="Arial"/>
                <a:ea typeface="Arial"/>
                <a:cs typeface="Arial"/>
                <a:sym typeface="Arial"/>
              </a:defRPr>
            </a:lvl2pPr>
            <a:lvl3pPr marR="0" lvl="2" algn="ctr" rtl="0">
              <a:lnSpc>
                <a:spcPct val="90000"/>
              </a:lnSpc>
              <a:spcBef>
                <a:spcPts val="40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3pPr>
            <a:lvl4pPr marR="0" lvl="3"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4pPr>
            <a:lvl5pPr marR="0" lvl="4"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9pPr>
          </a:lstStyle>
          <a:p>
            <a:endParaRPr/>
          </a:p>
        </p:txBody>
      </p:sp>
      <p:sp>
        <p:nvSpPr>
          <p:cNvPr id="24" name="Google Shape;24;g36107079609_0_183"/>
          <p:cNvSpPr txBox="1">
            <a:spLocks noGrp="1"/>
          </p:cNvSpPr>
          <p:nvPr>
            <p:ph type="dt" idx="10"/>
          </p:nvPr>
        </p:nvSpPr>
        <p:spPr>
          <a:xfrm>
            <a:off x="628650" y="6356350"/>
            <a:ext cx="2057400" cy="365100"/>
          </a:xfrm>
          <a:prstGeom prst="rect">
            <a:avLst/>
          </a:prstGeom>
          <a:noFill/>
          <a:ln>
            <a:noFill/>
          </a:ln>
        </p:spPr>
        <p:txBody>
          <a:bodyPr spcFirstLastPara="1" wrap="square" lIns="69550" tIns="34775" rIns="69550" bIns="34775" anchor="ctr" anchorCtr="0">
            <a:noAutofit/>
          </a:bodyPr>
          <a:lstStyle>
            <a:lvl1pPr marR="0" lvl="0"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endParaRPr/>
          </a:p>
        </p:txBody>
      </p:sp>
      <p:sp>
        <p:nvSpPr>
          <p:cNvPr id="25" name="Google Shape;25;g36107079609_0_183"/>
          <p:cNvSpPr txBox="1">
            <a:spLocks noGrp="1"/>
          </p:cNvSpPr>
          <p:nvPr>
            <p:ph type="ftr" idx="11"/>
          </p:nvPr>
        </p:nvSpPr>
        <p:spPr>
          <a:xfrm>
            <a:off x="3028950" y="6356350"/>
            <a:ext cx="3086100" cy="365100"/>
          </a:xfrm>
          <a:prstGeom prst="rect">
            <a:avLst/>
          </a:prstGeom>
          <a:noFill/>
          <a:ln>
            <a:noFill/>
          </a:ln>
        </p:spPr>
        <p:txBody>
          <a:bodyPr spcFirstLastPara="1" wrap="square" lIns="69550" tIns="34775" rIns="69550" bIns="34775" anchor="ctr" anchorCtr="0">
            <a:noAutofit/>
          </a:bodyPr>
          <a:lstStyle>
            <a:lvl1pPr marR="0" lvl="0" algn="ctr"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endParaRPr/>
          </a:p>
        </p:txBody>
      </p:sp>
      <p:sp>
        <p:nvSpPr>
          <p:cNvPr id="26" name="Google Shape;26;g36107079609_0_183"/>
          <p:cNvSpPr txBox="1">
            <a:spLocks noGrp="1"/>
          </p:cNvSpPr>
          <p:nvPr>
            <p:ph type="sldNum" idx="12"/>
          </p:nvPr>
        </p:nvSpPr>
        <p:spPr>
          <a:xfrm>
            <a:off x="6457950" y="6356350"/>
            <a:ext cx="2057400" cy="365100"/>
          </a:xfrm>
          <a:prstGeom prst="rect">
            <a:avLst/>
          </a:prstGeom>
          <a:noFill/>
          <a:ln>
            <a:noFill/>
          </a:ln>
        </p:spPr>
        <p:txBody>
          <a:bodyPr spcFirstLastPara="1" wrap="square" lIns="69550" tIns="34775" rIns="69550" bIns="34775"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and body 3">
  <p:cSld name="Title and body 3">
    <p:spTree>
      <p:nvGrpSpPr>
        <p:cNvPr id="1" name="Shape 2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4">
  <p:cSld name="TITLE_AND_BODY_2">
    <p:spTree>
      <p:nvGrpSpPr>
        <p:cNvPr id="1" name="Shape 28"/>
        <p:cNvGrpSpPr/>
        <p:nvPr/>
      </p:nvGrpSpPr>
      <p:grpSpPr>
        <a:xfrm>
          <a:off x="0" y="0"/>
          <a:ext cx="0" cy="0"/>
          <a:chOff x="0" y="0"/>
          <a:chExt cx="0" cy="0"/>
        </a:xfrm>
      </p:grpSpPr>
      <p:sp>
        <p:nvSpPr>
          <p:cNvPr id="29" name="Google Shape;29;g28f41235915_0_35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0" name="Google Shape;30;g28f41235915_0_356"/>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1" name="Google Shape;31;g28f41235915_0_35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32"/>
        <p:cNvGrpSpPr/>
        <p:nvPr/>
      </p:nvGrpSpPr>
      <p:grpSpPr>
        <a:xfrm>
          <a:off x="0" y="0"/>
          <a:ext cx="0" cy="0"/>
          <a:chOff x="0" y="0"/>
          <a:chExt cx="0" cy="0"/>
        </a:xfrm>
      </p:grpSpPr>
      <p:sp>
        <p:nvSpPr>
          <p:cNvPr id="33" name="Google Shape;33;g26f792a12d4_0_1197"/>
          <p:cNvSpPr txBox="1">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9pPr>
          </a:lstStyle>
          <a:p>
            <a:endParaRPr/>
          </a:p>
        </p:txBody>
      </p:sp>
      <p:sp>
        <p:nvSpPr>
          <p:cNvPr id="34" name="Google Shape;34;g26f792a12d4_0_119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1">
  <p:cSld name="TITLE_13">
    <p:spTree>
      <p:nvGrpSpPr>
        <p:cNvPr id="1" name="Shape 35"/>
        <p:cNvGrpSpPr/>
        <p:nvPr/>
      </p:nvGrpSpPr>
      <p:grpSpPr>
        <a:xfrm>
          <a:off x="0" y="0"/>
          <a:ext cx="0" cy="0"/>
          <a:chOff x="0" y="0"/>
          <a:chExt cx="0" cy="0"/>
        </a:xfrm>
      </p:grpSpPr>
      <p:sp>
        <p:nvSpPr>
          <p:cNvPr id="36" name="Google Shape;36;g26f792a12d4_0_1610"/>
          <p:cNvSpPr txBox="1">
            <a:spLocks noGrp="1"/>
          </p:cNvSpPr>
          <p:nvPr>
            <p:ph type="sldNum" idx="12"/>
          </p:nvPr>
        </p:nvSpPr>
        <p:spPr>
          <a:xfrm>
            <a:off x="8472458" y="6217623"/>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7"/>
        <p:cNvGrpSpPr/>
        <p:nvPr/>
      </p:nvGrpSpPr>
      <p:grpSpPr>
        <a:xfrm>
          <a:off x="0" y="0"/>
          <a:ext cx="0" cy="0"/>
          <a:chOff x="0" y="0"/>
          <a:chExt cx="0" cy="0"/>
        </a:xfrm>
      </p:grpSpPr>
      <p:sp>
        <p:nvSpPr>
          <p:cNvPr id="38" name="Google Shape;38;g28f41235915_0_360"/>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39" name="Google Shape;39;g28f41235915_0_36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3">
  <p:cSld name="TITLE_9">
    <p:spTree>
      <p:nvGrpSpPr>
        <p:cNvPr id="1" name="Shape 40"/>
        <p:cNvGrpSpPr/>
        <p:nvPr/>
      </p:nvGrpSpPr>
      <p:grpSpPr>
        <a:xfrm>
          <a:off x="0" y="0"/>
          <a:ext cx="0" cy="0"/>
          <a:chOff x="0" y="0"/>
          <a:chExt cx="0" cy="0"/>
        </a:xfrm>
      </p:grpSpPr>
      <p:sp>
        <p:nvSpPr>
          <p:cNvPr id="41" name="Google Shape;41;g28f41235915_0_574"/>
          <p:cNvSpPr txBox="1">
            <a:spLocks noGrp="1"/>
          </p:cNvSpPr>
          <p:nvPr>
            <p:ph type="sldNum" idx="12"/>
          </p:nvPr>
        </p:nvSpPr>
        <p:spPr>
          <a:xfrm>
            <a:off x="8472458" y="6217623"/>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1 2">
  <p:cSld name="TITLE_1_2">
    <p:spTree>
      <p:nvGrpSpPr>
        <p:cNvPr id="1" name="Shape 42"/>
        <p:cNvGrpSpPr/>
        <p:nvPr/>
      </p:nvGrpSpPr>
      <p:grpSpPr>
        <a:xfrm>
          <a:off x="0" y="0"/>
          <a:ext cx="0" cy="0"/>
          <a:chOff x="0" y="0"/>
          <a:chExt cx="0" cy="0"/>
        </a:xfrm>
      </p:grpSpPr>
      <p:sp>
        <p:nvSpPr>
          <p:cNvPr id="43" name="Google Shape;43;g28f41235915_0_576"/>
          <p:cNvSpPr txBox="1">
            <a:spLocks noGrp="1"/>
          </p:cNvSpPr>
          <p:nvPr>
            <p:ph type="sldNum" idx="12"/>
          </p:nvPr>
        </p:nvSpPr>
        <p:spPr>
          <a:xfrm>
            <a:off x="8472458" y="6217623"/>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5">
  <p:cSld name="TITLE_AND_BODY_3">
    <p:spTree>
      <p:nvGrpSpPr>
        <p:cNvPr id="1" name="Shape 44"/>
        <p:cNvGrpSpPr/>
        <p:nvPr/>
      </p:nvGrpSpPr>
      <p:grpSpPr>
        <a:xfrm>
          <a:off x="0" y="0"/>
          <a:ext cx="0" cy="0"/>
          <a:chOff x="0" y="0"/>
          <a:chExt cx="0" cy="0"/>
        </a:xfrm>
      </p:grpSpPr>
      <p:sp>
        <p:nvSpPr>
          <p:cNvPr id="45" name="Google Shape;45;g28f41235915_0_578"/>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8f41235915_0_578"/>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 name="Google Shape;47;g28f41235915_0_57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6">
  <p:cSld name="TITLE_AND_BODY_4">
    <p:spTree>
      <p:nvGrpSpPr>
        <p:cNvPr id="1" name="Shape 48"/>
        <p:cNvGrpSpPr/>
        <p:nvPr/>
      </p:nvGrpSpPr>
      <p:grpSpPr>
        <a:xfrm>
          <a:off x="0" y="0"/>
          <a:ext cx="0" cy="0"/>
          <a:chOff x="0" y="0"/>
          <a:chExt cx="0" cy="0"/>
        </a:xfrm>
      </p:grpSpPr>
      <p:sp>
        <p:nvSpPr>
          <p:cNvPr id="49" name="Google Shape;49;g28f41235915_0_928"/>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g28f41235915_0_928"/>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 name="Google Shape;51;g28f41235915_0_92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1">
  <p:cSld name="TITLE_1_3">
    <p:spTree>
      <p:nvGrpSpPr>
        <p:cNvPr id="1" name="Shape 52"/>
        <p:cNvGrpSpPr/>
        <p:nvPr/>
      </p:nvGrpSpPr>
      <p:grpSpPr>
        <a:xfrm>
          <a:off x="0" y="0"/>
          <a:ext cx="0" cy="0"/>
          <a:chOff x="0" y="0"/>
          <a:chExt cx="0" cy="0"/>
        </a:xfrm>
      </p:grpSpPr>
      <p:sp>
        <p:nvSpPr>
          <p:cNvPr id="53" name="Google Shape;53;g28f41235915_0_932"/>
          <p:cNvSpPr txBox="1">
            <a:spLocks noGrp="1"/>
          </p:cNvSpPr>
          <p:nvPr>
            <p:ph type="ctrTitle"/>
          </p:nvPr>
        </p:nvSpPr>
        <p:spPr>
          <a:xfrm>
            <a:off x="311708" y="992767"/>
            <a:ext cx="8520600" cy="27369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endParaRPr/>
          </a:p>
        </p:txBody>
      </p:sp>
      <p:sp>
        <p:nvSpPr>
          <p:cNvPr id="54" name="Google Shape;54;g28f41235915_0_932"/>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55" name="Google Shape;55;g28f41235915_0_93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2 1">
  <p:cSld name="TITLE_2_1">
    <p:spTree>
      <p:nvGrpSpPr>
        <p:cNvPr id="1" name="Shape 56"/>
        <p:cNvGrpSpPr/>
        <p:nvPr/>
      </p:nvGrpSpPr>
      <p:grpSpPr>
        <a:xfrm>
          <a:off x="0" y="0"/>
          <a:ext cx="0" cy="0"/>
          <a:chOff x="0" y="0"/>
          <a:chExt cx="0" cy="0"/>
        </a:xfrm>
      </p:grpSpPr>
      <p:sp>
        <p:nvSpPr>
          <p:cNvPr id="57" name="Google Shape;57;g28f41235915_0_1195"/>
          <p:cNvSpPr txBox="1">
            <a:spLocks noGrp="1"/>
          </p:cNvSpPr>
          <p:nvPr>
            <p:ph type="ctrTitle"/>
          </p:nvPr>
        </p:nvSpPr>
        <p:spPr>
          <a:xfrm>
            <a:off x="311708" y="992767"/>
            <a:ext cx="8520600" cy="27369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endParaRPr/>
          </a:p>
        </p:txBody>
      </p:sp>
      <p:sp>
        <p:nvSpPr>
          <p:cNvPr id="58" name="Google Shape;58;g28f41235915_0_1195"/>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59" name="Google Shape;59;g28f41235915_0_119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60"/>
        <p:cNvGrpSpPr/>
        <p:nvPr/>
      </p:nvGrpSpPr>
      <p:grpSpPr>
        <a:xfrm>
          <a:off x="0" y="0"/>
          <a:ext cx="0" cy="0"/>
          <a:chOff x="0" y="0"/>
          <a:chExt cx="0" cy="0"/>
        </a:xfrm>
      </p:grpSpPr>
      <p:sp>
        <p:nvSpPr>
          <p:cNvPr id="61" name="Google Shape;61;g2c2a73fc18f_0_388"/>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 name="Google Shape;62;g2c2a73fc18f_0_388"/>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 name="Google Shape;63;g2c2a73fc18f_0_38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64"/>
        <p:cNvGrpSpPr/>
        <p:nvPr/>
      </p:nvGrpSpPr>
      <p:grpSpPr>
        <a:xfrm>
          <a:off x="0" y="0"/>
          <a:ext cx="0" cy="0"/>
          <a:chOff x="0" y="0"/>
          <a:chExt cx="0" cy="0"/>
        </a:xfrm>
      </p:grpSpPr>
      <p:sp>
        <p:nvSpPr>
          <p:cNvPr id="65" name="Google Shape;65;g2c2a73fc18f_0_570"/>
          <p:cNvSpPr txBox="1">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9pPr>
          </a:lstStyle>
          <a:p>
            <a:endParaRPr/>
          </a:p>
        </p:txBody>
      </p:sp>
      <p:sp>
        <p:nvSpPr>
          <p:cNvPr id="66" name="Google Shape;66;g2c2a73fc18f_0_57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67"/>
        <p:cNvGrpSpPr/>
        <p:nvPr/>
      </p:nvGrpSpPr>
      <p:grpSpPr>
        <a:xfrm>
          <a:off x="0" y="0"/>
          <a:ext cx="0" cy="0"/>
          <a:chOff x="0" y="0"/>
          <a:chExt cx="0" cy="0"/>
        </a:xfrm>
      </p:grpSpPr>
      <p:sp>
        <p:nvSpPr>
          <p:cNvPr id="68" name="Google Shape;68;p116"/>
          <p:cNvSpPr txBox="1">
            <a:spLocks noGrp="1"/>
          </p:cNvSpPr>
          <p:nvPr>
            <p:ph type="title"/>
          </p:nvPr>
        </p:nvSpPr>
        <p:spPr>
          <a:xfrm>
            <a:off x="628650" y="365126"/>
            <a:ext cx="5798276" cy="158332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C582F4"/>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9" name="Google Shape;69;p116"/>
          <p:cNvSpPr txBox="1">
            <a:spLocks noGrp="1"/>
          </p:cNvSpPr>
          <p:nvPr>
            <p:ph type="body" idx="1"/>
          </p:nvPr>
        </p:nvSpPr>
        <p:spPr>
          <a:xfrm>
            <a:off x="628650" y="1948450"/>
            <a:ext cx="7886700" cy="390371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0"/>
        <p:cNvGrpSpPr/>
        <p:nvPr/>
      </p:nvGrpSpPr>
      <p:grpSpPr>
        <a:xfrm>
          <a:off x="0" y="0"/>
          <a:ext cx="0" cy="0"/>
          <a:chOff x="0" y="0"/>
          <a:chExt cx="0" cy="0"/>
        </a:xfrm>
      </p:grpSpPr>
      <p:sp>
        <p:nvSpPr>
          <p:cNvPr id="71" name="Google Shape;71;g2c2a73fc18f_0_849"/>
          <p:cNvSpPr txBox="1">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9pPr>
          </a:lstStyle>
          <a:p>
            <a:endParaRPr/>
          </a:p>
        </p:txBody>
      </p:sp>
      <p:sp>
        <p:nvSpPr>
          <p:cNvPr id="72" name="Google Shape;72;g2c2a73fc18f_0_84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Main point 2">
  <p:cSld name="Main point 2">
    <p:spTree>
      <p:nvGrpSpPr>
        <p:cNvPr id="1" name="Shape 73"/>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able of contents">
  <p:cSld name="Table of contents">
    <p:spTree>
      <p:nvGrpSpPr>
        <p:cNvPr id="1" name="Shape 74"/>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7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and body">
  <p:cSld name="Title and body">
    <p:spTree>
      <p:nvGrpSpPr>
        <p:cNvPr id="1" name="Shape 7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hree columns of text 2">
  <p:cSld name="Three columns of text 2">
    <p:spTree>
      <p:nvGrpSpPr>
        <p:cNvPr id="1" name="Shape 7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hree columns of text">
  <p:cSld name="Three columns of text">
    <p:spTree>
      <p:nvGrpSpPr>
        <p:cNvPr id="1" name="Shape 78"/>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79"/>
        <p:cNvGrpSpPr/>
        <p:nvPr/>
      </p:nvGrpSpPr>
      <p:grpSpPr>
        <a:xfrm>
          <a:off x="0" y="0"/>
          <a:ext cx="0" cy="0"/>
          <a:chOff x="0" y="0"/>
          <a:chExt cx="0" cy="0"/>
        </a:xfrm>
      </p:grpSpPr>
      <p:sp>
        <p:nvSpPr>
          <p:cNvPr id="80" name="Google Shape;80;p11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C582F4"/>
              </a:buClr>
              <a:buSzPts val="6000"/>
              <a:buFont typeface="Barlow Condensed"/>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1" name="Google Shape;81;p11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marR="0" lvl="0" indent="-228600" algn="r" rtl="0">
              <a:lnSpc>
                <a:spcPct val="90000"/>
              </a:lnSpc>
              <a:spcBef>
                <a:spcPts val="1000"/>
              </a:spcBef>
              <a:spcAft>
                <a:spcPts val="0"/>
              </a:spcAft>
              <a:buClr>
                <a:srgbClr val="77C6FC"/>
              </a:buClr>
              <a:buSzPts val="2400"/>
              <a:buFont typeface="Arial"/>
              <a:buNone/>
              <a:defRPr sz="2400" b="0" i="1" u="none" strike="noStrike" cap="none">
                <a:solidFill>
                  <a:srgbClr val="77C6FC"/>
                </a:solidFill>
                <a:latin typeface="Barlow Condensed"/>
                <a:ea typeface="Barlow Condensed"/>
                <a:cs typeface="Barlow Condensed"/>
                <a:sym typeface="Barlow Condensed"/>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82"/>
        <p:cNvGrpSpPr/>
        <p:nvPr/>
      </p:nvGrpSpPr>
      <p:grpSpPr>
        <a:xfrm>
          <a:off x="0" y="0"/>
          <a:ext cx="0" cy="0"/>
          <a:chOff x="0" y="0"/>
          <a:chExt cx="0" cy="0"/>
        </a:xfrm>
      </p:grpSpPr>
      <p:sp>
        <p:nvSpPr>
          <p:cNvPr id="83" name="Google Shape;83;p118"/>
          <p:cNvSpPr txBox="1">
            <a:spLocks noGrp="1"/>
          </p:cNvSpPr>
          <p:nvPr>
            <p:ph type="title"/>
          </p:nvPr>
        </p:nvSpPr>
        <p:spPr>
          <a:xfrm>
            <a:off x="628650" y="365126"/>
            <a:ext cx="5651834" cy="122373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C582F4"/>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4" name="Google Shape;84;p11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 name="Google Shape;85;p11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86"/>
        <p:cNvGrpSpPr/>
        <p:nvPr/>
      </p:nvGrpSpPr>
      <p:grpSpPr>
        <a:xfrm>
          <a:off x="0" y="0"/>
          <a:ext cx="0" cy="0"/>
          <a:chOff x="0" y="0"/>
          <a:chExt cx="0" cy="0"/>
        </a:xfrm>
      </p:grpSpPr>
      <p:sp>
        <p:nvSpPr>
          <p:cNvPr id="87" name="Google Shape;87;p119"/>
          <p:cNvSpPr txBox="1">
            <a:spLocks noGrp="1"/>
          </p:cNvSpPr>
          <p:nvPr>
            <p:ph type="title"/>
          </p:nvPr>
        </p:nvSpPr>
        <p:spPr>
          <a:xfrm>
            <a:off x="629841" y="365126"/>
            <a:ext cx="5686738"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C582F4"/>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119"/>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marR="0" lvl="0" indent="-228600" algn="l" rtl="0">
              <a:lnSpc>
                <a:spcPct val="90000"/>
              </a:lnSpc>
              <a:spcBef>
                <a:spcPts val="1000"/>
              </a:spcBef>
              <a:spcAft>
                <a:spcPts val="0"/>
              </a:spcAft>
              <a:buClr>
                <a:srgbClr val="494949"/>
              </a:buClr>
              <a:buSzPts val="2400"/>
              <a:buFont typeface="Arial"/>
              <a:buNone/>
              <a:defRPr sz="2400" b="1" i="0" u="none" strike="noStrike" cap="none">
                <a:solidFill>
                  <a:srgbClr val="494949"/>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89" name="Google Shape;89;p119"/>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77C6FC"/>
              </a:buClr>
              <a:buSzPts val="2800"/>
              <a:buFont typeface="Arial"/>
              <a:buChar char="•"/>
              <a:defRPr sz="1400" b="0" i="0" u="none" strike="noStrike" cap="none">
                <a:solidFill>
                  <a:srgbClr val="77C6FC"/>
                </a:solidFill>
                <a:latin typeface="Arial"/>
                <a:ea typeface="Arial"/>
                <a:cs typeface="Arial"/>
                <a:sym typeface="Arial"/>
              </a:defRPr>
            </a:lvl1pPr>
            <a:lvl2pPr marL="914400" marR="0" lvl="1" indent="-381000" algn="l" rtl="0">
              <a:lnSpc>
                <a:spcPct val="90000"/>
              </a:lnSpc>
              <a:spcBef>
                <a:spcPts val="500"/>
              </a:spcBef>
              <a:spcAft>
                <a:spcPts val="0"/>
              </a:spcAft>
              <a:buClr>
                <a:srgbClr val="494949"/>
              </a:buClr>
              <a:buSzPts val="2400"/>
              <a:buFont typeface="Arial"/>
              <a:buChar char="•"/>
              <a:defRPr sz="1400" b="0" i="0" u="none" strike="noStrike" cap="none">
                <a:solidFill>
                  <a:srgbClr val="494949"/>
                </a:solidFill>
                <a:latin typeface="Arial"/>
                <a:ea typeface="Arial"/>
                <a:cs typeface="Arial"/>
                <a:sym typeface="Arial"/>
              </a:defRPr>
            </a:lvl2pPr>
            <a:lvl3pPr marL="1371600" marR="0" lvl="2" indent="-355600" algn="l" rtl="0">
              <a:lnSpc>
                <a:spcPct val="90000"/>
              </a:lnSpc>
              <a:spcBef>
                <a:spcPts val="500"/>
              </a:spcBef>
              <a:spcAft>
                <a:spcPts val="0"/>
              </a:spcAft>
              <a:buClr>
                <a:srgbClr val="494949"/>
              </a:buClr>
              <a:buSzPts val="2000"/>
              <a:buFont typeface="Arial"/>
              <a:buChar char="•"/>
              <a:defRPr sz="1400" b="0" i="0" u="none" strike="noStrike" cap="none">
                <a:solidFill>
                  <a:srgbClr val="494949"/>
                </a:solidFill>
                <a:latin typeface="Arial"/>
                <a:ea typeface="Arial"/>
                <a:cs typeface="Arial"/>
                <a:sym typeface="Arial"/>
              </a:defRPr>
            </a:lvl3pPr>
            <a:lvl4pPr marL="1828800" marR="0" lvl="3" indent="-342900" algn="l" rtl="0">
              <a:lnSpc>
                <a:spcPct val="90000"/>
              </a:lnSpc>
              <a:spcBef>
                <a:spcPts val="500"/>
              </a:spcBef>
              <a:spcAft>
                <a:spcPts val="0"/>
              </a:spcAft>
              <a:buClr>
                <a:srgbClr val="494949"/>
              </a:buClr>
              <a:buSzPts val="1800"/>
              <a:buFont typeface="Arial"/>
              <a:buChar char="•"/>
              <a:defRPr sz="1400" b="0" i="0" u="none" strike="noStrike" cap="none">
                <a:solidFill>
                  <a:srgbClr val="494949"/>
                </a:solidFill>
                <a:latin typeface="Arial"/>
                <a:ea typeface="Arial"/>
                <a:cs typeface="Arial"/>
                <a:sym typeface="Arial"/>
              </a:defRPr>
            </a:lvl4pPr>
            <a:lvl5pPr marL="2286000" marR="0" lvl="4" indent="-342900" algn="l" rtl="0">
              <a:lnSpc>
                <a:spcPct val="90000"/>
              </a:lnSpc>
              <a:spcBef>
                <a:spcPts val="500"/>
              </a:spcBef>
              <a:spcAft>
                <a:spcPts val="0"/>
              </a:spcAft>
              <a:buClr>
                <a:srgbClr val="494949"/>
              </a:buClr>
              <a:buSzPts val="1800"/>
              <a:buFont typeface="Arial"/>
              <a:buChar char="•"/>
              <a:defRPr sz="1400" b="0" i="0" u="none" strike="noStrike" cap="none">
                <a:solidFill>
                  <a:srgbClr val="49494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0" name="Google Shape;90;p119"/>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marR="0" lvl="0" indent="-228600" algn="l" rtl="0">
              <a:lnSpc>
                <a:spcPct val="90000"/>
              </a:lnSpc>
              <a:spcBef>
                <a:spcPts val="1000"/>
              </a:spcBef>
              <a:spcAft>
                <a:spcPts val="0"/>
              </a:spcAft>
              <a:buClr>
                <a:srgbClr val="494949"/>
              </a:buClr>
              <a:buSzPts val="2400"/>
              <a:buFont typeface="Arial"/>
              <a:buNone/>
              <a:defRPr sz="2400" b="1" i="0" u="none" strike="noStrike" cap="none">
                <a:solidFill>
                  <a:srgbClr val="494949"/>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91" name="Google Shape;91;p119"/>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77C6FC"/>
              </a:buClr>
              <a:buSzPts val="2800"/>
              <a:buFont typeface="Arial"/>
              <a:buChar char="•"/>
              <a:defRPr sz="1400" b="0" i="0" u="none" strike="noStrike" cap="none">
                <a:solidFill>
                  <a:srgbClr val="77C6FC"/>
                </a:solidFill>
                <a:latin typeface="Arial"/>
                <a:ea typeface="Arial"/>
                <a:cs typeface="Arial"/>
                <a:sym typeface="Arial"/>
              </a:defRPr>
            </a:lvl1pPr>
            <a:lvl2pPr marL="914400" marR="0" lvl="1" indent="-381000" algn="l" rtl="0">
              <a:lnSpc>
                <a:spcPct val="90000"/>
              </a:lnSpc>
              <a:spcBef>
                <a:spcPts val="500"/>
              </a:spcBef>
              <a:spcAft>
                <a:spcPts val="0"/>
              </a:spcAft>
              <a:buClr>
                <a:srgbClr val="494949"/>
              </a:buClr>
              <a:buSzPts val="2400"/>
              <a:buFont typeface="Arial"/>
              <a:buChar char="•"/>
              <a:defRPr sz="1400" b="0" i="0" u="none" strike="noStrike" cap="none">
                <a:solidFill>
                  <a:srgbClr val="494949"/>
                </a:solidFill>
                <a:latin typeface="Arial"/>
                <a:ea typeface="Arial"/>
                <a:cs typeface="Arial"/>
                <a:sym typeface="Arial"/>
              </a:defRPr>
            </a:lvl2pPr>
            <a:lvl3pPr marL="1371600" marR="0" lvl="2" indent="-355600" algn="l" rtl="0">
              <a:lnSpc>
                <a:spcPct val="90000"/>
              </a:lnSpc>
              <a:spcBef>
                <a:spcPts val="500"/>
              </a:spcBef>
              <a:spcAft>
                <a:spcPts val="0"/>
              </a:spcAft>
              <a:buClr>
                <a:srgbClr val="494949"/>
              </a:buClr>
              <a:buSzPts val="2000"/>
              <a:buFont typeface="Arial"/>
              <a:buChar char="•"/>
              <a:defRPr sz="1400" b="0" i="0" u="none" strike="noStrike" cap="none">
                <a:solidFill>
                  <a:srgbClr val="494949"/>
                </a:solidFill>
                <a:latin typeface="Arial"/>
                <a:ea typeface="Arial"/>
                <a:cs typeface="Arial"/>
                <a:sym typeface="Arial"/>
              </a:defRPr>
            </a:lvl3pPr>
            <a:lvl4pPr marL="1828800" marR="0" lvl="3" indent="-342900" algn="l" rtl="0">
              <a:lnSpc>
                <a:spcPct val="90000"/>
              </a:lnSpc>
              <a:spcBef>
                <a:spcPts val="500"/>
              </a:spcBef>
              <a:spcAft>
                <a:spcPts val="0"/>
              </a:spcAft>
              <a:buClr>
                <a:srgbClr val="494949"/>
              </a:buClr>
              <a:buSzPts val="1800"/>
              <a:buFont typeface="Arial"/>
              <a:buChar char="•"/>
              <a:defRPr sz="1400" b="0" i="0" u="none" strike="noStrike" cap="none">
                <a:solidFill>
                  <a:srgbClr val="494949"/>
                </a:solidFill>
                <a:latin typeface="Arial"/>
                <a:ea typeface="Arial"/>
                <a:cs typeface="Arial"/>
                <a:sym typeface="Arial"/>
              </a:defRPr>
            </a:lvl4pPr>
            <a:lvl5pPr marL="2286000" marR="0" lvl="4" indent="-342900" algn="l" rtl="0">
              <a:lnSpc>
                <a:spcPct val="90000"/>
              </a:lnSpc>
              <a:spcBef>
                <a:spcPts val="500"/>
              </a:spcBef>
              <a:spcAft>
                <a:spcPts val="0"/>
              </a:spcAft>
              <a:buClr>
                <a:srgbClr val="494949"/>
              </a:buClr>
              <a:buSzPts val="1800"/>
              <a:buFont typeface="Arial"/>
              <a:buChar char="•"/>
              <a:defRPr sz="1400" b="0" i="0" u="none" strike="noStrike" cap="none">
                <a:solidFill>
                  <a:srgbClr val="494949"/>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92"/>
        <p:cNvGrpSpPr/>
        <p:nvPr/>
      </p:nvGrpSpPr>
      <p:grpSpPr>
        <a:xfrm>
          <a:off x="0" y="0"/>
          <a:ext cx="0" cy="0"/>
          <a:chOff x="0" y="0"/>
          <a:chExt cx="0" cy="0"/>
        </a:xfrm>
      </p:grpSpPr>
      <p:sp>
        <p:nvSpPr>
          <p:cNvPr id="93" name="Google Shape;93;p120"/>
          <p:cNvSpPr txBox="1">
            <a:spLocks noGrp="1"/>
          </p:cNvSpPr>
          <p:nvPr>
            <p:ph type="title"/>
          </p:nvPr>
        </p:nvSpPr>
        <p:spPr>
          <a:xfrm>
            <a:off x="1964155" y="2408058"/>
            <a:ext cx="5651834" cy="1223735"/>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C582F4"/>
              </a:buClr>
              <a:buSzPts val="4400"/>
              <a:buFont typeface="Barlow Condensed"/>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120"/>
          <p:cNvSpPr txBox="1">
            <a:spLocks noGrp="1"/>
          </p:cNvSpPr>
          <p:nvPr>
            <p:ph type="body" idx="1"/>
          </p:nvPr>
        </p:nvSpPr>
        <p:spPr>
          <a:xfrm>
            <a:off x="2855902" y="3858879"/>
            <a:ext cx="3868340" cy="823912"/>
          </a:xfrm>
          <a:prstGeom prst="rect">
            <a:avLst/>
          </a:prstGeom>
          <a:noFill/>
          <a:ln>
            <a:noFill/>
          </a:ln>
        </p:spPr>
        <p:txBody>
          <a:bodyPr spcFirstLastPara="1" wrap="square" lIns="91425" tIns="45700" rIns="91425" bIns="45700" anchor="b" anchorCtr="0">
            <a:normAutofit/>
          </a:bodyPr>
          <a:lstStyle>
            <a:lvl1pPr marL="457200" marR="0" lvl="0" indent="-228600" algn="ctr" rtl="0">
              <a:lnSpc>
                <a:spcPct val="90000"/>
              </a:lnSpc>
              <a:spcBef>
                <a:spcPts val="1000"/>
              </a:spcBef>
              <a:spcAft>
                <a:spcPts val="0"/>
              </a:spcAft>
              <a:buClr>
                <a:srgbClr val="494949"/>
              </a:buClr>
              <a:buSzPts val="2400"/>
              <a:buFont typeface="Arial"/>
              <a:buNone/>
              <a:defRPr sz="2400" b="0" i="1" u="none" strike="noStrike" cap="none">
                <a:solidFill>
                  <a:srgbClr val="494949"/>
                </a:solidFill>
                <a:latin typeface="Barlow Condensed"/>
                <a:ea typeface="Barlow Condensed"/>
                <a:cs typeface="Barlow Condensed"/>
                <a:sym typeface="Barlow Condensed"/>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95"/>
        <p:cNvGrpSpPr/>
        <p:nvPr/>
      </p:nvGrpSpPr>
      <p:grpSpPr>
        <a:xfrm>
          <a:off x="0" y="0"/>
          <a:ext cx="0" cy="0"/>
          <a:chOff x="0" y="0"/>
          <a:chExt cx="0" cy="0"/>
        </a:xfrm>
      </p:grpSpPr>
      <p:sp>
        <p:nvSpPr>
          <p:cNvPr id="96" name="Google Shape;96;p121"/>
          <p:cNvSpPr txBox="1">
            <a:spLocks noGrp="1"/>
          </p:cNvSpPr>
          <p:nvPr>
            <p:ph type="title"/>
          </p:nvPr>
        </p:nvSpPr>
        <p:spPr>
          <a:xfrm>
            <a:off x="629841" y="678112"/>
            <a:ext cx="2949178" cy="1690188"/>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C582F4"/>
              </a:buClr>
              <a:buSzPts val="3200"/>
              <a:buFont typeface="Barlow Condensed"/>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121"/>
          <p:cNvSpPr txBox="1">
            <a:spLocks noGrp="1"/>
          </p:cNvSpPr>
          <p:nvPr>
            <p:ph type="body" idx="1"/>
          </p:nvPr>
        </p:nvSpPr>
        <p:spPr>
          <a:xfrm>
            <a:off x="3885009" y="1306263"/>
            <a:ext cx="4629150" cy="4873625"/>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rgbClr val="000000"/>
                </a:solidFill>
                <a:latin typeface="Arial"/>
                <a:ea typeface="Arial"/>
                <a:cs typeface="Arial"/>
                <a:sym typeface="Arial"/>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rgbClr val="000000"/>
                </a:solidFill>
                <a:latin typeface="Arial"/>
                <a:ea typeface="Arial"/>
                <a:cs typeface="Arial"/>
                <a:sym typeface="Arial"/>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rgbClr val="000000"/>
                </a:solidFill>
                <a:latin typeface="Arial"/>
                <a:ea typeface="Arial"/>
                <a:cs typeface="Arial"/>
                <a:sym typeface="Arial"/>
              </a:defRPr>
            </a:lvl9pPr>
          </a:lstStyle>
          <a:p>
            <a:endParaRPr/>
          </a:p>
        </p:txBody>
      </p:sp>
      <p:sp>
        <p:nvSpPr>
          <p:cNvPr id="98" name="Google Shape;98;p121"/>
          <p:cNvSpPr txBox="1">
            <a:spLocks noGrp="1"/>
          </p:cNvSpPr>
          <p:nvPr>
            <p:ph type="body" idx="2"/>
          </p:nvPr>
        </p:nvSpPr>
        <p:spPr>
          <a:xfrm>
            <a:off x="629841" y="2368300"/>
            <a:ext cx="2949178" cy="381158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99"/>
        <p:cNvGrpSpPr/>
        <p:nvPr/>
      </p:nvGrpSpPr>
      <p:grpSpPr>
        <a:xfrm>
          <a:off x="0" y="0"/>
          <a:ext cx="0" cy="0"/>
          <a:chOff x="0" y="0"/>
          <a:chExt cx="0" cy="0"/>
        </a:xfrm>
      </p:grpSpPr>
      <p:sp>
        <p:nvSpPr>
          <p:cNvPr id="100" name="Google Shape;100;p122"/>
          <p:cNvSpPr txBox="1">
            <a:spLocks noGrp="1"/>
          </p:cNvSpPr>
          <p:nvPr>
            <p:ph type="title"/>
          </p:nvPr>
        </p:nvSpPr>
        <p:spPr>
          <a:xfrm>
            <a:off x="629841" y="888273"/>
            <a:ext cx="2949178" cy="160020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C582F4"/>
              </a:buClr>
              <a:buSzPts val="3200"/>
              <a:buFont typeface="Barlow Condensed"/>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122"/>
          <p:cNvSpPr>
            <a:spLocks noGrp="1"/>
          </p:cNvSpPr>
          <p:nvPr>
            <p:ph type="pic" idx="2"/>
          </p:nvPr>
        </p:nvSpPr>
        <p:spPr>
          <a:xfrm>
            <a:off x="3887391" y="1397726"/>
            <a:ext cx="4629150" cy="4463325"/>
          </a:xfrm>
          <a:prstGeom prst="rect">
            <a:avLst/>
          </a:prstGeom>
          <a:noFill/>
          <a:ln>
            <a:noFill/>
          </a:ln>
        </p:spPr>
      </p:sp>
      <p:sp>
        <p:nvSpPr>
          <p:cNvPr id="102" name="Google Shape;102;p122"/>
          <p:cNvSpPr txBox="1">
            <a:spLocks noGrp="1"/>
          </p:cNvSpPr>
          <p:nvPr>
            <p:ph type="body" idx="1"/>
          </p:nvPr>
        </p:nvSpPr>
        <p:spPr>
          <a:xfrm>
            <a:off x="629841" y="2521130"/>
            <a:ext cx="2949178" cy="33478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03"/>
        <p:cNvGrpSpPr/>
        <p:nvPr/>
      </p:nvGrpSpPr>
      <p:grpSpPr>
        <a:xfrm>
          <a:off x="0" y="0"/>
          <a:ext cx="0" cy="0"/>
          <a:chOff x="0" y="0"/>
          <a:chExt cx="0" cy="0"/>
        </a:xfrm>
      </p:grpSpPr>
      <p:sp>
        <p:nvSpPr>
          <p:cNvPr id="104" name="Google Shape;104;p123"/>
          <p:cNvSpPr txBox="1">
            <a:spLocks noGrp="1"/>
          </p:cNvSpPr>
          <p:nvPr>
            <p:ph type="title"/>
          </p:nvPr>
        </p:nvSpPr>
        <p:spPr>
          <a:xfrm>
            <a:off x="628650" y="365126"/>
            <a:ext cx="5651834" cy="122373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C582F4"/>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123"/>
          <p:cNvSpPr txBox="1">
            <a:spLocks noGrp="1"/>
          </p:cNvSpPr>
          <p:nvPr>
            <p:ph type="body" idx="1"/>
          </p:nvPr>
        </p:nvSpPr>
        <p:spPr>
          <a:xfrm rot="5400000">
            <a:off x="2620145" y="-43045"/>
            <a:ext cx="3903710" cy="78867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Solo el título">
  <p:cSld name="1_Solo el título">
    <p:spTree>
      <p:nvGrpSpPr>
        <p:cNvPr id="1" name="Shape 106"/>
        <p:cNvGrpSpPr/>
        <p:nvPr/>
      </p:nvGrpSpPr>
      <p:grpSpPr>
        <a:xfrm>
          <a:off x="0" y="0"/>
          <a:ext cx="0" cy="0"/>
          <a:chOff x="0" y="0"/>
          <a:chExt cx="0" cy="0"/>
        </a:xfrm>
      </p:grpSpPr>
      <p:sp>
        <p:nvSpPr>
          <p:cNvPr id="107" name="Google Shape;107;p124"/>
          <p:cNvSpPr txBox="1">
            <a:spLocks noGrp="1"/>
          </p:cNvSpPr>
          <p:nvPr>
            <p:ph type="title"/>
          </p:nvPr>
        </p:nvSpPr>
        <p:spPr>
          <a:xfrm>
            <a:off x="1964155" y="2408058"/>
            <a:ext cx="5651834" cy="1223735"/>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C582F4"/>
              </a:buClr>
              <a:buSzPts val="4400"/>
              <a:buFont typeface="Barlow Condensed"/>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124"/>
          <p:cNvSpPr txBox="1">
            <a:spLocks noGrp="1"/>
          </p:cNvSpPr>
          <p:nvPr>
            <p:ph type="body" idx="1"/>
          </p:nvPr>
        </p:nvSpPr>
        <p:spPr>
          <a:xfrm>
            <a:off x="2855902" y="3858879"/>
            <a:ext cx="3868340" cy="823912"/>
          </a:xfrm>
          <a:prstGeom prst="rect">
            <a:avLst/>
          </a:prstGeom>
          <a:noFill/>
          <a:ln>
            <a:noFill/>
          </a:ln>
        </p:spPr>
        <p:txBody>
          <a:bodyPr spcFirstLastPara="1" wrap="square" lIns="91425" tIns="45700" rIns="91425" bIns="45700" anchor="b" anchorCtr="0">
            <a:normAutofit/>
          </a:bodyPr>
          <a:lstStyle>
            <a:lvl1pPr marL="457200" marR="0" lvl="0" indent="-228600" algn="ctr" rtl="0">
              <a:lnSpc>
                <a:spcPct val="90000"/>
              </a:lnSpc>
              <a:spcBef>
                <a:spcPts val="1000"/>
              </a:spcBef>
              <a:spcAft>
                <a:spcPts val="0"/>
              </a:spcAft>
              <a:buClr>
                <a:srgbClr val="494949"/>
              </a:buClr>
              <a:buSzPts val="2400"/>
              <a:buFont typeface="Arial"/>
              <a:buNone/>
              <a:defRPr sz="2400" b="0" i="1" u="none" strike="noStrike" cap="none">
                <a:solidFill>
                  <a:srgbClr val="494949"/>
                </a:solidFill>
                <a:latin typeface="Barlow Condensed"/>
                <a:ea typeface="Barlow Condensed"/>
                <a:cs typeface="Barlow Condensed"/>
                <a:sym typeface="Barlow Condensed"/>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p:cSld name="1_Title slide">
    <p:spTree>
      <p:nvGrpSpPr>
        <p:cNvPr id="1" name="Shape 109"/>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Title and body 3">
  <p:cSld name="1_Title and body 3">
    <p:spTree>
      <p:nvGrpSpPr>
        <p:cNvPr id="1" name="Shape 110"/>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Table of contents">
  <p:cSld name="1_Table of contents">
    <p:spTree>
      <p:nvGrpSpPr>
        <p:cNvPr id="1" name="Shape 111"/>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p:spTree>
      <p:nvGrpSpPr>
        <p:cNvPr id="1" name="Shape 112"/>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 and body">
  <p:cSld name="1_Title and body">
    <p:spTree>
      <p:nvGrpSpPr>
        <p:cNvPr id="1" name="Shape 113"/>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hree columns of text 2">
  <p:cSld name="1_Three columns of text 2">
    <p:spTree>
      <p:nvGrpSpPr>
        <p:cNvPr id="1" name="Shape 114"/>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Three columns of text">
  <p:cSld name="1_Three columns of text">
    <p:spTree>
      <p:nvGrpSpPr>
        <p:cNvPr id="1" name="Shape 11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Main point 2">
  <p:cSld name="1_Main point 2">
    <p:spTree>
      <p:nvGrpSpPr>
        <p:cNvPr id="1" name="Shape 116"/>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2_Solo el título">
  <p:cSld name="2_Solo el título">
    <p:spTree>
      <p:nvGrpSpPr>
        <p:cNvPr id="1" name="Shape 117"/>
        <p:cNvGrpSpPr/>
        <p:nvPr/>
      </p:nvGrpSpPr>
      <p:grpSpPr>
        <a:xfrm>
          <a:off x="0" y="0"/>
          <a:ext cx="0" cy="0"/>
          <a:chOff x="0" y="0"/>
          <a:chExt cx="0" cy="0"/>
        </a:xfrm>
      </p:grpSpPr>
      <p:sp>
        <p:nvSpPr>
          <p:cNvPr id="118" name="Google Shape;118;p134"/>
          <p:cNvSpPr txBox="1">
            <a:spLocks noGrp="1"/>
          </p:cNvSpPr>
          <p:nvPr>
            <p:ph type="title"/>
          </p:nvPr>
        </p:nvSpPr>
        <p:spPr>
          <a:xfrm>
            <a:off x="1964155" y="2408058"/>
            <a:ext cx="5651834" cy="1223735"/>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C582F4"/>
              </a:buClr>
              <a:buSzPts val="4400"/>
              <a:buFont typeface="Barlow Condensed"/>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134"/>
          <p:cNvSpPr txBox="1">
            <a:spLocks noGrp="1"/>
          </p:cNvSpPr>
          <p:nvPr>
            <p:ph type="body" idx="1"/>
          </p:nvPr>
        </p:nvSpPr>
        <p:spPr>
          <a:xfrm>
            <a:off x="2855902" y="3858879"/>
            <a:ext cx="3868340" cy="823912"/>
          </a:xfrm>
          <a:prstGeom prst="rect">
            <a:avLst/>
          </a:prstGeom>
          <a:noFill/>
          <a:ln>
            <a:noFill/>
          </a:ln>
        </p:spPr>
        <p:txBody>
          <a:bodyPr spcFirstLastPara="1" wrap="square" lIns="91425" tIns="45700" rIns="91425" bIns="45700" anchor="b" anchorCtr="0">
            <a:normAutofit/>
          </a:bodyPr>
          <a:lstStyle>
            <a:lvl1pPr marL="457200" marR="0" lvl="0" indent="-228600" algn="ctr" rtl="0">
              <a:lnSpc>
                <a:spcPct val="90000"/>
              </a:lnSpc>
              <a:spcBef>
                <a:spcPts val="1000"/>
              </a:spcBef>
              <a:spcAft>
                <a:spcPts val="0"/>
              </a:spcAft>
              <a:buClr>
                <a:srgbClr val="494949"/>
              </a:buClr>
              <a:buSzPts val="2400"/>
              <a:buFont typeface="Arial"/>
              <a:buNone/>
              <a:defRPr sz="2400" b="0" i="1" u="none" strike="noStrike" cap="none">
                <a:solidFill>
                  <a:srgbClr val="494949"/>
                </a:solidFill>
                <a:latin typeface="Barlow Condensed"/>
                <a:ea typeface="Barlow Condensed"/>
                <a:cs typeface="Barlow Condensed"/>
                <a:sym typeface="Barlow Condensed"/>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Title slide">
  <p:cSld name="1_Title slide 2">
    <p:spTree>
      <p:nvGrpSpPr>
        <p:cNvPr id="1" name="Shape 12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and body 3">
  <p:cSld name="1_Title and body 3 2">
    <p:spTree>
      <p:nvGrpSpPr>
        <p:cNvPr id="1" name="Shape 121"/>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Six columns of text">
  <p:cSld name="1_Six columns of text 2">
    <p:spTree>
      <p:nvGrpSpPr>
        <p:cNvPr id="1" name="Shape 122"/>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Table of contents">
  <p:cSld name="1_Table of contents 2">
    <p:spTree>
      <p:nvGrpSpPr>
        <p:cNvPr id="1" name="Shape 123"/>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Section header">
  <p:cSld name="1_Section header 2">
    <p:spTree>
      <p:nvGrpSpPr>
        <p:cNvPr id="1" name="Shape 124"/>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itle and body">
  <p:cSld name="1_Title and body 2">
    <p:spTree>
      <p:nvGrpSpPr>
        <p:cNvPr id="1" name="Shape 125"/>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hree columns of text 2">
  <p:cSld name="1_Three columns of text 2 2">
    <p:spTree>
      <p:nvGrpSpPr>
        <p:cNvPr id="1" name="Shape 126"/>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Three columns of text">
  <p:cSld name="1_Three columns of text 3">
    <p:spTree>
      <p:nvGrpSpPr>
        <p:cNvPr id="1" name="Shape 127"/>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Main point 2">
  <p:cSld name="1_Main point 2 2">
    <p:spTree>
      <p:nvGrpSpPr>
        <p:cNvPr id="1" name="Shape 128"/>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slide 9">
  <p:cSld name="TITLE_12">
    <p:spTree>
      <p:nvGrpSpPr>
        <p:cNvPr id="1" name="Shape 129"/>
        <p:cNvGrpSpPr/>
        <p:nvPr/>
      </p:nvGrpSpPr>
      <p:grpSpPr>
        <a:xfrm>
          <a:off x="0" y="0"/>
          <a:ext cx="0" cy="0"/>
          <a:chOff x="0" y="0"/>
          <a:chExt cx="0" cy="0"/>
        </a:xfrm>
      </p:grpSpPr>
      <p:sp>
        <p:nvSpPr>
          <p:cNvPr id="130" name="Google Shape;130;g2a93c58e016_0_166"/>
          <p:cNvSpPr txBox="1">
            <a:spLocks noGrp="1"/>
          </p:cNvSpPr>
          <p:nvPr>
            <p:ph type="sldNum" idx="12"/>
          </p:nvPr>
        </p:nvSpPr>
        <p:spPr>
          <a:xfrm>
            <a:off x="8472458" y="6217623"/>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cxnSp>
        <p:nvCxnSpPr>
          <p:cNvPr id="131" name="Google Shape;131;g2a93c58e016_0_166"/>
          <p:cNvCxnSpPr/>
          <p:nvPr/>
        </p:nvCxnSpPr>
        <p:spPr>
          <a:xfrm>
            <a:off x="191775" y="1033818"/>
            <a:ext cx="8817300" cy="4500"/>
          </a:xfrm>
          <a:prstGeom prst="straightConnector1">
            <a:avLst/>
          </a:prstGeom>
          <a:noFill/>
          <a:ln w="19050" cap="flat" cmpd="sng">
            <a:solidFill>
              <a:schemeClr val="accent3"/>
            </a:solidFill>
            <a:prstDash val="dot"/>
            <a:round/>
            <a:headEnd type="none" w="sm" len="sm"/>
            <a:tailEnd type="none" w="sm" len="sm"/>
          </a:ln>
        </p:spPr>
      </p:cxnSp>
      <p:pic>
        <p:nvPicPr>
          <p:cNvPr id="132" name="Google Shape;132;g2a93c58e016_0_166" descr="Logotipo&#10;&#10;Descripción generada automáticamente con confianza media"/>
          <p:cNvPicPr preferRelativeResize="0"/>
          <p:nvPr/>
        </p:nvPicPr>
        <p:blipFill rotWithShape="1">
          <a:blip r:embed="rId2">
            <a:alphaModFix/>
          </a:blip>
          <a:srcRect/>
          <a:stretch/>
        </p:blipFill>
        <p:spPr>
          <a:xfrm>
            <a:off x="6642389" y="227771"/>
            <a:ext cx="2289048" cy="67665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133"/>
        <p:cNvGrpSpPr/>
        <p:nvPr/>
      </p:nvGrpSpPr>
      <p:grpSpPr>
        <a:xfrm>
          <a:off x="0" y="0"/>
          <a:ext cx="0" cy="0"/>
          <a:chOff x="0" y="0"/>
          <a:chExt cx="0" cy="0"/>
        </a:xfrm>
      </p:grpSpPr>
      <p:sp>
        <p:nvSpPr>
          <p:cNvPr id="134" name="Google Shape;134;g2a93c58e016_0_749"/>
          <p:cNvSpPr txBox="1">
            <a:spLocks noGrp="1"/>
          </p:cNvSpPr>
          <p:nvPr>
            <p:ph type="title"/>
          </p:nvPr>
        </p:nvSpPr>
        <p:spPr>
          <a:xfrm>
            <a:off x="3968400" y="-237606"/>
            <a:ext cx="731400" cy="237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000000"/>
              </a:buClr>
              <a:buSzPts val="100"/>
              <a:buFont typeface="Cabin"/>
              <a:buNone/>
              <a:defRPr sz="100" b="0" i="0" u="none" strike="noStrike" cap="none">
                <a:solidFill>
                  <a:srgbClr val="000000"/>
                </a:solidFill>
                <a:latin typeface="Cabin"/>
                <a:ea typeface="Cabin"/>
                <a:cs typeface="Cabin"/>
                <a:sym typeface="Cabin"/>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5" name="Google Shape;135;g2a93c58e016_0_74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36" name="Google Shape;136;g2a93c58e016_0_749"/>
          <p:cNvPicPr preferRelativeResize="0"/>
          <p:nvPr/>
        </p:nvPicPr>
        <p:blipFill rotWithShape="1">
          <a:blip r:embed="rId2">
            <a:alphaModFix/>
          </a:blip>
          <a:srcRect/>
          <a:stretch/>
        </p:blipFill>
        <p:spPr>
          <a:xfrm>
            <a:off x="7152850" y="261125"/>
            <a:ext cx="1895049" cy="577075"/>
          </a:xfrm>
          <a:prstGeom prst="rect">
            <a:avLst/>
          </a:prstGeom>
          <a:noFill/>
          <a:ln>
            <a:noFill/>
          </a:ln>
        </p:spPr>
      </p:pic>
      <p:pic>
        <p:nvPicPr>
          <p:cNvPr id="137" name="Google Shape;137;g2a93c58e016_0_749"/>
          <p:cNvPicPr preferRelativeResize="0"/>
          <p:nvPr/>
        </p:nvPicPr>
        <p:blipFill rotWithShape="1">
          <a:blip r:embed="rId3">
            <a:alphaModFix/>
          </a:blip>
          <a:srcRect l="20469" t="26529" r="21740" b="25959"/>
          <a:stretch/>
        </p:blipFill>
        <p:spPr>
          <a:xfrm>
            <a:off x="0" y="76198"/>
            <a:ext cx="2337268" cy="76200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138"/>
        <p:cNvGrpSpPr/>
        <p:nvPr/>
      </p:nvGrpSpPr>
      <p:grpSpPr>
        <a:xfrm>
          <a:off x="0" y="0"/>
          <a:ext cx="0" cy="0"/>
          <a:chOff x="0" y="0"/>
          <a:chExt cx="0" cy="0"/>
        </a:xfrm>
      </p:grpSpPr>
      <p:sp>
        <p:nvSpPr>
          <p:cNvPr id="139" name="Google Shape;139;g26f792a12d4_0_2157"/>
          <p:cNvSpPr txBox="1">
            <a:spLocks noGrp="1"/>
          </p:cNvSpPr>
          <p:nvPr>
            <p:ph type="sldNum" idx="12"/>
          </p:nvPr>
        </p:nvSpPr>
        <p:spPr>
          <a:xfrm>
            <a:off x="8472458" y="6217623"/>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ítulo y objetos 1">
  <p:cSld name="OBJECT_1">
    <p:spTree>
      <p:nvGrpSpPr>
        <p:cNvPr id="1" name="Shape 140"/>
        <p:cNvGrpSpPr/>
        <p:nvPr/>
      </p:nvGrpSpPr>
      <p:grpSpPr>
        <a:xfrm>
          <a:off x="0" y="0"/>
          <a:ext cx="0" cy="0"/>
          <a:chOff x="0" y="0"/>
          <a:chExt cx="0" cy="0"/>
        </a:xfrm>
      </p:grpSpPr>
      <p:sp>
        <p:nvSpPr>
          <p:cNvPr id="141" name="Google Shape;141;g27214aae58d_0_638"/>
          <p:cNvSpPr txBox="1">
            <a:spLocks noGrp="1"/>
          </p:cNvSpPr>
          <p:nvPr>
            <p:ph type="title"/>
          </p:nvPr>
        </p:nvSpPr>
        <p:spPr>
          <a:xfrm>
            <a:off x="628650" y="365125"/>
            <a:ext cx="7886700" cy="13257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2" name="Google Shape;142;g27214aae58d_0_638"/>
          <p:cNvSpPr txBox="1">
            <a:spLocks noGrp="1"/>
          </p:cNvSpPr>
          <p:nvPr>
            <p:ph type="body" idx="1"/>
          </p:nvPr>
        </p:nvSpPr>
        <p:spPr>
          <a:xfrm>
            <a:off x="628650" y="1825625"/>
            <a:ext cx="7886700" cy="4351200"/>
          </a:xfrm>
          <a:prstGeom prst="rect">
            <a:avLst/>
          </a:prstGeom>
          <a:noFill/>
          <a:ln>
            <a:noFill/>
          </a:ln>
        </p:spPr>
        <p:txBody>
          <a:bodyPr spcFirstLastPara="1" wrap="square" lIns="68575" tIns="34275" rIns="68575" bIns="34275" anchor="t" anchorCtr="0">
            <a:normAutofit/>
          </a:bodyPr>
          <a:lstStyle>
            <a:lvl1pPr marL="457200" marR="0" lvl="0" indent="-317500" algn="l" rtl="0">
              <a:lnSpc>
                <a:spcPct val="90000"/>
              </a:lnSpc>
              <a:spcBef>
                <a:spcPts val="8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43" name="Google Shape;143;g27214aae58d_0_638"/>
          <p:cNvSpPr txBox="1">
            <a:spLocks noGrp="1"/>
          </p:cNvSpPr>
          <p:nvPr>
            <p:ph type="dt" idx="10"/>
          </p:nvPr>
        </p:nvSpPr>
        <p:spPr>
          <a:xfrm>
            <a:off x="628650" y="6356350"/>
            <a:ext cx="2057400" cy="3651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44" name="Google Shape;144;g27214aae58d_0_638"/>
          <p:cNvSpPr txBox="1">
            <a:spLocks noGrp="1"/>
          </p:cNvSpPr>
          <p:nvPr>
            <p:ph type="ftr" idx="11"/>
          </p:nvPr>
        </p:nvSpPr>
        <p:spPr>
          <a:xfrm>
            <a:off x="3028950" y="6356350"/>
            <a:ext cx="3086100" cy="3651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45" name="Google Shape;145;g27214aae58d_0_638"/>
          <p:cNvSpPr txBox="1">
            <a:spLocks noGrp="1"/>
          </p:cNvSpPr>
          <p:nvPr>
            <p:ph type="sldNum" idx="12"/>
          </p:nvPr>
        </p:nvSpPr>
        <p:spPr>
          <a:xfrm>
            <a:off x="6457950" y="6356350"/>
            <a:ext cx="2057400" cy="3651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strava.com/?hl=es-E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alltrails.com/es" TargetMode="External"/><Relationship Id="rId5" Type="http://schemas.openxmlformats.org/officeDocument/2006/relationships/hyperlink" Target="https://play.google.com/store/apps/details?id=com.cairnapp.cairn&amp;hl=en-US&amp;pli=1" TargetMode="External"/><Relationship Id="rId4" Type="http://schemas.openxmlformats.org/officeDocument/2006/relationships/hyperlink" Target="https://www.hipcamp.com/en-U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travolution.org/publicacion/estudio-sobre-turismo-rural-en-chile" TargetMode="External"/><Relationship Id="rId13" Type="http://schemas.openxmlformats.org/officeDocument/2006/relationships/hyperlink" Target="https://www.conaf.cl/guardaparques-del-parque-nacional-patagonia-se-capacitaron-en-uso-de-aplicacion-movil-smart-para-monitoreo/?utm_source=chatgpt.com" TargetMode="External"/><Relationship Id="rId18" Type="http://schemas.openxmlformats.org/officeDocument/2006/relationships/hyperlink" Target="https://www.subturismo.gob.cl/2023/08/22/adventureconnect-la-reconexion-del-ecosistema-de-aventura-y-naturaleza/" TargetMode="External"/><Relationship Id="rId3" Type="http://schemas.openxmlformats.org/officeDocument/2006/relationships/hyperlink" Target="https://www.inn.cl/el-turismo-aventura-en-chile-crece-con-fuerza-la-actualizacion-de-normativas-para-practicas-de" TargetMode="External"/><Relationship Id="rId21" Type="http://schemas.openxmlformats.org/officeDocument/2006/relationships/hyperlink" Target="https://www.indap.gob.cl/plataforma-de-servicios/turismo-rural" TargetMode="External"/><Relationship Id="rId7" Type="http://schemas.openxmlformats.org/officeDocument/2006/relationships/hyperlink" Target="https://www.paiscircular.cl/medio-ambiente/trekking-con-sentido-las-alternativas-de-senderismo-responsable-en-la-zona-central-de-chile" TargetMode="External"/><Relationship Id="rId12" Type="http://schemas.openxmlformats.org/officeDocument/2006/relationships/hyperlink" Target="https://www.androidauthority.com/smartphone-satellite-connectivity-3295162/?utm_source=chatgpt.com" TargetMode="External"/><Relationship Id="rId17" Type="http://schemas.openxmlformats.org/officeDocument/2006/relationships/hyperlink" Target="https://www.conaf.cl/conaf-junto-a-fundacion-rewilding-y-sernatur-certificaron-a-21-guias-de-turismo/" TargetMode="External"/><Relationship Id="rId2" Type="http://schemas.openxmlformats.org/officeDocument/2006/relationships/notesSlide" Target="../notesSlides/notesSlide4.xml"/><Relationship Id="rId16" Type="http://schemas.openxmlformats.org/officeDocument/2006/relationships/hyperlink" Target="https://www.sernatur.cl/senatur-y-conaf-acreditan-a-guias-de-turismo-aventura-para-conservar-areas-protegidas-en-los-lagos/" TargetMode="External"/><Relationship Id="rId20" Type="http://schemas.openxmlformats.org/officeDocument/2006/relationships/hyperlink" Target="https://www.gob.cl/noticias/de-visita-en-algun-parque-nacional-sigue-estas-recomendaciones-y-protejamos-juntos-nuestro-patrimonio-natural" TargetMode="External"/><Relationship Id="rId1" Type="http://schemas.openxmlformats.org/officeDocument/2006/relationships/slideLayout" Target="../slideLayouts/slideLayout2.xml"/><Relationship Id="rId6" Type="http://schemas.openxmlformats.org/officeDocument/2006/relationships/hyperlink" Target="https://www.kaptiro.com/2025/03/07/turismo-de-impacto-y-regenerativo-del-futuro-turistico-de-chile/?utm_source=chatgpt.com" TargetMode="External"/><Relationship Id="rId11" Type="http://schemas.openxmlformats.org/officeDocument/2006/relationships/hyperlink" Target="https://cincodias.elpais.com/smartlife/gadgets/2025-06-06/polar-grit-x2-nuevo-smartwatch-caracteristicas.html?utm_source=chatgpt.com" TargetMode="External"/><Relationship Id="rId5" Type="http://schemas.openxmlformats.org/officeDocument/2006/relationships/hyperlink" Target="https://www.sernatur.cl/para-amantes-de-la-naturaleza-sernatur-dio-a-conocer-aplicacion-movil-con-120-excursiones-para-recorrer-a-lo-largo-del-pais" TargetMode="External"/><Relationship Id="rId15" Type="http://schemas.openxmlformats.org/officeDocument/2006/relationships/hyperlink" Target="https://www.bcn.cl/leychile/navegar?idNorma=141599" TargetMode="External"/><Relationship Id="rId10" Type="http://schemas.openxmlformats.org/officeDocument/2006/relationships/hyperlink" Target="https://www.infobae.com/tecno/2025/06/18/explora-la-naturaleza-offline-apps-de-senderismo-que-no-dependen-de-la-senal-movil/?utm_source=chatgpt.com" TargetMode="External"/><Relationship Id="rId19" Type="http://schemas.openxmlformats.org/officeDocument/2006/relationships/hyperlink" Target="https://www.conaf.cl/parques-nacionales/nuestros-parques/uso-publico" TargetMode="External"/><Relationship Id="rId4" Type="http://schemas.openxmlformats.org/officeDocument/2006/relationships/hyperlink" Target="https://www.infobae.com/tecno/2025/06/18/explora-la-naturaleza-offline-apps-de-senderismo-que-no-dependen-de-la-senal-movil" TargetMode="External"/><Relationship Id="rId9" Type="http://schemas.openxmlformats.org/officeDocument/2006/relationships/hyperlink" Target="http://maps.me" TargetMode="External"/><Relationship Id="rId14" Type="http://schemas.openxmlformats.org/officeDocument/2006/relationships/hyperlink" Target="https://www.gob.cl/noticias/nueva-aplicacion-movil-ayuda-a-planificar-y-disfrutar-los-parques-nacionales-de-chile/?utm_source=chatgpt.com" TargetMode="External"/><Relationship Id="rId22" Type="http://schemas.openxmlformats.org/officeDocument/2006/relationships/hyperlink" Target="https://www.chileatiende.gob.cl/fichas/1708-programa-turismo-rura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ttc.org/news/sector-de-viajes-y-turismo-proyectado-a-contribuir-con-35-mil-millones-de-dolares-al-pib-de-chile?" TargetMode="External"/><Relationship Id="rId7" Type="http://schemas.openxmlformats.org/officeDocument/2006/relationships/hyperlink" Target="https://www.emol.com/noticias/Nacional/2016/08/29/819463/Emergencias-en-cerros-de-la-capital-registran-notorio-aumento.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ipsuss.cl/actualidad/tendencias/consejos-para-hacer-un-trekking-seguro?utm_source" TargetMode="External"/><Relationship Id="rId5" Type="http://schemas.openxmlformats.org/officeDocument/2006/relationships/hyperlink" Target="https://www.reddit.com/r/RepublicadeChile/comments/1j0q3w0/grupos_de_trekking/?utm_source=chatgpt.com" TargetMode="External"/><Relationship Id="rId4" Type="http://schemas.openxmlformats.org/officeDocument/2006/relationships/hyperlink" Target="https://www.subturismo.gob.cl/2025/05/20/pib-del-primer-trimestre-confirma-el-aporte-clave-del-turismo-a-la-economia-chilena/?"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mailto:mleytonrios2000@gmail.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3f6d87f1187_0_282"/>
          <p:cNvSpPr txBox="1"/>
          <p:nvPr/>
        </p:nvSpPr>
        <p:spPr>
          <a:xfrm>
            <a:off x="2716349" y="743091"/>
            <a:ext cx="6093000" cy="3178500"/>
          </a:xfrm>
          <a:prstGeom prst="rect">
            <a:avLst/>
          </a:prstGeom>
          <a:noFill/>
          <a:ln>
            <a:noFill/>
          </a:ln>
        </p:spPr>
        <p:txBody>
          <a:bodyPr spcFirstLastPara="1" wrap="square" lIns="68600" tIns="34325" rIns="68600" bIns="34325" anchor="t" anchorCtr="0">
            <a:spAutoFit/>
          </a:bodyPr>
          <a:lstStyle/>
          <a:p>
            <a:pPr marL="0" marR="0" lvl="0" indent="0" algn="l" rtl="0">
              <a:lnSpc>
                <a:spcPct val="100000"/>
              </a:lnSpc>
              <a:spcBef>
                <a:spcPts val="0"/>
              </a:spcBef>
              <a:spcAft>
                <a:spcPts val="0"/>
              </a:spcAft>
              <a:buClr>
                <a:srgbClr val="C582F4"/>
              </a:buClr>
              <a:buSzPts val="1600"/>
              <a:buFont typeface="Comfortaa Medium"/>
              <a:buNone/>
            </a:pPr>
            <a:r>
              <a:rPr lang="es-CL" sz="2100" b="1" i="0" u="none" strike="noStrike" cap="none">
                <a:solidFill>
                  <a:srgbClr val="5C5DD4"/>
                </a:solidFill>
                <a:latin typeface="Comfortaa Medium"/>
                <a:ea typeface="Comfortaa Medium"/>
                <a:cs typeface="Comfortaa Medium"/>
                <a:sym typeface="Comfortaa Medium"/>
              </a:rPr>
              <a:t>Esta bitácora de registro </a:t>
            </a:r>
            <a:endParaRPr sz="2100" b="1">
              <a:solidFill>
                <a:srgbClr val="5C5DD4"/>
              </a:solidFill>
              <a:latin typeface="Comfortaa Medium"/>
              <a:ea typeface="Comfortaa Medium"/>
              <a:cs typeface="Comfortaa Medium"/>
              <a:sym typeface="Comfortaa Medium"/>
            </a:endParaRPr>
          </a:p>
          <a:p>
            <a:pPr marL="0" marR="0" lvl="0" indent="0" algn="l" rtl="0">
              <a:lnSpc>
                <a:spcPct val="100000"/>
              </a:lnSpc>
              <a:spcBef>
                <a:spcPts val="0"/>
              </a:spcBef>
              <a:spcAft>
                <a:spcPts val="0"/>
              </a:spcAft>
              <a:buClr>
                <a:srgbClr val="C582F4"/>
              </a:buClr>
              <a:buSzPts val="1600"/>
              <a:buFont typeface="Comfortaa Medium"/>
              <a:buNone/>
            </a:pPr>
            <a:r>
              <a:rPr lang="es-CL" sz="2100" b="1">
                <a:solidFill>
                  <a:srgbClr val="5C5DD4"/>
                </a:solidFill>
                <a:latin typeface="Comfortaa Medium"/>
                <a:ea typeface="Comfortaa Medium"/>
                <a:cs typeface="Comfortaa Medium"/>
                <a:sym typeface="Comfortaa Medium"/>
              </a:rPr>
              <a:t>Code-Trekking</a:t>
            </a:r>
            <a:r>
              <a:rPr lang="es-CL" sz="2100" b="1" i="0" u="none" strike="noStrike" cap="none">
                <a:solidFill>
                  <a:srgbClr val="5C5DD4"/>
                </a:solidFill>
                <a:latin typeface="Comfortaa Medium"/>
                <a:ea typeface="Comfortaa Medium"/>
                <a:cs typeface="Comfortaa Medium"/>
                <a:sym typeface="Comfortaa Medium"/>
              </a:rPr>
              <a:t> contiene:</a:t>
            </a:r>
            <a:endParaRPr sz="1900" b="1" i="0" u="none" strike="noStrike" cap="none">
              <a:solidFill>
                <a:srgbClr val="5C5DD4"/>
              </a:solidFill>
              <a:latin typeface="Comfortaa Medium"/>
              <a:ea typeface="Comfortaa Medium"/>
              <a:cs typeface="Comfortaa Medium"/>
              <a:sym typeface="Comfortaa Medium"/>
            </a:endParaRPr>
          </a:p>
          <a:p>
            <a:pPr marL="0" marR="0" lvl="0" indent="0" algn="l" rtl="0">
              <a:lnSpc>
                <a:spcPct val="100000"/>
              </a:lnSpc>
              <a:spcBef>
                <a:spcPts val="0"/>
              </a:spcBef>
              <a:spcAft>
                <a:spcPts val="0"/>
              </a:spcAft>
              <a:buClr>
                <a:schemeClr val="dk1"/>
              </a:buClr>
              <a:buSzPts val="1600"/>
              <a:buFont typeface="Calibri"/>
              <a:buNone/>
            </a:pPr>
            <a:endParaRPr sz="1600" b="0" i="0" u="none" strike="noStrike" cap="none">
              <a:solidFill>
                <a:srgbClr val="666666"/>
              </a:solidFill>
              <a:latin typeface="Comfortaa Medium"/>
              <a:ea typeface="Comfortaa Medium"/>
              <a:cs typeface="Comfortaa Medium"/>
              <a:sym typeface="Comfortaa Medium"/>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1. Lienzo de perspectivas en equipo</a:t>
            </a:r>
            <a:endParaRPr sz="1400" b="0" i="0" u="none" strike="noStrike" cap="none">
              <a:solidFill>
                <a:schemeClr val="dk1"/>
              </a:solidFill>
              <a:latin typeface="Cabin"/>
              <a:ea typeface="Cabin"/>
              <a:cs typeface="Cabin"/>
              <a:sym typeface="Cabin"/>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2. Lienzo de investigación de referentes</a:t>
            </a:r>
            <a:endParaRPr sz="1400" b="0" i="0" u="none" strike="noStrike" cap="none">
              <a:solidFill>
                <a:schemeClr val="dk1"/>
              </a:solidFill>
              <a:latin typeface="Cabin"/>
              <a:ea typeface="Cabin"/>
              <a:cs typeface="Cabin"/>
              <a:sym typeface="Cabin"/>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3. Mapa de contexto</a:t>
            </a:r>
            <a:endParaRPr sz="1400" b="0" i="0" u="none" strike="noStrike" cap="none">
              <a:solidFill>
                <a:schemeClr val="dk1"/>
              </a:solidFill>
              <a:latin typeface="Cabin"/>
              <a:ea typeface="Cabin"/>
              <a:cs typeface="Cabin"/>
              <a:sym typeface="Cabin"/>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4. Identificar un problema</a:t>
            </a:r>
            <a:endParaRPr sz="1600" b="0" i="0" u="none" strike="noStrike" cap="none">
              <a:solidFill>
                <a:schemeClr val="dk1"/>
              </a:solidFill>
              <a:latin typeface="Cabin Medium"/>
              <a:ea typeface="Cabin Medium"/>
              <a:cs typeface="Cabin Medium"/>
              <a:sym typeface="Cabin Medium"/>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5. Pauta de entrevistas</a:t>
            </a:r>
            <a:endParaRPr sz="1400" b="0" i="0" u="none" strike="noStrike" cap="none">
              <a:solidFill>
                <a:schemeClr val="dk1"/>
              </a:solidFill>
              <a:latin typeface="Cabin"/>
              <a:ea typeface="Cabin"/>
              <a:cs typeface="Cabin"/>
              <a:sym typeface="Cabin"/>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6. Perfil y Mapa de viaje del usuario/cliente</a:t>
            </a:r>
            <a:endParaRPr sz="1400" b="0" i="0" u="none" strike="noStrike" cap="none">
              <a:solidFill>
                <a:schemeClr val="dk1"/>
              </a:solidFill>
              <a:latin typeface="Cabin"/>
              <a:ea typeface="Cabin"/>
              <a:cs typeface="Cabin"/>
              <a:sym typeface="Cabin"/>
            </a:endParaRPr>
          </a:p>
          <a:p>
            <a:pPr marL="139700" marR="0" lvl="0" indent="0" algn="l" rtl="0">
              <a:lnSpc>
                <a:spcPct val="100000"/>
              </a:lnSpc>
              <a:spcBef>
                <a:spcPts val="0"/>
              </a:spcBef>
              <a:spcAft>
                <a:spcPts val="0"/>
              </a:spcAft>
              <a:buClr>
                <a:srgbClr val="000000"/>
              </a:buClr>
              <a:buSzPts val="1600"/>
              <a:buFont typeface="Arial"/>
              <a:buNone/>
            </a:pPr>
            <a:r>
              <a:rPr lang="es-CL" sz="1600" b="0" i="0" u="none" strike="noStrike" cap="none">
                <a:solidFill>
                  <a:schemeClr val="dk1"/>
                </a:solidFill>
                <a:latin typeface="Cabin Medium"/>
                <a:ea typeface="Cabin Medium"/>
                <a:cs typeface="Cabin Medium"/>
                <a:sym typeface="Cabin Medium"/>
              </a:rPr>
              <a:t>7. Oportunidad</a:t>
            </a:r>
            <a:endParaRPr sz="1600">
              <a:solidFill>
                <a:schemeClr val="dk1"/>
              </a:solidFill>
              <a:latin typeface="Cabin Medium"/>
              <a:ea typeface="Cabin Medium"/>
              <a:cs typeface="Cabin Medium"/>
              <a:sym typeface="Cabin Medium"/>
            </a:endParaRPr>
          </a:p>
          <a:p>
            <a:pPr marL="139700" marR="0" lvl="0" indent="0" algn="l" rtl="0">
              <a:lnSpc>
                <a:spcPct val="100000"/>
              </a:lnSpc>
              <a:spcBef>
                <a:spcPts val="0"/>
              </a:spcBef>
              <a:spcAft>
                <a:spcPts val="0"/>
              </a:spcAft>
              <a:buClr>
                <a:srgbClr val="000000"/>
              </a:buClr>
              <a:buSzPts val="1600"/>
              <a:buFont typeface="Arial"/>
              <a:buNone/>
            </a:pPr>
            <a:r>
              <a:rPr lang="es-CL" sz="1600">
                <a:solidFill>
                  <a:schemeClr val="dk1"/>
                </a:solidFill>
                <a:latin typeface="Cabin Medium"/>
                <a:ea typeface="Cabin Medium"/>
                <a:cs typeface="Cabin Medium"/>
                <a:sym typeface="Cabin Medium"/>
              </a:rPr>
              <a:t>8. Iteración de la propuesta</a:t>
            </a:r>
            <a:endParaRPr sz="1600">
              <a:solidFill>
                <a:schemeClr val="dk1"/>
              </a:solidFill>
              <a:latin typeface="Cabin Medium"/>
              <a:ea typeface="Cabin Medium"/>
              <a:cs typeface="Cabin Medium"/>
              <a:sym typeface="Cabin Medium"/>
            </a:endParaRPr>
          </a:p>
          <a:p>
            <a:pPr marL="139700" marR="0" lvl="0" indent="0" algn="l" rtl="0">
              <a:lnSpc>
                <a:spcPct val="100000"/>
              </a:lnSpc>
              <a:spcBef>
                <a:spcPts val="0"/>
              </a:spcBef>
              <a:spcAft>
                <a:spcPts val="0"/>
              </a:spcAft>
              <a:buClr>
                <a:srgbClr val="000000"/>
              </a:buClr>
              <a:buSzPts val="1600"/>
              <a:buFont typeface="Arial"/>
              <a:buNone/>
            </a:pPr>
            <a:r>
              <a:rPr lang="es-CL" sz="1600">
                <a:solidFill>
                  <a:schemeClr val="dk1"/>
                </a:solidFill>
                <a:latin typeface="Cabin Medium"/>
                <a:ea typeface="Cabin Medium"/>
                <a:cs typeface="Cabin Medium"/>
                <a:sym typeface="Cabin Medium"/>
              </a:rPr>
              <a:t>9. Lean Canvas</a:t>
            </a:r>
            <a:endParaRPr sz="1600">
              <a:solidFill>
                <a:schemeClr val="dk1"/>
              </a:solidFill>
              <a:latin typeface="Cabin Medium"/>
              <a:ea typeface="Cabin Medium"/>
              <a:cs typeface="Cabin Medium"/>
              <a:sym typeface="Cabin Medium"/>
            </a:endParaRPr>
          </a:p>
        </p:txBody>
      </p:sp>
      <p:sp>
        <p:nvSpPr>
          <p:cNvPr id="152" name="Google Shape;152;g3f6d87f1187_0_282"/>
          <p:cNvSpPr/>
          <p:nvPr/>
        </p:nvSpPr>
        <p:spPr>
          <a:xfrm>
            <a:off x="0" y="0"/>
            <a:ext cx="2486700" cy="6858300"/>
          </a:xfrm>
          <a:prstGeom prst="rect">
            <a:avLst/>
          </a:prstGeom>
          <a:solidFill>
            <a:srgbClr val="5C5DD4"/>
          </a:solidFill>
          <a:ln>
            <a:noFill/>
          </a:ln>
        </p:spPr>
        <p:txBody>
          <a:bodyPr spcFirstLastPara="1" wrap="square" lIns="79775" tIns="79775" rIns="79775" bIns="797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Barlow Condensed"/>
              <a:ea typeface="Barlow Condensed"/>
              <a:cs typeface="Barlow Condensed"/>
              <a:sym typeface="Barlow Condensed"/>
            </a:endParaRPr>
          </a:p>
        </p:txBody>
      </p:sp>
      <p:sp>
        <p:nvSpPr>
          <p:cNvPr id="153" name="Google Shape;153;g3f6d87f1187_0_282"/>
          <p:cNvSpPr txBox="1"/>
          <p:nvPr/>
        </p:nvSpPr>
        <p:spPr>
          <a:xfrm>
            <a:off x="221173" y="2779700"/>
            <a:ext cx="2184000" cy="1500300"/>
          </a:xfrm>
          <a:prstGeom prst="rect">
            <a:avLst/>
          </a:prstGeom>
          <a:noFill/>
          <a:ln>
            <a:noFill/>
          </a:ln>
        </p:spPr>
        <p:txBody>
          <a:bodyPr spcFirstLastPara="1" wrap="square" lIns="79775" tIns="79775" rIns="79775" bIns="797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L" sz="2300" b="1">
                <a:solidFill>
                  <a:schemeClr val="lt1"/>
                </a:solidFill>
                <a:latin typeface="Josefin Sans"/>
                <a:ea typeface="Josefin Sans"/>
                <a:cs typeface="Josefin Sans"/>
                <a:sym typeface="Josefin Sans"/>
              </a:rPr>
              <a:t>Code-Trekking</a:t>
            </a:r>
            <a:endParaRPr sz="2300" b="1">
              <a:solidFill>
                <a:schemeClr val="lt1"/>
              </a:solidFill>
              <a:latin typeface="Josefin Sans"/>
              <a:ea typeface="Josefin Sans"/>
              <a:cs typeface="Josefin Sans"/>
              <a:sym typeface="Josefin Sans"/>
            </a:endParaRPr>
          </a:p>
          <a:p>
            <a:pPr marL="0" marR="0" lvl="0" indent="0" algn="l" rtl="0">
              <a:lnSpc>
                <a:spcPct val="100000"/>
              </a:lnSpc>
              <a:spcBef>
                <a:spcPts val="0"/>
              </a:spcBef>
              <a:spcAft>
                <a:spcPts val="0"/>
              </a:spcAft>
              <a:buClr>
                <a:srgbClr val="000000"/>
              </a:buClr>
              <a:buSzPts val="1600"/>
              <a:buFont typeface="Arial"/>
              <a:buNone/>
            </a:pPr>
            <a:endParaRPr sz="1600" b="1">
              <a:solidFill>
                <a:schemeClr val="lt1"/>
              </a:solidFill>
              <a:latin typeface="Josefin Sans"/>
              <a:ea typeface="Josefin Sans"/>
              <a:cs typeface="Josefin Sans"/>
              <a:sym typeface="Josefin Sans"/>
            </a:endParaRPr>
          </a:p>
          <a:p>
            <a:pPr marL="0" marR="0" lvl="0" indent="0" algn="l" rtl="0">
              <a:lnSpc>
                <a:spcPct val="100000"/>
              </a:lnSpc>
              <a:spcBef>
                <a:spcPts val="0"/>
              </a:spcBef>
              <a:spcAft>
                <a:spcPts val="0"/>
              </a:spcAft>
              <a:buClr>
                <a:srgbClr val="000000"/>
              </a:buClr>
              <a:buSzPts val="1600"/>
              <a:buFont typeface="Arial"/>
              <a:buNone/>
            </a:pPr>
            <a:r>
              <a:rPr lang="es-CL" sz="1600" b="1" i="0" u="none" strike="noStrike" cap="none">
                <a:solidFill>
                  <a:schemeClr val="lt1"/>
                </a:solidFill>
                <a:latin typeface="Josefin Sans"/>
                <a:ea typeface="Josefin Sans"/>
                <a:cs typeface="Josefin Sans"/>
                <a:sym typeface="Josefin Sans"/>
              </a:rPr>
              <a:t>IDENTIFICA OPORTUNIDADES </a:t>
            </a:r>
            <a:endParaRPr sz="1400" b="1" i="0" u="none" strike="noStrike" cap="none">
              <a:solidFill>
                <a:schemeClr val="dk1"/>
              </a:solidFill>
              <a:latin typeface="Josefin Sans"/>
              <a:ea typeface="Josefin Sans"/>
              <a:cs typeface="Josefin Sans"/>
              <a:sym typeface="Josefin Sans"/>
            </a:endParaRPr>
          </a:p>
          <a:p>
            <a:pPr marL="0" marR="0" lvl="0" indent="0" algn="l" rtl="0">
              <a:lnSpc>
                <a:spcPct val="100000"/>
              </a:lnSpc>
              <a:spcBef>
                <a:spcPts val="0"/>
              </a:spcBef>
              <a:spcAft>
                <a:spcPts val="0"/>
              </a:spcAft>
              <a:buClr>
                <a:srgbClr val="000000"/>
              </a:buClr>
              <a:buSzPts val="1600"/>
              <a:buFont typeface="Arial"/>
              <a:buNone/>
            </a:pPr>
            <a:r>
              <a:rPr lang="es-CL" sz="1600" b="1" i="0" u="none" strike="noStrike" cap="none">
                <a:solidFill>
                  <a:schemeClr val="lt1"/>
                </a:solidFill>
                <a:latin typeface="Josefin Sans"/>
                <a:ea typeface="Josefin Sans"/>
                <a:cs typeface="Josefin Sans"/>
                <a:sym typeface="Josefin Sans"/>
              </a:rPr>
              <a:t>EN EL ENTORNO</a:t>
            </a:r>
            <a:endParaRPr sz="1200" b="0" i="0" u="none" strike="noStrike" cap="none">
              <a:solidFill>
                <a:srgbClr val="000000"/>
              </a:solidFill>
              <a:latin typeface="Arial"/>
              <a:ea typeface="Arial"/>
              <a:cs typeface="Arial"/>
              <a:sym typeface="Arial"/>
            </a:endParaRPr>
          </a:p>
        </p:txBody>
      </p:sp>
      <p:graphicFrame>
        <p:nvGraphicFramePr>
          <p:cNvPr id="154" name="Google Shape;154;g3f6d87f1187_0_282"/>
          <p:cNvGraphicFramePr/>
          <p:nvPr/>
        </p:nvGraphicFramePr>
        <p:xfrm>
          <a:off x="2764841" y="4277214"/>
          <a:ext cx="5996000" cy="1467550"/>
        </p:xfrm>
        <a:graphic>
          <a:graphicData uri="http://schemas.openxmlformats.org/drawingml/2006/table">
            <a:tbl>
              <a:tblPr firstRow="1" bandRow="1">
                <a:noFill/>
                <a:tableStyleId>{133C29ED-DF52-495A-8174-471A50D0532C}</a:tableStyleId>
              </a:tblPr>
              <a:tblGrid>
                <a:gridCol w="3034200">
                  <a:extLst>
                    <a:ext uri="{9D8B030D-6E8A-4147-A177-3AD203B41FA5}">
                      <a16:colId xmlns:a16="http://schemas.microsoft.com/office/drawing/2014/main" val="20000"/>
                    </a:ext>
                  </a:extLst>
                </a:gridCol>
                <a:gridCol w="2961800">
                  <a:extLst>
                    <a:ext uri="{9D8B030D-6E8A-4147-A177-3AD203B41FA5}">
                      <a16:colId xmlns:a16="http://schemas.microsoft.com/office/drawing/2014/main" val="20001"/>
                    </a:ext>
                  </a:extLst>
                </a:gridCol>
              </a:tblGrid>
              <a:tr h="713450">
                <a:tc>
                  <a:txBody>
                    <a:bodyPr/>
                    <a:lstStyle/>
                    <a:p>
                      <a:pPr marL="0" marR="0" lvl="0" indent="0" algn="l" rtl="0">
                        <a:lnSpc>
                          <a:spcPct val="100000"/>
                        </a:lnSpc>
                        <a:spcBef>
                          <a:spcPts val="0"/>
                        </a:spcBef>
                        <a:spcAft>
                          <a:spcPts val="0"/>
                        </a:spcAft>
                        <a:buClr>
                          <a:srgbClr val="C582F4"/>
                        </a:buClr>
                        <a:buSzPts val="1800"/>
                        <a:buFont typeface="Barlow Condensed"/>
                        <a:buNone/>
                      </a:pPr>
                      <a:endParaRPr sz="110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C582F4"/>
                        </a:buClr>
                        <a:buSzPts val="1800"/>
                        <a:buFont typeface="Barlow Condensed"/>
                        <a:buNone/>
                      </a:pPr>
                      <a:r>
                        <a:rPr lang="es-CL" sz="1100" u="none" strike="noStrike" cap="none">
                          <a:solidFill>
                            <a:schemeClr val="dk1"/>
                          </a:solidFill>
                          <a:latin typeface="Cabin"/>
                          <a:ea typeface="Cabin"/>
                          <a:cs typeface="Cabin"/>
                          <a:sym typeface="Cabin"/>
                        </a:rPr>
                        <a:t>NOMBRE DE LOS INTEGRANTES</a:t>
                      </a:r>
                      <a:endParaRPr sz="110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800"/>
                        <a:buFont typeface="Arial"/>
                        <a:buNone/>
                      </a:pPr>
                      <a:endParaRPr sz="1100" u="none" strike="noStrike" cap="none">
                        <a:solidFill>
                          <a:schemeClr val="dk1"/>
                        </a:solidFill>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C582F4"/>
                        </a:buClr>
                        <a:buSzPts val="1800"/>
                        <a:buFont typeface="Barlow Condensed"/>
                        <a:buNone/>
                      </a:pPr>
                      <a:r>
                        <a:rPr lang="es-CL" sz="1100" u="none" strike="noStrike" cap="none">
                          <a:solidFill>
                            <a:schemeClr val="dk1"/>
                          </a:solidFill>
                          <a:latin typeface="Cabin"/>
                          <a:ea typeface="Cabin"/>
                          <a:cs typeface="Cabin"/>
                          <a:sym typeface="Cabin"/>
                        </a:rPr>
                        <a:t>ROL/ COMPROMISO EN EL EQUIPO</a:t>
                      </a:r>
                      <a:endParaRPr sz="1100" u="none" strike="noStrike" cap="none">
                        <a:solidFill>
                          <a:schemeClr val="dk1"/>
                        </a:solidFill>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7B7B7"/>
                    </a:solidFill>
                  </a:tcPr>
                </a:tc>
                <a:extLst>
                  <a:ext uri="{0D108BD9-81ED-4DB2-BD59-A6C34878D82A}">
                    <a16:rowId xmlns:a16="http://schemas.microsoft.com/office/drawing/2014/main" val="10000"/>
                  </a:ext>
                </a:extLst>
              </a:tr>
              <a:tr h="377050">
                <a:tc>
                  <a:txBody>
                    <a:bodyPr/>
                    <a:lstStyle/>
                    <a:p>
                      <a:pPr marL="0" marR="0" lvl="0" indent="0" algn="l" rtl="0">
                        <a:lnSpc>
                          <a:spcPct val="100000"/>
                        </a:lnSpc>
                        <a:spcBef>
                          <a:spcPts val="0"/>
                        </a:spcBef>
                        <a:spcAft>
                          <a:spcPts val="0"/>
                        </a:spcAft>
                        <a:buClr>
                          <a:schemeClr val="dk1"/>
                        </a:buClr>
                        <a:buSzPts val="1800"/>
                        <a:buFont typeface="Arial"/>
                        <a:buNone/>
                      </a:pPr>
                      <a:r>
                        <a:rPr lang="es-CL" sz="1400" u="none" strike="noStrike" cap="none">
                          <a:latin typeface="Cabin"/>
                          <a:ea typeface="Cabin"/>
                          <a:cs typeface="Cabin"/>
                          <a:sym typeface="Cabin"/>
                        </a:rPr>
                        <a:t>Ismael Horta Chavez</a:t>
                      </a:r>
                      <a:endParaRPr sz="1400" u="none" strike="noStrike" cap="none">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s-CL" sz="1400" u="none" strike="noStrike" cap="none">
                          <a:latin typeface="Cabin"/>
                          <a:ea typeface="Cabin"/>
                          <a:cs typeface="Cabin"/>
                          <a:sym typeface="Cabin"/>
                        </a:rPr>
                        <a:t>Líder / Visionario / Estratega</a:t>
                      </a:r>
                      <a:endParaRPr sz="1400" u="none" strike="noStrike" cap="none">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377050">
                <a:tc>
                  <a:txBody>
                    <a:bodyPr/>
                    <a:lstStyle/>
                    <a:p>
                      <a:pPr marL="0" marR="0" lvl="0" indent="0" algn="l" rtl="0">
                        <a:lnSpc>
                          <a:spcPct val="100000"/>
                        </a:lnSpc>
                        <a:spcBef>
                          <a:spcPts val="0"/>
                        </a:spcBef>
                        <a:spcAft>
                          <a:spcPts val="0"/>
                        </a:spcAft>
                        <a:buClr>
                          <a:schemeClr val="dk1"/>
                        </a:buClr>
                        <a:buSzPts val="1800"/>
                        <a:buFont typeface="Arial"/>
                        <a:buNone/>
                      </a:pPr>
                      <a:r>
                        <a:rPr lang="es-CL" sz="1400" u="none" strike="noStrike" cap="none">
                          <a:latin typeface="Cabin"/>
                          <a:ea typeface="Cabin"/>
                          <a:cs typeface="Cabin"/>
                          <a:sym typeface="Cabin"/>
                        </a:rPr>
                        <a:t>Danilo Gonzalez Chavez </a:t>
                      </a:r>
                      <a:endParaRPr sz="1400" u="none" strike="noStrike" cap="none">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s-CL" sz="1400" u="none" strike="noStrike" cap="none">
                          <a:latin typeface="Cabin"/>
                          <a:ea typeface="Cabin"/>
                          <a:cs typeface="Cabin"/>
                          <a:sym typeface="Cabin"/>
                        </a:rPr>
                        <a:t>Líder / Visionario / Estratega</a:t>
                      </a:r>
                      <a:endParaRPr sz="1400" u="none" strike="noStrike" cap="none">
                        <a:latin typeface="Cabin"/>
                        <a:ea typeface="Cabin"/>
                        <a:cs typeface="Cabin"/>
                        <a:sym typeface="Cabin"/>
                      </a:endParaRPr>
                    </a:p>
                  </a:txBody>
                  <a:tcPr marL="91450" marR="91450" marT="45725" marB="45725"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f6d87f1187_0_290"/>
          <p:cNvSpPr txBox="1">
            <a:spLocks noGrp="1"/>
          </p:cNvSpPr>
          <p:nvPr>
            <p:ph type="title"/>
          </p:nvPr>
        </p:nvSpPr>
        <p:spPr>
          <a:xfrm>
            <a:off x="389664" y="240576"/>
            <a:ext cx="8496300" cy="365100"/>
          </a:xfrm>
          <a:prstGeom prst="rect">
            <a:avLst/>
          </a:prstGeom>
          <a:noFill/>
          <a:ln>
            <a:noFill/>
          </a:ln>
        </p:spPr>
        <p:txBody>
          <a:bodyPr spcFirstLastPara="1" wrap="square" lIns="79775" tIns="39875" rIns="79775" bIns="39875" anchor="t" anchorCtr="0">
            <a:noAutofit/>
          </a:bodyPr>
          <a:lstStyle/>
          <a:p>
            <a:pPr marL="457200" lvl="0" indent="-361950" algn="l" rtl="0">
              <a:lnSpc>
                <a:spcPct val="90000"/>
              </a:lnSpc>
              <a:spcBef>
                <a:spcPts val="0"/>
              </a:spcBef>
              <a:spcAft>
                <a:spcPts val="0"/>
              </a:spcAft>
              <a:buClr>
                <a:schemeClr val="lt1"/>
              </a:buClr>
              <a:buSzPts val="2100"/>
              <a:buFont typeface="Comfortaa"/>
              <a:buAutoNum type="arabicPeriod"/>
            </a:pPr>
            <a:r>
              <a:rPr lang="es-CL" sz="2100">
                <a:solidFill>
                  <a:schemeClr val="lt1"/>
                </a:solidFill>
                <a:highlight>
                  <a:srgbClr val="5C5DD4"/>
                </a:highlight>
                <a:latin typeface="Comfortaa"/>
                <a:ea typeface="Comfortaa"/>
                <a:cs typeface="Comfortaa"/>
                <a:sym typeface="Comfortaa"/>
              </a:rPr>
              <a:t>LIENZO DE PERSPECTIVA EN EQUIPO</a:t>
            </a:r>
            <a:endParaRPr sz="1200">
              <a:solidFill>
                <a:srgbClr val="FF0000"/>
              </a:solidFill>
              <a:highlight>
                <a:srgbClr val="5C5DD4"/>
              </a:highlight>
              <a:latin typeface="Comfortaa"/>
              <a:ea typeface="Comfortaa"/>
              <a:cs typeface="Comfortaa"/>
              <a:sym typeface="Comfortaa"/>
            </a:endParaRPr>
          </a:p>
        </p:txBody>
      </p:sp>
      <p:sp>
        <p:nvSpPr>
          <p:cNvPr id="161" name="Google Shape;161;g3f6d87f1187_0_290"/>
          <p:cNvSpPr txBox="1"/>
          <p:nvPr/>
        </p:nvSpPr>
        <p:spPr>
          <a:xfrm>
            <a:off x="375157" y="881657"/>
            <a:ext cx="83937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Reflexión</a:t>
            </a:r>
            <a:r>
              <a:rPr lang="es-CL" sz="1100" b="0" i="0" u="none" strike="noStrike" cap="none">
                <a:solidFill>
                  <a:srgbClr val="000000"/>
                </a:solidFill>
                <a:latin typeface="Cabin"/>
                <a:ea typeface="Cabin"/>
                <a:cs typeface="Cabin"/>
                <a:sym typeface="Cabin"/>
              </a:rPr>
              <a:t> sobre </a:t>
            </a:r>
            <a:r>
              <a:rPr lang="es-CL" sz="1100">
                <a:latin typeface="Cabin"/>
                <a:ea typeface="Cabin"/>
                <a:cs typeface="Cabin"/>
                <a:sym typeface="Cabin"/>
              </a:rPr>
              <a:t>las </a:t>
            </a:r>
            <a:r>
              <a:rPr lang="es-CL" sz="1100" b="0" i="0" u="none" strike="noStrike" cap="none">
                <a:solidFill>
                  <a:srgbClr val="000000"/>
                </a:solidFill>
                <a:latin typeface="Cabin"/>
                <a:ea typeface="Cabin"/>
                <a:cs typeface="Cabin"/>
                <a:sym typeface="Cabin"/>
              </a:rPr>
              <a:t>principales habilidades y fortalezas, aquello que </a:t>
            </a:r>
            <a:r>
              <a:rPr lang="es-CL" sz="1100">
                <a:latin typeface="Cabin"/>
                <a:ea typeface="Cabin"/>
                <a:cs typeface="Cabin"/>
                <a:sym typeface="Cabin"/>
              </a:rPr>
              <a:t>nos</a:t>
            </a:r>
            <a:r>
              <a:rPr lang="es-CL" sz="1100" b="0" i="0" u="none" strike="noStrike" cap="none">
                <a:solidFill>
                  <a:srgbClr val="000000"/>
                </a:solidFill>
                <a:latin typeface="Cabin"/>
                <a:ea typeface="Cabin"/>
                <a:cs typeface="Cabin"/>
                <a:sym typeface="Cabin"/>
              </a:rPr>
              <a:t> motiva y apasiona, y cómo eso podría transformarse en un aporte significativo al mundo a través de</a:t>
            </a:r>
            <a:r>
              <a:rPr lang="es-CL" sz="1100">
                <a:latin typeface="Cabin"/>
                <a:ea typeface="Cabin"/>
                <a:cs typeface="Cabin"/>
                <a:sym typeface="Cabin"/>
              </a:rPr>
              <a:t>l</a:t>
            </a:r>
            <a:r>
              <a:rPr lang="es-CL" sz="1100" b="0" i="0" u="none" strike="noStrike" cap="none">
                <a:solidFill>
                  <a:srgbClr val="000000"/>
                </a:solidFill>
                <a:latin typeface="Cabin"/>
                <a:ea typeface="Cabin"/>
                <a:cs typeface="Cabin"/>
                <a:sym typeface="Cabin"/>
              </a:rPr>
              <a:t> desarrollo profesional:</a:t>
            </a:r>
            <a:r>
              <a:rPr lang="es-CL" sz="1100">
                <a:latin typeface="Cabin"/>
                <a:ea typeface="Cabin"/>
                <a:cs typeface="Cabin"/>
                <a:sym typeface="Cabin"/>
              </a:rPr>
              <a:t> </a:t>
            </a:r>
            <a:r>
              <a:rPr lang="es-CL" sz="1100" b="0" i="0" u="none" strike="noStrike" cap="none">
                <a:solidFill>
                  <a:srgbClr val="000000"/>
                </a:solidFill>
                <a:latin typeface="Cabin"/>
                <a:ea typeface="Cabin"/>
                <a:cs typeface="Cabin"/>
                <a:sym typeface="Cabin"/>
              </a:rPr>
              <a:t>proyect</a:t>
            </a:r>
            <a:r>
              <a:rPr lang="es-CL" sz="1100">
                <a:latin typeface="Cabin"/>
                <a:ea typeface="Cabin"/>
                <a:cs typeface="Cabin"/>
                <a:sym typeface="Cabin"/>
              </a:rPr>
              <a:t>ando</a:t>
            </a:r>
            <a:r>
              <a:rPr lang="es-CL" sz="1100" b="0" i="0" u="none" strike="noStrike" cap="none">
                <a:solidFill>
                  <a:srgbClr val="000000"/>
                </a:solidFill>
                <a:latin typeface="Cabin"/>
                <a:ea typeface="Cabin"/>
                <a:cs typeface="Cabin"/>
                <a:sym typeface="Cabin"/>
              </a:rPr>
              <a:t> una versión de</a:t>
            </a:r>
            <a:r>
              <a:rPr lang="es-CL" sz="1100">
                <a:latin typeface="Cabin"/>
                <a:ea typeface="Cabin"/>
                <a:cs typeface="Cabin"/>
                <a:sym typeface="Cabin"/>
              </a:rPr>
              <a:t> nuestro</a:t>
            </a:r>
            <a:r>
              <a:rPr lang="es-CL" sz="1100" b="0" i="0" u="none" strike="noStrike" cap="none">
                <a:solidFill>
                  <a:srgbClr val="000000"/>
                </a:solidFill>
                <a:latin typeface="Cabin"/>
                <a:ea typeface="Cabin"/>
                <a:cs typeface="Cabin"/>
                <a:sym typeface="Cabin"/>
              </a:rPr>
              <a:t> propósito.</a:t>
            </a:r>
            <a:endParaRPr sz="1100" b="0" i="0" u="none" strike="noStrike" cap="none">
              <a:solidFill>
                <a:srgbClr val="000000"/>
              </a:solidFill>
              <a:latin typeface="Cabin"/>
              <a:ea typeface="Cabin"/>
              <a:cs typeface="Cabin"/>
              <a:sym typeface="Cabin"/>
            </a:endParaRPr>
          </a:p>
        </p:txBody>
      </p:sp>
      <p:graphicFrame>
        <p:nvGraphicFramePr>
          <p:cNvPr id="162" name="Google Shape;162;g3f6d87f1187_0_290"/>
          <p:cNvGraphicFramePr/>
          <p:nvPr/>
        </p:nvGraphicFramePr>
        <p:xfrm>
          <a:off x="466820" y="5389000"/>
          <a:ext cx="8393700" cy="1171740"/>
        </p:xfrm>
        <a:graphic>
          <a:graphicData uri="http://schemas.openxmlformats.org/drawingml/2006/table">
            <a:tbl>
              <a:tblPr>
                <a:noFill/>
                <a:tableStyleId>{43D06EDE-987B-4894-A242-B41088D9BEBC}</a:tableStyleId>
              </a:tblPr>
              <a:tblGrid>
                <a:gridCol w="1398950">
                  <a:extLst>
                    <a:ext uri="{9D8B030D-6E8A-4147-A177-3AD203B41FA5}">
                      <a16:colId xmlns:a16="http://schemas.microsoft.com/office/drawing/2014/main" val="20000"/>
                    </a:ext>
                  </a:extLst>
                </a:gridCol>
                <a:gridCol w="1398950">
                  <a:extLst>
                    <a:ext uri="{9D8B030D-6E8A-4147-A177-3AD203B41FA5}">
                      <a16:colId xmlns:a16="http://schemas.microsoft.com/office/drawing/2014/main" val="20001"/>
                    </a:ext>
                  </a:extLst>
                </a:gridCol>
                <a:gridCol w="1398950">
                  <a:extLst>
                    <a:ext uri="{9D8B030D-6E8A-4147-A177-3AD203B41FA5}">
                      <a16:colId xmlns:a16="http://schemas.microsoft.com/office/drawing/2014/main" val="20002"/>
                    </a:ext>
                  </a:extLst>
                </a:gridCol>
                <a:gridCol w="1398950">
                  <a:extLst>
                    <a:ext uri="{9D8B030D-6E8A-4147-A177-3AD203B41FA5}">
                      <a16:colId xmlns:a16="http://schemas.microsoft.com/office/drawing/2014/main" val="20003"/>
                    </a:ext>
                  </a:extLst>
                </a:gridCol>
                <a:gridCol w="1398950">
                  <a:extLst>
                    <a:ext uri="{9D8B030D-6E8A-4147-A177-3AD203B41FA5}">
                      <a16:colId xmlns:a16="http://schemas.microsoft.com/office/drawing/2014/main" val="20004"/>
                    </a:ext>
                  </a:extLst>
                </a:gridCol>
                <a:gridCol w="1398950">
                  <a:extLst>
                    <a:ext uri="{9D8B030D-6E8A-4147-A177-3AD203B41FA5}">
                      <a16:colId xmlns:a16="http://schemas.microsoft.com/office/drawing/2014/main" val="20005"/>
                    </a:ext>
                  </a:extLst>
                </a:gridCol>
              </a:tblGrid>
              <a:tr h="786250">
                <a:tc>
                  <a:txBody>
                    <a:bodyPr/>
                    <a:lstStyle/>
                    <a:p>
                      <a:pPr marL="0" marR="0" lvl="0" indent="0" algn="ctr" rtl="0">
                        <a:lnSpc>
                          <a:spcPct val="100000"/>
                        </a:lnSpc>
                        <a:spcBef>
                          <a:spcPts val="0"/>
                        </a:spcBef>
                        <a:spcAft>
                          <a:spcPts val="0"/>
                        </a:spcAft>
                        <a:buClr>
                          <a:schemeClr val="dk1"/>
                        </a:buClr>
                        <a:buSzPts val="1000"/>
                        <a:buFont typeface="Arial"/>
                        <a:buNone/>
                      </a:pPr>
                      <a:r>
                        <a:rPr lang="es-CL" sz="1100" b="1" u="none" strike="noStrike" cap="none">
                          <a:solidFill>
                            <a:schemeClr val="dk1"/>
                          </a:solidFill>
                          <a:latin typeface="Cabin"/>
                          <a:ea typeface="Cabin"/>
                          <a:cs typeface="Cabin"/>
                          <a:sym typeface="Cabin"/>
                        </a:rPr>
                        <a:t>¿Qué elementos existen en común? </a:t>
                      </a:r>
                      <a:endParaRPr sz="11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000"/>
                        <a:buFont typeface="Arial"/>
                        <a:buNone/>
                      </a:pPr>
                      <a:endParaRPr sz="1100" b="1">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000"/>
                        <a:buFont typeface="Arial"/>
                        <a:buNone/>
                      </a:pPr>
                      <a:r>
                        <a:rPr lang="es-CL" sz="1100" b="1" u="none" strike="noStrike" cap="none">
                          <a:solidFill>
                            <a:schemeClr val="dk1"/>
                          </a:solidFill>
                          <a:latin typeface="Cabin"/>
                          <a:ea typeface="Cabin"/>
                          <a:cs typeface="Cabin"/>
                          <a:sym typeface="Cabin"/>
                        </a:rPr>
                        <a:t>¿Cómo podríamos integrarlos para un propósito común?</a:t>
                      </a:r>
                      <a:endParaRPr sz="11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gridSpan="5">
                  <a:txBody>
                    <a:bodyPr/>
                    <a:lstStyle/>
                    <a:p>
                      <a:pPr marL="0" marR="0" lvl="0" indent="0" algn="ctr" rtl="0">
                        <a:lnSpc>
                          <a:spcPct val="100000"/>
                        </a:lnSpc>
                        <a:spcBef>
                          <a:spcPts val="0"/>
                        </a:spcBef>
                        <a:spcAft>
                          <a:spcPts val="0"/>
                        </a:spcAft>
                        <a:buClr>
                          <a:schemeClr val="dk1"/>
                        </a:buClr>
                        <a:buSzPts val="1100"/>
                        <a:buFont typeface="Arial"/>
                        <a:buNone/>
                      </a:pPr>
                      <a:r>
                        <a:rPr lang="es-CL" sz="1000">
                          <a:solidFill>
                            <a:schemeClr val="dk1"/>
                          </a:solidFill>
                        </a:rPr>
                        <a:t>Encontramos nuestro punto de encuentro en la capacidad de resolver problemas reales mediante la creación aplicaciones móviles, respaldadas por el uso de tecnologías adecuadas. Para trabajar con un propósito común, nos integramos combinando nuestras distintas fortalezas (desarrollo técnico, gestión de datos, diseño centrado en el usuario) para dar vida a </a:t>
                      </a:r>
                      <a:r>
                        <a:rPr lang="es-CL" sz="1000" b="1">
                          <a:solidFill>
                            <a:schemeClr val="dk1"/>
                          </a:solidFill>
                        </a:rPr>
                        <a:t>Code-Trekking</a:t>
                      </a:r>
                      <a:r>
                        <a:rPr lang="es-CL" sz="1000">
                          <a:solidFill>
                            <a:schemeClr val="dk1"/>
                          </a:solidFill>
                        </a:rPr>
                        <a:t>, un proyecto con un claro enfoque social que conecta el bienestar en la naturaleza con soluciones digitales eficientes. </a:t>
                      </a:r>
                      <a:endParaRPr sz="9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bl>
          </a:graphicData>
        </a:graphic>
      </p:graphicFrame>
      <p:graphicFrame>
        <p:nvGraphicFramePr>
          <p:cNvPr id="163" name="Google Shape;163;g3f6d87f1187_0_290"/>
          <p:cNvGraphicFramePr/>
          <p:nvPr/>
        </p:nvGraphicFramePr>
        <p:xfrm>
          <a:off x="415121" y="1576750"/>
          <a:ext cx="8270025" cy="3405790"/>
        </p:xfrm>
        <a:graphic>
          <a:graphicData uri="http://schemas.openxmlformats.org/drawingml/2006/table">
            <a:tbl>
              <a:tblPr>
                <a:noFill/>
                <a:tableStyleId>{43D06EDE-987B-4894-A242-B41088D9BEBC}</a:tableStyleId>
              </a:tblPr>
              <a:tblGrid>
                <a:gridCol w="1089650">
                  <a:extLst>
                    <a:ext uri="{9D8B030D-6E8A-4147-A177-3AD203B41FA5}">
                      <a16:colId xmlns:a16="http://schemas.microsoft.com/office/drawing/2014/main" val="20000"/>
                    </a:ext>
                  </a:extLst>
                </a:gridCol>
                <a:gridCol w="7180375">
                  <a:extLst>
                    <a:ext uri="{9D8B030D-6E8A-4147-A177-3AD203B41FA5}">
                      <a16:colId xmlns:a16="http://schemas.microsoft.com/office/drawing/2014/main" val="20001"/>
                    </a:ext>
                  </a:extLst>
                </a:gridCol>
              </a:tblGrid>
              <a:tr h="11170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Intereses</a:t>
                      </a:r>
                      <a:endParaRPr sz="11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900"/>
                        <a:buFont typeface="Arial"/>
                        <a:buNone/>
                      </a:pPr>
                      <a:r>
                        <a:rPr lang="es-CL" sz="1000" i="1" u="none" strike="noStrike" cap="none">
                          <a:solidFill>
                            <a:schemeClr val="dk1"/>
                          </a:solidFill>
                          <a:latin typeface="Cabin"/>
                          <a:ea typeface="Cabin"/>
                          <a:cs typeface="Cabin"/>
                          <a:sym typeface="Cabin"/>
                        </a:rPr>
                        <a:t>¿Qué </a:t>
                      </a:r>
                      <a:r>
                        <a:rPr lang="es-CL" sz="1000" i="1">
                          <a:solidFill>
                            <a:schemeClr val="dk1"/>
                          </a:solidFill>
                          <a:latin typeface="Cabin"/>
                          <a:ea typeface="Cabin"/>
                          <a:cs typeface="Cabin"/>
                          <a:sym typeface="Cabin"/>
                        </a:rPr>
                        <a:t>nos </a:t>
                      </a:r>
                      <a:r>
                        <a:rPr lang="es-CL" sz="1000" i="1" u="none" strike="noStrike" cap="none">
                          <a:solidFill>
                            <a:schemeClr val="dk1"/>
                          </a:solidFill>
                          <a:latin typeface="Cabin"/>
                          <a:ea typeface="Cabin"/>
                          <a:cs typeface="Cabin"/>
                          <a:sym typeface="Cabin"/>
                        </a:rPr>
                        <a:t>llaman </a:t>
                      </a:r>
                      <a:endParaRPr sz="1000" i="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900"/>
                        <a:buFont typeface="Arial"/>
                        <a:buNone/>
                      </a:pPr>
                      <a:r>
                        <a:rPr lang="es-CL" sz="1000" i="1" u="none" strike="noStrike" cap="none">
                          <a:solidFill>
                            <a:schemeClr val="dk1"/>
                          </a:solidFill>
                          <a:latin typeface="Cabin"/>
                          <a:ea typeface="Cabin"/>
                          <a:cs typeface="Cabin"/>
                          <a:sym typeface="Cabin"/>
                        </a:rPr>
                        <a:t>la atención?</a:t>
                      </a:r>
                      <a:endParaRPr sz="11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CL" sz="1100">
                          <a:latin typeface="Cabin"/>
                          <a:ea typeface="Cabin"/>
                          <a:cs typeface="Cabin"/>
                          <a:sym typeface="Cabin"/>
                        </a:rPr>
                        <a:t>Como equipo, compartimos gran  motivación por la innovación tecnológica, el emprendimiento digital y la resolución de problemas sociales mediante el desarrollo de software y aplicaciones. </a:t>
                      </a:r>
                      <a:endParaRPr sz="1100">
                        <a:latin typeface="Cabin"/>
                        <a:ea typeface="Cabin"/>
                        <a:cs typeface="Cabin"/>
                        <a:sym typeface="Cabin"/>
                      </a:endParaRPr>
                    </a:p>
                    <a:p>
                      <a:pPr marL="0" marR="0" lvl="0" indent="0" algn="ctr" rtl="0">
                        <a:lnSpc>
                          <a:spcPct val="100000"/>
                        </a:lnSpc>
                        <a:spcBef>
                          <a:spcPts val="0"/>
                        </a:spcBef>
                        <a:spcAft>
                          <a:spcPts val="0"/>
                        </a:spcAft>
                        <a:buClr>
                          <a:srgbClr val="000000"/>
                        </a:buClr>
                        <a:buSzPts val="1300"/>
                        <a:buFont typeface="Arial"/>
                        <a:buNone/>
                      </a:pPr>
                      <a:endParaRPr sz="1100">
                        <a:latin typeface="Cabin"/>
                        <a:ea typeface="Cabin"/>
                        <a:cs typeface="Cabin"/>
                        <a:sym typeface="Cabin"/>
                      </a:endParaRPr>
                    </a:p>
                    <a:p>
                      <a:pPr marL="0" marR="0" lvl="0" indent="0" algn="ctr" rtl="0">
                        <a:lnSpc>
                          <a:spcPct val="100000"/>
                        </a:lnSpc>
                        <a:spcBef>
                          <a:spcPts val="0"/>
                        </a:spcBef>
                        <a:spcAft>
                          <a:spcPts val="0"/>
                        </a:spcAft>
                        <a:buClr>
                          <a:srgbClr val="000000"/>
                        </a:buClr>
                        <a:buSzPts val="1300"/>
                        <a:buFont typeface="Arial"/>
                        <a:buNone/>
                      </a:pPr>
                      <a:r>
                        <a:rPr lang="es-CL" sz="1100">
                          <a:latin typeface="Cabin"/>
                          <a:ea typeface="Cabin"/>
                          <a:cs typeface="Cabin"/>
                          <a:sym typeface="Cabin"/>
                        </a:rPr>
                        <a:t>Nos atrae la tecnología verde, el diseño web/mobile y la mejora de la experiencia de usuario con interfaces interactivas, buscando impactar también en servicios públicos. Asimismo, nos conecta el entorno del bienestar físico, la salud en coneccion con la naturaleza. </a:t>
                      </a:r>
                      <a:endParaRPr sz="1100" u="none"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170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Capacidades</a:t>
                      </a:r>
                      <a:endParaRPr sz="11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000"/>
                        <a:buFont typeface="Arial"/>
                        <a:buNone/>
                      </a:pPr>
                      <a:r>
                        <a:rPr lang="es-CL" sz="1000" i="1" u="none" strike="noStrike" cap="none">
                          <a:solidFill>
                            <a:schemeClr val="dk1"/>
                          </a:solidFill>
                          <a:latin typeface="Cabin"/>
                          <a:ea typeface="Cabin"/>
                          <a:cs typeface="Cabin"/>
                          <a:sym typeface="Cabin"/>
                        </a:rPr>
                        <a:t>¿Qué conocimientos y habilidades </a:t>
                      </a:r>
                      <a:r>
                        <a:rPr lang="es-CL" sz="1000" i="1">
                          <a:solidFill>
                            <a:schemeClr val="dk1"/>
                          </a:solidFill>
                          <a:latin typeface="Cabin"/>
                          <a:ea typeface="Cabin"/>
                          <a:cs typeface="Cabin"/>
                          <a:sym typeface="Cabin"/>
                        </a:rPr>
                        <a:t>aportamos</a:t>
                      </a:r>
                      <a:r>
                        <a:rPr lang="es-CL" sz="1000" i="1" u="none" strike="noStrike" cap="none">
                          <a:solidFill>
                            <a:schemeClr val="dk1"/>
                          </a:solidFill>
                          <a:latin typeface="Cabin"/>
                          <a:ea typeface="Cabin"/>
                          <a:cs typeface="Cabin"/>
                          <a:sym typeface="Cabin"/>
                        </a:rPr>
                        <a:t>?</a:t>
                      </a:r>
                      <a:endParaRPr sz="11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CL" sz="1100">
                          <a:latin typeface="Cabin"/>
                          <a:ea typeface="Cabin"/>
                          <a:cs typeface="Cabin"/>
                          <a:sym typeface="Cabin"/>
                        </a:rPr>
                        <a:t>Reunimos un perfil técnico sólido que abarca la programación frontend (HTML, CSS, JavaScript,TypeScript desarrollo de apps) e interfaces atractivas e intuitivas, junto con el diseño y gestión de bases de datos mediante herramientas como FireBase. Aportamos pensamiento crítico, creatividad en la resolución de problemas, planificación de requerimientos informáticos y trabajo colaborativo. </a:t>
                      </a:r>
                      <a:endParaRPr sz="1100" u="none"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170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Perspectivas </a:t>
                      </a:r>
                      <a:endParaRPr sz="11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de la carrera</a:t>
                      </a:r>
                      <a:endParaRPr sz="12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000"/>
                        <a:buFont typeface="Arial"/>
                        <a:buNone/>
                      </a:pPr>
                      <a:r>
                        <a:rPr lang="es-CL" sz="1000" i="1">
                          <a:solidFill>
                            <a:schemeClr val="dk1"/>
                          </a:solidFill>
                          <a:latin typeface="Cabin"/>
                          <a:ea typeface="Cabin"/>
                          <a:cs typeface="Cabin"/>
                          <a:sym typeface="Cabin"/>
                        </a:rPr>
                        <a:t>E</a:t>
                      </a:r>
                      <a:r>
                        <a:rPr lang="es-CL" sz="1000" i="1" u="none" strike="noStrike" cap="none">
                          <a:solidFill>
                            <a:schemeClr val="dk1"/>
                          </a:solidFill>
                          <a:latin typeface="Cabin"/>
                          <a:ea typeface="Cabin"/>
                          <a:cs typeface="Cabin"/>
                          <a:sym typeface="Cabin"/>
                        </a:rPr>
                        <a:t>n que se enfoca hoy en día </a:t>
                      </a:r>
                      <a:r>
                        <a:rPr lang="es-CL" sz="1000" i="1">
                          <a:solidFill>
                            <a:schemeClr val="dk1"/>
                          </a:solidFill>
                          <a:latin typeface="Cabin"/>
                          <a:ea typeface="Cabin"/>
                          <a:cs typeface="Cabin"/>
                          <a:sym typeface="Cabin"/>
                        </a:rPr>
                        <a:t>nuestra</a:t>
                      </a:r>
                      <a:r>
                        <a:rPr lang="es-CL" sz="1000" i="1" u="none" strike="noStrike" cap="none">
                          <a:solidFill>
                            <a:schemeClr val="dk1"/>
                          </a:solidFill>
                          <a:latin typeface="Cabin"/>
                          <a:ea typeface="Cabin"/>
                          <a:cs typeface="Cabin"/>
                          <a:sym typeface="Cabin"/>
                        </a:rPr>
                        <a:t> carrera.</a:t>
                      </a:r>
                      <a:endParaRPr sz="1300" u="none" strike="noStrike" cap="none"/>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CL" sz="1100">
                          <a:latin typeface="Cabin"/>
                          <a:ea typeface="Cabin"/>
                          <a:cs typeface="Cabin"/>
                          <a:sym typeface="Cabin"/>
                        </a:rPr>
                        <a:t>Nuestra formación profesional se enfoca en la ingeniería informática y el desarrollo de soluciones digitales integrales. Hoy en día, nos concentramos en full-stack (frontend y backend) y la creación de páginas web y aplicaciones móviles. A esto sumamos áreas clave para la industria actual como la inteligencia de negocios, la gestión de proyectos y la seguridad en sistemas computacionales, garantizando un enfoque moderno y robusto en el software que construimos. </a:t>
                      </a:r>
                      <a:endParaRPr sz="1100" u="none"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f6d87f1187_0_298"/>
          <p:cNvSpPr txBox="1"/>
          <p:nvPr/>
        </p:nvSpPr>
        <p:spPr>
          <a:xfrm>
            <a:off x="520574" y="725400"/>
            <a:ext cx="78885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chemeClr val="dk1"/>
              </a:buClr>
              <a:buSzPts val="1200"/>
              <a:buFont typeface="Arial"/>
              <a:buNone/>
            </a:pPr>
            <a:r>
              <a:rPr lang="es-CL" sz="1100">
                <a:solidFill>
                  <a:schemeClr val="dk1"/>
                </a:solidFill>
                <a:latin typeface="Cabin"/>
                <a:ea typeface="Cabin"/>
                <a:cs typeface="Cabin"/>
                <a:sym typeface="Cabin"/>
              </a:rPr>
              <a:t>E</a:t>
            </a:r>
            <a:r>
              <a:rPr lang="es-CL" sz="1100" b="0" i="0" u="none" strike="noStrike" cap="none">
                <a:solidFill>
                  <a:schemeClr val="dk1"/>
                </a:solidFill>
                <a:latin typeface="Cabin"/>
                <a:ea typeface="Cabin"/>
                <a:cs typeface="Cabin"/>
                <a:sym typeface="Cabin"/>
              </a:rPr>
              <a:t>jemplo</a:t>
            </a:r>
            <a:r>
              <a:rPr lang="es-CL" sz="1100">
                <a:solidFill>
                  <a:schemeClr val="dk1"/>
                </a:solidFill>
                <a:latin typeface="Cabin"/>
                <a:ea typeface="Cabin"/>
                <a:cs typeface="Cabin"/>
                <a:sym typeface="Cabin"/>
              </a:rPr>
              <a:t>s</a:t>
            </a:r>
            <a:r>
              <a:rPr lang="es-CL" sz="1100" b="0" i="0" u="none" strike="noStrike" cap="none">
                <a:solidFill>
                  <a:schemeClr val="dk1"/>
                </a:solidFill>
                <a:latin typeface="Cabin"/>
                <a:ea typeface="Cabin"/>
                <a:cs typeface="Cabin"/>
                <a:sym typeface="Cabin"/>
              </a:rPr>
              <a:t> concreto de innovación (producto, servicio o proceso) relacionado directa o indirectamente </a:t>
            </a:r>
            <a:r>
              <a:rPr lang="es-CL" sz="1100">
                <a:solidFill>
                  <a:schemeClr val="dk1"/>
                </a:solidFill>
                <a:latin typeface="Cabin"/>
                <a:ea typeface="Cabin"/>
                <a:cs typeface="Cabin"/>
                <a:sym typeface="Cabin"/>
              </a:rPr>
              <a:t>nuestra </a:t>
            </a:r>
            <a:r>
              <a:rPr lang="es-CL" sz="1100" b="0" i="0" u="none" strike="noStrike" cap="none">
                <a:solidFill>
                  <a:schemeClr val="dk1"/>
                </a:solidFill>
                <a:latin typeface="Cabin"/>
                <a:ea typeface="Cabin"/>
                <a:cs typeface="Cabin"/>
                <a:sym typeface="Cabin"/>
              </a:rPr>
              <a:t>carrera. </a:t>
            </a:r>
            <a:endParaRPr sz="11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200"/>
              <a:buFont typeface="Arial"/>
              <a:buNone/>
            </a:pPr>
            <a:r>
              <a:rPr lang="es-CL" sz="1100">
                <a:solidFill>
                  <a:schemeClr val="dk1"/>
                </a:solidFill>
                <a:latin typeface="Cabin"/>
                <a:ea typeface="Cabin"/>
                <a:cs typeface="Cabin"/>
                <a:sym typeface="Cabin"/>
              </a:rPr>
              <a:t>R</a:t>
            </a:r>
            <a:r>
              <a:rPr lang="es-CL" sz="1100" b="0" i="0" u="none" strike="noStrike" cap="none">
                <a:solidFill>
                  <a:schemeClr val="dk1"/>
                </a:solidFill>
                <a:latin typeface="Cabin"/>
                <a:ea typeface="Cabin"/>
                <a:cs typeface="Cabin"/>
                <a:sym typeface="Cabin"/>
              </a:rPr>
              <a:t>eflexión que conecte esta innovación con los desafíos, oportunidades o transformaciones en </a:t>
            </a:r>
            <a:r>
              <a:rPr lang="es-CL" sz="1100">
                <a:solidFill>
                  <a:schemeClr val="dk1"/>
                </a:solidFill>
                <a:latin typeface="Cabin"/>
                <a:ea typeface="Cabin"/>
                <a:cs typeface="Cabin"/>
                <a:sym typeface="Cabin"/>
              </a:rPr>
              <a:t>nuestro</a:t>
            </a:r>
            <a:r>
              <a:rPr lang="es-CL" sz="1100" b="0" i="0" u="none" strike="noStrike" cap="none">
                <a:solidFill>
                  <a:schemeClr val="dk1"/>
                </a:solidFill>
                <a:latin typeface="Cabin"/>
                <a:ea typeface="Cabin"/>
                <a:cs typeface="Cabin"/>
                <a:sym typeface="Cabin"/>
              </a:rPr>
              <a:t> campo profesional.</a:t>
            </a:r>
            <a:endParaRPr sz="1100" b="0" i="0" u="none" strike="noStrike" cap="none">
              <a:solidFill>
                <a:srgbClr val="000000"/>
              </a:solidFill>
              <a:latin typeface="Cabin"/>
              <a:ea typeface="Cabin"/>
              <a:cs typeface="Cabin"/>
              <a:sym typeface="Cabin"/>
            </a:endParaRPr>
          </a:p>
        </p:txBody>
      </p:sp>
      <p:graphicFrame>
        <p:nvGraphicFramePr>
          <p:cNvPr id="170" name="Google Shape;170;g3f6d87f1187_0_298"/>
          <p:cNvGraphicFramePr/>
          <p:nvPr/>
        </p:nvGraphicFramePr>
        <p:xfrm>
          <a:off x="450143" y="5533276"/>
          <a:ext cx="8393700" cy="1031100"/>
        </p:xfrm>
        <a:graphic>
          <a:graphicData uri="http://schemas.openxmlformats.org/drawingml/2006/table">
            <a:tbl>
              <a:tblPr>
                <a:noFill/>
                <a:tableStyleId>{43D06EDE-987B-4894-A242-B41088D9BEBC}</a:tableStyleId>
              </a:tblPr>
              <a:tblGrid>
                <a:gridCol w="1398950">
                  <a:extLst>
                    <a:ext uri="{9D8B030D-6E8A-4147-A177-3AD203B41FA5}">
                      <a16:colId xmlns:a16="http://schemas.microsoft.com/office/drawing/2014/main" val="20000"/>
                    </a:ext>
                  </a:extLst>
                </a:gridCol>
                <a:gridCol w="1398950">
                  <a:extLst>
                    <a:ext uri="{9D8B030D-6E8A-4147-A177-3AD203B41FA5}">
                      <a16:colId xmlns:a16="http://schemas.microsoft.com/office/drawing/2014/main" val="20001"/>
                    </a:ext>
                  </a:extLst>
                </a:gridCol>
                <a:gridCol w="1398950">
                  <a:extLst>
                    <a:ext uri="{9D8B030D-6E8A-4147-A177-3AD203B41FA5}">
                      <a16:colId xmlns:a16="http://schemas.microsoft.com/office/drawing/2014/main" val="20002"/>
                    </a:ext>
                  </a:extLst>
                </a:gridCol>
                <a:gridCol w="1398950">
                  <a:extLst>
                    <a:ext uri="{9D8B030D-6E8A-4147-A177-3AD203B41FA5}">
                      <a16:colId xmlns:a16="http://schemas.microsoft.com/office/drawing/2014/main" val="20003"/>
                    </a:ext>
                  </a:extLst>
                </a:gridCol>
                <a:gridCol w="1398950">
                  <a:extLst>
                    <a:ext uri="{9D8B030D-6E8A-4147-A177-3AD203B41FA5}">
                      <a16:colId xmlns:a16="http://schemas.microsoft.com/office/drawing/2014/main" val="20004"/>
                    </a:ext>
                  </a:extLst>
                </a:gridCol>
                <a:gridCol w="1398950">
                  <a:extLst>
                    <a:ext uri="{9D8B030D-6E8A-4147-A177-3AD203B41FA5}">
                      <a16:colId xmlns:a16="http://schemas.microsoft.com/office/drawing/2014/main" val="20005"/>
                    </a:ext>
                  </a:extLst>
                </a:gridCol>
              </a:tblGrid>
              <a:tr h="1031100">
                <a:tc>
                  <a:txBody>
                    <a:bodyPr/>
                    <a:lstStyle/>
                    <a:p>
                      <a:pPr marL="0" marR="0" lvl="0" indent="0" algn="ctr" rtl="0">
                        <a:lnSpc>
                          <a:spcPct val="100000"/>
                        </a:lnSpc>
                        <a:spcBef>
                          <a:spcPts val="0"/>
                        </a:spcBef>
                        <a:spcAft>
                          <a:spcPts val="0"/>
                        </a:spcAft>
                        <a:buClr>
                          <a:srgbClr val="000000"/>
                        </a:buClr>
                        <a:buSzPts val="900"/>
                        <a:buFont typeface="Arial"/>
                        <a:buNone/>
                      </a:pPr>
                      <a:r>
                        <a:rPr lang="es-CL" sz="1100" b="1" u="none" strike="noStrike" cap="none">
                          <a:solidFill>
                            <a:schemeClr val="dk1"/>
                          </a:solidFill>
                          <a:latin typeface="Cabin"/>
                          <a:ea typeface="Cabin"/>
                          <a:cs typeface="Cabin"/>
                          <a:sym typeface="Cabin"/>
                        </a:rPr>
                        <a:t>¿Qué aprendimos a través de la revisión de estos emprendimientos innovadores?</a:t>
                      </a:r>
                      <a:endParaRPr sz="11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gridSpan="5">
                  <a:txBody>
                    <a:bodyPr/>
                    <a:lstStyle/>
                    <a:p>
                      <a:pPr marL="0" marR="0" lvl="0" indent="0" algn="ctr" rtl="0">
                        <a:lnSpc>
                          <a:spcPct val="100000"/>
                        </a:lnSpc>
                        <a:spcBef>
                          <a:spcPts val="0"/>
                        </a:spcBef>
                        <a:spcAft>
                          <a:spcPts val="0"/>
                        </a:spcAft>
                        <a:buClr>
                          <a:schemeClr val="dk1"/>
                        </a:buClr>
                        <a:buSzPts val="1000"/>
                        <a:buFont typeface="Arial"/>
                        <a:buNone/>
                      </a:pPr>
                      <a:r>
                        <a:rPr lang="es-CL" sz="1100" b="1" i="1" u="none" strike="noStrike" cap="none">
                          <a:solidFill>
                            <a:schemeClr val="dk1"/>
                          </a:solidFill>
                          <a:latin typeface="Cabin"/>
                          <a:ea typeface="Cabin"/>
                          <a:cs typeface="Cabin"/>
                          <a:sym typeface="Cabin"/>
                        </a:rPr>
                        <a:t>Desde la revisión de estas innovaciones pudimos identificar que el trekking y las actividades al aire libre requieren de soluciones que combinen la organización, seguridad y accesibilidad, para asistir a los usuarios que buscan una experiencia en la naturaleza que sea viable y confiable para quienes utiliza</a:t>
                      </a:r>
                      <a:r>
                        <a:rPr lang="es-CL" sz="1100" b="1" i="1">
                          <a:solidFill>
                            <a:schemeClr val="dk1"/>
                          </a:solidFill>
                          <a:latin typeface="Cabin"/>
                          <a:ea typeface="Cabin"/>
                          <a:cs typeface="Cabin"/>
                          <a:sym typeface="Cabin"/>
                        </a:rPr>
                        <a:t>ran</a:t>
                      </a:r>
                      <a:r>
                        <a:rPr lang="es-CL" sz="1100" b="1" i="1" u="none" strike="noStrike" cap="none">
                          <a:solidFill>
                            <a:schemeClr val="dk1"/>
                          </a:solidFill>
                          <a:latin typeface="Cabin"/>
                          <a:ea typeface="Cabin"/>
                          <a:cs typeface="Cabin"/>
                          <a:sym typeface="Cabin"/>
                        </a:rPr>
                        <a:t> </a:t>
                      </a:r>
                      <a:r>
                        <a:rPr lang="es-CL" sz="1100" b="1" i="1">
                          <a:solidFill>
                            <a:schemeClr val="dk1"/>
                          </a:solidFill>
                          <a:latin typeface="Cabin"/>
                          <a:ea typeface="Cabin"/>
                          <a:cs typeface="Cabin"/>
                          <a:sym typeface="Cabin"/>
                        </a:rPr>
                        <a:t>nuestra </a:t>
                      </a:r>
                      <a:r>
                        <a:rPr lang="es-CL" sz="1100" b="1" i="1" u="none" strike="noStrike" cap="none">
                          <a:solidFill>
                            <a:schemeClr val="dk1"/>
                          </a:solidFill>
                          <a:latin typeface="Cabin"/>
                          <a:ea typeface="Cabin"/>
                          <a:cs typeface="Cabin"/>
                          <a:sym typeface="Cabin"/>
                        </a:rPr>
                        <a:t>app. </a:t>
                      </a:r>
                      <a:endParaRPr sz="1100" b="1"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2"/>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bl>
          </a:graphicData>
        </a:graphic>
      </p:graphicFrame>
      <p:sp>
        <p:nvSpPr>
          <p:cNvPr id="171" name="Google Shape;171;g3f6d87f1187_0_298"/>
          <p:cNvSpPr txBox="1"/>
          <p:nvPr/>
        </p:nvSpPr>
        <p:spPr>
          <a:xfrm>
            <a:off x="389666" y="240585"/>
            <a:ext cx="8754300" cy="365100"/>
          </a:xfrm>
          <a:prstGeom prst="rect">
            <a:avLst/>
          </a:prstGeom>
          <a:noFill/>
          <a:ln>
            <a:noFill/>
          </a:ln>
        </p:spPr>
        <p:txBody>
          <a:bodyPr spcFirstLastPara="1" wrap="square" lIns="79775" tIns="39875" rIns="79775" bIns="398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s-CL" sz="2100" b="1">
                <a:solidFill>
                  <a:srgbClr val="FFFFFF"/>
                </a:solidFill>
                <a:highlight>
                  <a:srgbClr val="5C5DD4"/>
                </a:highlight>
                <a:latin typeface="Comfortaa"/>
                <a:ea typeface="Comfortaa"/>
                <a:cs typeface="Comfortaa"/>
                <a:sym typeface="Comfortaa"/>
              </a:rPr>
              <a:t>2. </a:t>
            </a:r>
            <a:r>
              <a:rPr lang="es-CL" sz="2100" b="1" i="0" u="none" strike="noStrike" cap="none">
                <a:solidFill>
                  <a:srgbClr val="FFFFFF"/>
                </a:solidFill>
                <a:highlight>
                  <a:srgbClr val="5C5DD4"/>
                </a:highlight>
                <a:latin typeface="Comfortaa"/>
                <a:ea typeface="Comfortaa"/>
                <a:cs typeface="Comfortaa"/>
                <a:sym typeface="Comfortaa"/>
              </a:rPr>
              <a:t>LIENZO DE INVESTIGACIÓN DE REFERENTES</a:t>
            </a:r>
            <a:endParaRPr sz="1200" b="1" i="0" u="none" strike="noStrike" cap="none">
              <a:solidFill>
                <a:srgbClr val="FF0000"/>
              </a:solidFill>
              <a:highlight>
                <a:srgbClr val="5C5DD4"/>
              </a:highlight>
              <a:latin typeface="Comfortaa"/>
              <a:ea typeface="Comfortaa"/>
              <a:cs typeface="Comfortaa"/>
              <a:sym typeface="Comfortaa"/>
            </a:endParaRPr>
          </a:p>
        </p:txBody>
      </p:sp>
      <p:graphicFrame>
        <p:nvGraphicFramePr>
          <p:cNvPr id="172" name="Google Shape;172;g3f6d87f1187_0_298"/>
          <p:cNvGraphicFramePr/>
          <p:nvPr/>
        </p:nvGraphicFramePr>
        <p:xfrm>
          <a:off x="450143" y="1403195"/>
          <a:ext cx="8332700" cy="3899150"/>
        </p:xfrm>
        <a:graphic>
          <a:graphicData uri="http://schemas.openxmlformats.org/drawingml/2006/table">
            <a:tbl>
              <a:tblPr>
                <a:noFill/>
                <a:tableStyleId>{43D06EDE-987B-4894-A242-B41088D9BEBC}</a:tableStyleId>
              </a:tblPr>
              <a:tblGrid>
                <a:gridCol w="1537525">
                  <a:extLst>
                    <a:ext uri="{9D8B030D-6E8A-4147-A177-3AD203B41FA5}">
                      <a16:colId xmlns:a16="http://schemas.microsoft.com/office/drawing/2014/main" val="20000"/>
                    </a:ext>
                  </a:extLst>
                </a:gridCol>
                <a:gridCol w="1731925">
                  <a:extLst>
                    <a:ext uri="{9D8B030D-6E8A-4147-A177-3AD203B41FA5}">
                      <a16:colId xmlns:a16="http://schemas.microsoft.com/office/drawing/2014/main" val="20001"/>
                    </a:ext>
                  </a:extLst>
                </a:gridCol>
                <a:gridCol w="1731925">
                  <a:extLst>
                    <a:ext uri="{9D8B030D-6E8A-4147-A177-3AD203B41FA5}">
                      <a16:colId xmlns:a16="http://schemas.microsoft.com/office/drawing/2014/main" val="20002"/>
                    </a:ext>
                  </a:extLst>
                </a:gridCol>
                <a:gridCol w="1687775">
                  <a:extLst>
                    <a:ext uri="{9D8B030D-6E8A-4147-A177-3AD203B41FA5}">
                      <a16:colId xmlns:a16="http://schemas.microsoft.com/office/drawing/2014/main" val="20003"/>
                    </a:ext>
                  </a:extLst>
                </a:gridCol>
                <a:gridCol w="1643550">
                  <a:extLst>
                    <a:ext uri="{9D8B030D-6E8A-4147-A177-3AD203B41FA5}">
                      <a16:colId xmlns:a16="http://schemas.microsoft.com/office/drawing/2014/main" val="20004"/>
                    </a:ext>
                  </a:extLst>
                </a:gridCol>
              </a:tblGrid>
              <a:tr h="5915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Información de interés</a:t>
                      </a:r>
                      <a:endParaRPr sz="1300" u="none"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None/>
                      </a:pPr>
                      <a:r>
                        <a:rPr lang="es-CL" sz="900" i="1" u="sng">
                          <a:solidFill>
                            <a:schemeClr val="hlink"/>
                          </a:solidFill>
                          <a:latin typeface="Cabin"/>
                          <a:ea typeface="Cabin"/>
                          <a:cs typeface="Cabin"/>
                          <a:sym typeface="Cabin"/>
                          <a:hlinkClick r:id="rId3"/>
                        </a:rPr>
                        <a:t>https://www.strava.com/?hl=es-ES</a:t>
                      </a:r>
                      <a:r>
                        <a:rPr lang="es-CL" sz="900" i="1">
                          <a:latin typeface="Cabin"/>
                          <a:ea typeface="Cabin"/>
                          <a:cs typeface="Cabin"/>
                          <a:sym typeface="Cabin"/>
                        </a:rPr>
                        <a:t> </a:t>
                      </a:r>
                      <a:endParaRPr sz="900" i="1"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s-CL" sz="900" i="1" u="sng" strike="noStrike" cap="none">
                          <a:solidFill>
                            <a:schemeClr val="hlink"/>
                          </a:solidFill>
                          <a:latin typeface="Cabin"/>
                          <a:ea typeface="Cabin"/>
                          <a:cs typeface="Cabin"/>
                          <a:sym typeface="Cabin"/>
                          <a:hlinkClick r:id="rId4"/>
                        </a:rPr>
                        <a:t>https://www.hipcamp.com/en-US</a:t>
                      </a:r>
                      <a:endParaRPr sz="900" i="1" u="none" strike="noStrike" cap="none">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CL" sz="1000" u="sng" strike="noStrike" cap="none">
                          <a:solidFill>
                            <a:schemeClr val="hlink"/>
                          </a:solidFill>
                          <a:hlinkClick r:id="rId5"/>
                        </a:rPr>
                        <a:t>Cairn | The Hiking Safety App - Apps on Google Play</a:t>
                      </a:r>
                      <a:endParaRPr sz="10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00"/>
                        <a:buFont typeface="Arial"/>
                        <a:buNone/>
                      </a:pPr>
                      <a:r>
                        <a:rPr lang="es-CL" sz="1000" i="1" u="sng" strike="noStrike" cap="none">
                          <a:solidFill>
                            <a:schemeClr val="hlink"/>
                          </a:solidFill>
                          <a:latin typeface="Cabin"/>
                          <a:ea typeface="Cabin"/>
                          <a:cs typeface="Cabin"/>
                          <a:sym typeface="Cabin"/>
                          <a:hlinkClick r:id="rId6"/>
                        </a:rPr>
                        <a:t>https://www.alltrails.com/es</a:t>
                      </a:r>
                      <a:endParaRPr sz="10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3076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chemeClr val="dk1"/>
                          </a:solidFill>
                          <a:latin typeface="Cabin"/>
                          <a:ea typeface="Cabin"/>
                          <a:cs typeface="Cabin"/>
                          <a:sym typeface="Cabin"/>
                        </a:rPr>
                        <a:t>Conclusiones</a:t>
                      </a:r>
                      <a:endParaRPr sz="11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r>
                        <a:rPr lang="es-CL" sz="900" u="none" strike="noStrike" cap="none">
                          <a:solidFill>
                            <a:schemeClr val="dk1"/>
                          </a:solidFill>
                          <a:latin typeface="Cabin"/>
                          <a:ea typeface="Cabin"/>
                          <a:cs typeface="Cabin"/>
                          <a:sym typeface="Cabin"/>
                        </a:rPr>
                        <a:t>puede considerarse una innovación. </a:t>
                      </a:r>
                      <a:endParaRPr sz="900"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r>
                        <a:rPr lang="es-CL" sz="900" u="none" strike="noStrike" cap="none">
                          <a:solidFill>
                            <a:schemeClr val="dk1"/>
                          </a:solidFill>
                          <a:latin typeface="Cabin"/>
                          <a:ea typeface="Cabin"/>
                          <a:cs typeface="Cabin"/>
                          <a:sym typeface="Cabin"/>
                        </a:rPr>
                        <a:t>Fundament</a:t>
                      </a:r>
                      <a:r>
                        <a:rPr lang="es-CL" sz="900">
                          <a:solidFill>
                            <a:schemeClr val="dk1"/>
                          </a:solidFill>
                          <a:latin typeface="Cabin"/>
                          <a:ea typeface="Cabin"/>
                          <a:cs typeface="Cabin"/>
                          <a:sym typeface="Cabin"/>
                        </a:rPr>
                        <a:t>os, </a:t>
                      </a:r>
                      <a:r>
                        <a:rPr lang="es-CL" sz="900" u="none" strike="noStrike" cap="none">
                          <a:solidFill>
                            <a:schemeClr val="dk1"/>
                          </a:solidFill>
                          <a:latin typeface="Cabin"/>
                          <a:ea typeface="Cabin"/>
                          <a:cs typeface="Cabin"/>
                          <a:sym typeface="Cabin"/>
                        </a:rPr>
                        <a:t>considerando qué problema resuelve</a:t>
                      </a:r>
                      <a:r>
                        <a:rPr lang="es-CL" sz="900">
                          <a:solidFill>
                            <a:schemeClr val="dk1"/>
                          </a:solidFill>
                          <a:latin typeface="Cabin"/>
                          <a:ea typeface="Cabin"/>
                          <a:cs typeface="Cabin"/>
                          <a:sym typeface="Cabin"/>
                        </a:rPr>
                        <a:t>.</a:t>
                      </a:r>
                      <a:r>
                        <a:rPr lang="es-CL" sz="900" u="none" strike="noStrike" cap="none">
                          <a:solidFill>
                            <a:schemeClr val="dk1"/>
                          </a:solidFill>
                          <a:latin typeface="Cabin"/>
                          <a:ea typeface="Cabin"/>
                          <a:cs typeface="Cabin"/>
                          <a:sym typeface="Cabin"/>
                        </a:rPr>
                        <a:t> </a:t>
                      </a:r>
                      <a:endParaRPr sz="900"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900">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r>
                        <a:rPr lang="es-CL" sz="900" b="1">
                          <a:solidFill>
                            <a:schemeClr val="dk1"/>
                          </a:solidFill>
                          <a:latin typeface="Cabin"/>
                          <a:ea typeface="Cabin"/>
                          <a:cs typeface="Cabin"/>
                          <a:sym typeface="Cabin"/>
                        </a:rPr>
                        <a:t>Con esto nos preguntamos: ¿Q</a:t>
                      </a:r>
                      <a:r>
                        <a:rPr lang="es-CL" sz="900" b="1" u="none" strike="noStrike" cap="none">
                          <a:solidFill>
                            <a:schemeClr val="dk1"/>
                          </a:solidFill>
                          <a:latin typeface="Cabin"/>
                          <a:ea typeface="Cabin"/>
                          <a:cs typeface="Cabin"/>
                          <a:sym typeface="Cabin"/>
                        </a:rPr>
                        <a:t>ué </a:t>
                      </a:r>
                      <a:r>
                        <a:rPr lang="es-CL" sz="900" b="1">
                          <a:solidFill>
                            <a:schemeClr val="dk1"/>
                          </a:solidFill>
                          <a:latin typeface="Cabin"/>
                          <a:ea typeface="Cabin"/>
                          <a:cs typeface="Cabin"/>
                          <a:sym typeface="Cabin"/>
                        </a:rPr>
                        <a:t>nos</a:t>
                      </a:r>
                      <a:r>
                        <a:rPr lang="es-CL" sz="900" b="1" u="none" strike="noStrike" cap="none">
                          <a:solidFill>
                            <a:schemeClr val="dk1"/>
                          </a:solidFill>
                          <a:latin typeface="Cabin"/>
                          <a:ea typeface="Cabin"/>
                          <a:cs typeface="Cabin"/>
                          <a:sym typeface="Cabin"/>
                        </a:rPr>
                        <a:t> hace diferente frente a lo existente y cuál es </a:t>
                      </a:r>
                      <a:r>
                        <a:rPr lang="es-CL" sz="900" b="1">
                          <a:solidFill>
                            <a:schemeClr val="dk1"/>
                          </a:solidFill>
                          <a:latin typeface="Cabin"/>
                          <a:ea typeface="Cabin"/>
                          <a:cs typeface="Cabin"/>
                          <a:sym typeface="Cabin"/>
                        </a:rPr>
                        <a:t>nuestro</a:t>
                      </a:r>
                      <a:r>
                        <a:rPr lang="es-CL" sz="900" b="1" u="none" strike="noStrike" cap="none">
                          <a:solidFill>
                            <a:schemeClr val="dk1"/>
                          </a:solidFill>
                          <a:latin typeface="Cabin"/>
                          <a:ea typeface="Cabin"/>
                          <a:cs typeface="Cabin"/>
                          <a:sym typeface="Cabin"/>
                        </a:rPr>
                        <a:t> aporte al desarrollo de </a:t>
                      </a:r>
                      <a:r>
                        <a:rPr lang="es-CL" sz="900" b="1">
                          <a:solidFill>
                            <a:schemeClr val="dk1"/>
                          </a:solidFill>
                          <a:latin typeface="Cabin"/>
                          <a:ea typeface="Cabin"/>
                          <a:cs typeface="Cabin"/>
                          <a:sym typeface="Cabin"/>
                        </a:rPr>
                        <a:t>nuestra</a:t>
                      </a:r>
                      <a:r>
                        <a:rPr lang="es-CL" sz="900" b="1" u="none" strike="noStrike" cap="none">
                          <a:solidFill>
                            <a:schemeClr val="dk1"/>
                          </a:solidFill>
                          <a:latin typeface="Cabin"/>
                          <a:ea typeface="Cabin"/>
                          <a:cs typeface="Cabin"/>
                          <a:sym typeface="Cabin"/>
                        </a:rPr>
                        <a:t> disciplina o carrera?</a:t>
                      </a:r>
                      <a:endParaRPr sz="9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lvl="0" indent="0" algn="ctr" rtl="0">
                        <a:spcBef>
                          <a:spcPts val="0"/>
                        </a:spcBef>
                        <a:spcAft>
                          <a:spcPts val="0"/>
                        </a:spcAft>
                        <a:buNone/>
                      </a:pPr>
                      <a:r>
                        <a:rPr lang="es-CL" sz="800">
                          <a:solidFill>
                            <a:schemeClr val="dk1"/>
                          </a:solidFill>
                        </a:rPr>
                        <a:t>(Apta en Chile)</a:t>
                      </a:r>
                      <a:endParaRPr sz="800">
                        <a:solidFill>
                          <a:schemeClr val="dk1"/>
                        </a:solidFill>
                      </a:endParaRPr>
                    </a:p>
                    <a:p>
                      <a:pPr marL="0" lvl="0" indent="0" algn="ctr" rtl="0">
                        <a:spcBef>
                          <a:spcPts val="0"/>
                        </a:spcBef>
                        <a:spcAft>
                          <a:spcPts val="0"/>
                        </a:spcAft>
                        <a:buClr>
                          <a:schemeClr val="dk1"/>
                        </a:buClr>
                        <a:buSzPts val="1300"/>
                        <a:buFont typeface="Arial"/>
                        <a:buNone/>
                      </a:pPr>
                      <a:endParaRPr sz="800">
                        <a:solidFill>
                          <a:schemeClr val="dk1"/>
                        </a:solidFill>
                      </a:endParaRPr>
                    </a:p>
                    <a:p>
                      <a:pPr marL="0" marR="0" lvl="0" indent="0" algn="ctr" rtl="0">
                        <a:lnSpc>
                          <a:spcPct val="100000"/>
                        </a:lnSpc>
                        <a:spcBef>
                          <a:spcPts val="0"/>
                        </a:spcBef>
                        <a:spcAft>
                          <a:spcPts val="0"/>
                        </a:spcAft>
                        <a:buNone/>
                      </a:pPr>
                      <a:r>
                        <a:rPr lang="es-CL" sz="800"/>
                        <a:t>Plataforma mundial de referencia para las personas que aman la actividad física.</a:t>
                      </a:r>
                      <a:endParaRPr sz="800"/>
                    </a:p>
                    <a:p>
                      <a:pPr marL="0" marR="0" lvl="0" indent="0" algn="ctr" rtl="0">
                        <a:lnSpc>
                          <a:spcPct val="100000"/>
                        </a:lnSpc>
                        <a:spcBef>
                          <a:spcPts val="0"/>
                        </a:spcBef>
                        <a:spcAft>
                          <a:spcPts val="0"/>
                        </a:spcAft>
                        <a:buNone/>
                      </a:pPr>
                      <a:r>
                        <a:rPr lang="es-CL" sz="800"/>
                        <a:t>Te ofrecemos 50 tipos de actividades con funciones que te ayudan a explorar, socializar y monitorizar tu progreso.</a:t>
                      </a:r>
                      <a:endParaRPr sz="800"/>
                    </a:p>
                    <a:p>
                      <a:pPr marL="0" marR="0" lvl="0" indent="0" algn="ctr" rtl="0">
                        <a:lnSpc>
                          <a:spcPct val="100000"/>
                        </a:lnSpc>
                        <a:spcBef>
                          <a:spcPts val="0"/>
                        </a:spcBef>
                        <a:spcAft>
                          <a:spcPts val="0"/>
                        </a:spcAft>
                        <a:buNone/>
                      </a:pPr>
                      <a:endParaRPr sz="800"/>
                    </a:p>
                    <a:p>
                      <a:pPr marL="0" marR="0" lvl="0" indent="0" algn="ctr" rtl="0">
                        <a:lnSpc>
                          <a:spcPct val="100000"/>
                        </a:lnSpc>
                        <a:spcBef>
                          <a:spcPts val="0"/>
                        </a:spcBef>
                        <a:spcAft>
                          <a:spcPts val="0"/>
                        </a:spcAft>
                        <a:buNone/>
                      </a:pPr>
                      <a:r>
                        <a:rPr lang="es-CL" sz="800"/>
                        <a:t>Nuestras mejores funciones</a:t>
                      </a:r>
                      <a:endParaRPr sz="800"/>
                    </a:p>
                    <a:p>
                      <a:pPr marL="0" marR="0" lvl="0" indent="0" algn="ctr" rtl="0">
                        <a:lnSpc>
                          <a:spcPct val="100000"/>
                        </a:lnSpc>
                        <a:spcBef>
                          <a:spcPts val="0"/>
                        </a:spcBef>
                        <a:spcAft>
                          <a:spcPts val="0"/>
                        </a:spcAft>
                        <a:buNone/>
                      </a:pPr>
                      <a:r>
                        <a:rPr lang="es-CL" sz="800"/>
                        <a:t>Define objetivos, monitoriza tu progreso y conecta con otros deportistas. Hazte con un puesto en las tablas de clasificación, descubre rutas cercanas, etc.</a:t>
                      </a:r>
                      <a:endParaRPr sz="800"/>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s-CL" sz="800"/>
                        <a:t>(Funcion Internacional)</a:t>
                      </a:r>
                      <a:endParaRPr sz="800"/>
                    </a:p>
                    <a:p>
                      <a:pPr marL="0" marR="0" lvl="0" indent="0" algn="ctr" rtl="0">
                        <a:lnSpc>
                          <a:spcPct val="100000"/>
                        </a:lnSpc>
                        <a:spcBef>
                          <a:spcPts val="0"/>
                        </a:spcBef>
                        <a:spcAft>
                          <a:spcPts val="0"/>
                        </a:spcAft>
                        <a:buClr>
                          <a:srgbClr val="000000"/>
                        </a:buClr>
                        <a:buSzPts val="1300"/>
                        <a:buFont typeface="Arial"/>
                        <a:buNone/>
                      </a:pPr>
                      <a:br>
                        <a:rPr lang="es-CL" sz="800"/>
                      </a:br>
                      <a:r>
                        <a:rPr lang="es-CL" sz="800" u="none" strike="noStrike" cap="none"/>
                        <a:t>Hipcamp: - plataforma global para reservar y organizar experiencias de camping, el tipo de negocio se enfoca en marketplace digital de turismos al aire libre. la innovación de plataformas como Hipcamp no muestra una manera de digitalizar la forma tradicional de acampar, integrando reservas online, reseñas de los usuarios, geolocalización y acceso a terrenos privados de manera segura</a:t>
                      </a:r>
                      <a:r>
                        <a:rPr lang="es-CL" sz="800"/>
                        <a:t>.</a:t>
                      </a:r>
                      <a:endParaRPr sz="800" u="none" strike="noStrike" cap="none"/>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ctr" rtl="0">
                        <a:lnSpc>
                          <a:spcPct val="100000"/>
                        </a:lnSpc>
                        <a:spcBef>
                          <a:spcPts val="0"/>
                        </a:spcBef>
                        <a:spcAft>
                          <a:spcPts val="0"/>
                        </a:spcAft>
                        <a:buClr>
                          <a:srgbClr val="000000"/>
                        </a:buClr>
                        <a:buSzPts val="1300"/>
                        <a:buFont typeface="Arial"/>
                        <a:buNone/>
                      </a:pPr>
                      <a:r>
                        <a:rPr lang="es-CL" sz="800"/>
                        <a:t>C</a:t>
                      </a:r>
                      <a:r>
                        <a:rPr lang="es-CL" sz="800" u="none" strike="noStrike" cap="none"/>
                        <a:t>on la ingenieria en informatica se </a:t>
                      </a:r>
                      <a:r>
                        <a:rPr lang="es-CL" sz="800"/>
                        <a:t>podría</a:t>
                      </a:r>
                      <a:r>
                        <a:rPr lang="es-CL" sz="800" u="none" strike="noStrike" cap="none"/>
                        <a:t> desarrollar soluciones similares, ofreciendo a usuarios comunes experiencias con la naturaleza, potenciando el turismo local como la economía rural mediante la tecnología.</a:t>
                      </a:r>
                      <a:endParaRPr sz="800" u="none" strike="noStrike" cap="none"/>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300"/>
                        <a:buFont typeface="Arial"/>
                        <a:buNone/>
                      </a:pPr>
                      <a:r>
                        <a:rPr lang="es-CL" sz="800">
                          <a:solidFill>
                            <a:schemeClr val="dk1"/>
                          </a:solidFill>
                        </a:rPr>
                        <a:t>(Funcion Internacional)</a:t>
                      </a:r>
                      <a:endParaRPr sz="800">
                        <a:solidFill>
                          <a:schemeClr val="dk1"/>
                        </a:solidFill>
                      </a:endParaRPr>
                    </a:p>
                    <a:p>
                      <a:pPr marL="0" lvl="0" indent="0" algn="ctr" rtl="0">
                        <a:spcBef>
                          <a:spcPts val="0"/>
                        </a:spcBef>
                        <a:spcAft>
                          <a:spcPts val="0"/>
                        </a:spcAft>
                        <a:buClr>
                          <a:schemeClr val="dk1"/>
                        </a:buClr>
                        <a:buSzPts val="1300"/>
                        <a:buFont typeface="Arial"/>
                        <a:buNone/>
                      </a:pPr>
                      <a:endParaRPr sz="800">
                        <a:solidFill>
                          <a:schemeClr val="dk1"/>
                        </a:solidFill>
                      </a:endParaRPr>
                    </a:p>
                    <a:p>
                      <a:pPr marL="0" marR="0" lvl="0" indent="0" algn="ctr" rtl="0">
                        <a:lnSpc>
                          <a:spcPct val="100000"/>
                        </a:lnSpc>
                        <a:spcBef>
                          <a:spcPts val="0"/>
                        </a:spcBef>
                        <a:spcAft>
                          <a:spcPts val="0"/>
                        </a:spcAft>
                        <a:buClr>
                          <a:srgbClr val="000000"/>
                        </a:buClr>
                        <a:buSzPts val="1300"/>
                        <a:buFont typeface="Arial"/>
                        <a:buNone/>
                      </a:pPr>
                      <a:r>
                        <a:rPr lang="es-CL" sz="800" u="none" strike="noStrike" cap="none"/>
                        <a:t>Cairn es una app de senderismo que está diseñada para mejorar la seguridad y el seguimiento al aire libre durante caminatas y otras actividades al aire libre, resolviendo problemas de seguridad al combinar seguimiento en vivo, alertas automáticas y mapas sin conexión, como diferencia de otras apps de senderismo, integra funciones de emergencia con prevención de riesgos</a:t>
                      </a:r>
                      <a:r>
                        <a:rPr lang="es-CL" sz="800"/>
                        <a:t>.</a:t>
                      </a:r>
                      <a:endParaRPr sz="800"/>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ctr" rtl="0">
                        <a:lnSpc>
                          <a:spcPct val="100000"/>
                        </a:lnSpc>
                        <a:spcBef>
                          <a:spcPts val="0"/>
                        </a:spcBef>
                        <a:spcAft>
                          <a:spcPts val="0"/>
                        </a:spcAft>
                        <a:buClr>
                          <a:srgbClr val="000000"/>
                        </a:buClr>
                        <a:buSzPts val="1300"/>
                        <a:buFont typeface="Arial"/>
                        <a:buNone/>
                      </a:pPr>
                      <a:r>
                        <a:rPr lang="es-CL" sz="800"/>
                        <a:t>A</a:t>
                      </a:r>
                      <a:r>
                        <a:rPr lang="es-CL" sz="800" u="none" strike="noStrike" cap="none"/>
                        <a:t>porta como la tecnología puede ayudar a personas en problemas y asistir a la experiencia del usuario en entornos “extremos”.</a:t>
                      </a:r>
                      <a:endParaRPr sz="800" u="none" strike="noStrike" cap="none"/>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300"/>
                        <a:buFont typeface="Arial"/>
                        <a:buNone/>
                      </a:pPr>
                      <a:r>
                        <a:rPr lang="es-CL" sz="800">
                          <a:solidFill>
                            <a:schemeClr val="dk1"/>
                          </a:solidFill>
                        </a:rPr>
                        <a:t>(Funcion Internacional)</a:t>
                      </a:r>
                      <a:endParaRPr sz="800">
                        <a:solidFill>
                          <a:schemeClr val="dk1"/>
                        </a:solidFill>
                      </a:endParaRPr>
                    </a:p>
                    <a:p>
                      <a:pPr marL="0" lvl="0" indent="0" algn="ctr" rtl="0">
                        <a:spcBef>
                          <a:spcPts val="0"/>
                        </a:spcBef>
                        <a:spcAft>
                          <a:spcPts val="0"/>
                        </a:spcAft>
                        <a:buClr>
                          <a:schemeClr val="dk1"/>
                        </a:buClr>
                        <a:buSzPts val="1300"/>
                        <a:buFont typeface="Arial"/>
                        <a:buNone/>
                      </a:pPr>
                      <a:endParaRPr sz="800">
                        <a:solidFill>
                          <a:schemeClr val="dk1"/>
                        </a:solidFill>
                      </a:endParaRPr>
                    </a:p>
                    <a:p>
                      <a:pPr marL="0" marR="0" lvl="0" indent="0" algn="ctr" rtl="0">
                        <a:lnSpc>
                          <a:spcPct val="100000"/>
                        </a:lnSpc>
                        <a:spcBef>
                          <a:spcPts val="0"/>
                        </a:spcBef>
                        <a:spcAft>
                          <a:spcPts val="0"/>
                        </a:spcAft>
                        <a:buClr>
                          <a:srgbClr val="000000"/>
                        </a:buClr>
                        <a:buSzPts val="1300"/>
                        <a:buFont typeface="Arial"/>
                        <a:buNone/>
                      </a:pPr>
                      <a:r>
                        <a:rPr lang="es-CL" sz="800" u="none" strike="noStrike" cap="none"/>
                        <a:t>AllTrails es una página web de trekking que resuelve problemas comunes como la desorganización, falta de información viable y confiable, dificultad de coordinar con amigos o conocidos, en la cual aporta y ofrece mapas precisos, rutas validadas y algunas opciones de planificación colaborativa.</a:t>
                      </a:r>
                      <a:endParaRPr sz="800" u="none" strike="noStrike" cap="none"/>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ctr" rtl="0">
                        <a:lnSpc>
                          <a:spcPct val="100000"/>
                        </a:lnSpc>
                        <a:spcBef>
                          <a:spcPts val="0"/>
                        </a:spcBef>
                        <a:spcAft>
                          <a:spcPts val="0"/>
                        </a:spcAft>
                        <a:buClr>
                          <a:srgbClr val="000000"/>
                        </a:buClr>
                        <a:buSzPts val="1300"/>
                        <a:buFont typeface="Arial"/>
                        <a:buNone/>
                      </a:pPr>
                      <a:endParaRPr sz="800"/>
                    </a:p>
                    <a:p>
                      <a:pPr marL="0" marR="0" lvl="0" indent="0" algn="l" rtl="0">
                        <a:lnSpc>
                          <a:spcPct val="100000"/>
                        </a:lnSpc>
                        <a:spcBef>
                          <a:spcPts val="0"/>
                        </a:spcBef>
                        <a:spcAft>
                          <a:spcPts val="0"/>
                        </a:spcAft>
                        <a:buClr>
                          <a:srgbClr val="000000"/>
                        </a:buClr>
                        <a:buSzPts val="1300"/>
                        <a:buFont typeface="Arial"/>
                        <a:buNone/>
                      </a:pPr>
                      <a:r>
                        <a:rPr lang="es-CL" sz="800" u="none" strike="noStrike" cap="none"/>
                        <a:t>Esto motiva a las personas que quieren iniciarse en salidas de trekking, facilitando las experiencias más aseguradas y viables.</a:t>
                      </a:r>
                      <a:endParaRPr sz="1300" u="none" strike="noStrike" cap="none"/>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aphicFrame>
        <p:nvGraphicFramePr>
          <p:cNvPr id="178" name="Google Shape;178;g3f6d87f1187_0_306"/>
          <p:cNvGraphicFramePr/>
          <p:nvPr/>
        </p:nvGraphicFramePr>
        <p:xfrm>
          <a:off x="164142" y="652637"/>
          <a:ext cx="8905875" cy="5960160"/>
        </p:xfrm>
        <a:graphic>
          <a:graphicData uri="http://schemas.openxmlformats.org/drawingml/2006/table">
            <a:tbl>
              <a:tblPr>
                <a:noFill/>
                <a:tableStyleId>{43D06EDE-987B-4894-A242-B41088D9BEBC}</a:tableStyleId>
              </a:tblPr>
              <a:tblGrid>
                <a:gridCol w="3191450">
                  <a:extLst>
                    <a:ext uri="{9D8B030D-6E8A-4147-A177-3AD203B41FA5}">
                      <a16:colId xmlns:a16="http://schemas.microsoft.com/office/drawing/2014/main" val="20000"/>
                    </a:ext>
                  </a:extLst>
                </a:gridCol>
                <a:gridCol w="5714425">
                  <a:extLst>
                    <a:ext uri="{9D8B030D-6E8A-4147-A177-3AD203B41FA5}">
                      <a16:colId xmlns:a16="http://schemas.microsoft.com/office/drawing/2014/main" val="20001"/>
                    </a:ext>
                  </a:extLst>
                </a:gridCol>
              </a:tblGrid>
              <a:tr h="612950">
                <a:tc>
                  <a:txBody>
                    <a:bodyPr/>
                    <a:lstStyle/>
                    <a:p>
                      <a:pPr marL="0" marR="0" lvl="0" indent="0" algn="l" rtl="0">
                        <a:lnSpc>
                          <a:spcPct val="100000"/>
                        </a:lnSpc>
                        <a:spcBef>
                          <a:spcPts val="0"/>
                        </a:spcBef>
                        <a:spcAft>
                          <a:spcPts val="0"/>
                        </a:spcAft>
                        <a:buClr>
                          <a:srgbClr val="000000"/>
                        </a:buClr>
                        <a:buSzPts val="1000"/>
                        <a:buFont typeface="Arial"/>
                        <a:buNone/>
                      </a:pPr>
                      <a:r>
                        <a:rPr lang="es-CL" sz="800" b="1" u="none" strike="noStrike" cap="none">
                          <a:solidFill>
                            <a:schemeClr val="dk1"/>
                          </a:solidFill>
                          <a:latin typeface="Cabin"/>
                          <a:ea typeface="Cabin"/>
                          <a:cs typeface="Cabin"/>
                          <a:sym typeface="Cabin"/>
                        </a:rPr>
                        <a:t>Indica cuál es el área productiva (Industria/Sector) al cual se enfocarán: </a:t>
                      </a:r>
                      <a:r>
                        <a:rPr lang="es-CL" sz="800" u="none" strike="noStrike" cap="none">
                          <a:solidFill>
                            <a:schemeClr val="dk1"/>
                          </a:solidFill>
                          <a:latin typeface="Cabin"/>
                          <a:ea typeface="Cabin"/>
                          <a:cs typeface="Cabin"/>
                          <a:sym typeface="Cabin"/>
                        </a:rPr>
                        <a:t>¿Qué características tiene ese sector? ¿Quiénes son </a:t>
                      </a:r>
                      <a:r>
                        <a:rPr lang="es-CL" sz="800">
                          <a:solidFill>
                            <a:schemeClr val="dk1"/>
                          </a:solidFill>
                          <a:latin typeface="Cabin"/>
                          <a:ea typeface="Cabin"/>
                          <a:cs typeface="Cabin"/>
                          <a:sym typeface="Cabin"/>
                        </a:rPr>
                        <a:t>los</a:t>
                      </a:r>
                      <a:r>
                        <a:rPr lang="es-CL" sz="800" u="none" strike="noStrike" cap="none">
                          <a:solidFill>
                            <a:schemeClr val="dk1"/>
                          </a:solidFill>
                          <a:latin typeface="Cabin"/>
                          <a:ea typeface="Cabin"/>
                          <a:cs typeface="Cabin"/>
                          <a:sym typeface="Cabin"/>
                        </a:rPr>
                        <a:t> actores principales? ¿Qué productos o servicios se ofrecen comúnmente? ¿Está en crecimiento, estancado o en transformación?</a:t>
                      </a:r>
                      <a:endParaRPr sz="8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800" u="none" strike="noStrike" cap="none">
                          <a:latin typeface="Cabin"/>
                          <a:ea typeface="Cabin"/>
                          <a:cs typeface="Cabin"/>
                          <a:sym typeface="Cabin"/>
                        </a:rPr>
                        <a:t>Sector de turismo aventura y/o actividades al aire libre. los actores principales serían </a:t>
                      </a:r>
                      <a:r>
                        <a:rPr lang="es-CL" sz="800">
                          <a:latin typeface="Cabin"/>
                          <a:ea typeface="Cabin"/>
                          <a:cs typeface="Cabin"/>
                          <a:sym typeface="Cabin"/>
                        </a:rPr>
                        <a:t>personas mayor de edad con interés en el trekking</a:t>
                      </a:r>
                      <a:r>
                        <a:rPr lang="es-CL" sz="800" u="none" strike="noStrike" cap="none">
                          <a:latin typeface="Cabin"/>
                          <a:ea typeface="Cabin"/>
                          <a:cs typeface="Cabin"/>
                          <a:sym typeface="Cabin"/>
                        </a:rPr>
                        <a:t>, plataformas digitales, mapas digitales, GPS, alertas de emergencia, rutas de los senderos, </a:t>
                      </a:r>
                      <a:r>
                        <a:rPr lang="es-CL" sz="800" strike="noStrike" cap="none">
                          <a:highlight>
                            <a:srgbClr val="00FFFF"/>
                          </a:highlight>
                          <a:latin typeface="Cabin"/>
                          <a:ea typeface="Cabin"/>
                          <a:cs typeface="Cabin"/>
                          <a:sym typeface="Cabin"/>
                        </a:rPr>
                        <a:t>comentarios de usuarios </a:t>
                      </a:r>
                      <a:r>
                        <a:rPr lang="es-CL" sz="800">
                          <a:solidFill>
                            <a:schemeClr val="dk1"/>
                          </a:solidFill>
                          <a:highlight>
                            <a:srgbClr val="00FFFF"/>
                          </a:highlight>
                          <a:latin typeface="Cabin"/>
                          <a:ea typeface="Cabin"/>
                          <a:cs typeface="Cabin"/>
                          <a:sym typeface="Cabin"/>
                        </a:rPr>
                        <a:t>(Aún no implementada)</a:t>
                      </a:r>
                      <a:r>
                        <a:rPr lang="es-CL" sz="800" u="none" strike="noStrike" cap="none">
                          <a:latin typeface="Cabin"/>
                          <a:ea typeface="Cabin"/>
                          <a:cs typeface="Cabin"/>
                          <a:sym typeface="Cabin"/>
                        </a:rPr>
                        <a:t>, </a:t>
                      </a:r>
                      <a:r>
                        <a:rPr lang="es-CL" sz="800">
                          <a:latin typeface="Cabin"/>
                          <a:ea typeface="Cabin"/>
                          <a:cs typeface="Cabin"/>
                          <a:sym typeface="Cabin"/>
                        </a:rPr>
                        <a:t>registró</a:t>
                      </a:r>
                      <a:r>
                        <a:rPr lang="es-CL" sz="800" u="none" strike="noStrike" cap="none">
                          <a:latin typeface="Cabin"/>
                          <a:ea typeface="Cabin"/>
                          <a:cs typeface="Cabin"/>
                          <a:sym typeface="Cabin"/>
                        </a:rPr>
                        <a:t> en la aplicación</a:t>
                      </a:r>
                      <a:r>
                        <a:rPr lang="es-CL" sz="800">
                          <a:latin typeface="Cabin"/>
                          <a:ea typeface="Cabin"/>
                          <a:cs typeface="Cabin"/>
                          <a:sym typeface="Cabin"/>
                        </a:rPr>
                        <a:t>.</a:t>
                      </a:r>
                      <a:br>
                        <a:rPr lang="es-CL" sz="800">
                          <a:latin typeface="Cabin"/>
                          <a:ea typeface="Cabin"/>
                          <a:cs typeface="Cabin"/>
                          <a:sym typeface="Cabin"/>
                        </a:rPr>
                      </a:br>
                      <a:r>
                        <a:rPr lang="es-CL" sz="800">
                          <a:latin typeface="Cabin"/>
                          <a:ea typeface="Cabin"/>
                          <a:cs typeface="Cabin"/>
                          <a:sym typeface="Cabin"/>
                        </a:rPr>
                        <a:t>E</a:t>
                      </a:r>
                      <a:r>
                        <a:rPr lang="es-CL" sz="800" u="none" strike="noStrike" cap="none">
                          <a:latin typeface="Cabin"/>
                          <a:ea typeface="Cabin"/>
                          <a:cs typeface="Cabin"/>
                          <a:sym typeface="Cabin"/>
                        </a:rPr>
                        <a:t>l sector actualmente está en crecimiento y transformación para la digitalización y más seguridad en las actividades al aire libre.  </a:t>
                      </a:r>
                      <a:r>
                        <a:rPr lang="es-CL" sz="800" u="sng" strike="noStrike" cap="none">
                          <a:solidFill>
                            <a:schemeClr val="hlink"/>
                          </a:solidFill>
                          <a:latin typeface="Cabin"/>
                          <a:ea typeface="Cabin"/>
                          <a:cs typeface="Cabin"/>
                          <a:sym typeface="Cabin"/>
                          <a:hlinkClick r:id="rId3"/>
                        </a:rPr>
                        <a:t>Instituto nacional de normalizacion</a:t>
                      </a:r>
                      <a:r>
                        <a:rPr lang="es-CL" sz="800" u="none" strike="noStrike" cap="none">
                          <a:latin typeface="Cabin"/>
                          <a:ea typeface="Cabin"/>
                          <a:cs typeface="Cabin"/>
                          <a:sym typeface="Cabin"/>
                        </a:rPr>
                        <a:t>.</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74450">
                <a:tc>
                  <a:txBody>
                    <a:bodyPr/>
                    <a:lstStyle/>
                    <a:p>
                      <a:pPr marL="0" marR="0" lvl="0" indent="0" algn="l" rtl="0">
                        <a:lnSpc>
                          <a:spcPct val="100000"/>
                        </a:lnSpc>
                        <a:spcBef>
                          <a:spcPts val="0"/>
                        </a:spcBef>
                        <a:spcAft>
                          <a:spcPts val="0"/>
                        </a:spcAft>
                        <a:buClr>
                          <a:schemeClr val="dk1"/>
                        </a:buClr>
                        <a:buSzPts val="1000"/>
                        <a:buFont typeface="Arial"/>
                        <a:buNone/>
                      </a:pPr>
                      <a:r>
                        <a:rPr lang="es-CL" sz="800" b="1" u="none" strike="noStrike" cap="none">
                          <a:solidFill>
                            <a:schemeClr val="dk1"/>
                          </a:solidFill>
                          <a:latin typeface="Cabin"/>
                          <a:ea typeface="Cabin"/>
                          <a:cs typeface="Cabin"/>
                          <a:sym typeface="Cabin"/>
                        </a:rPr>
                        <a:t>Necesidades de los Usuarios o Clientes: </a:t>
                      </a:r>
                      <a:r>
                        <a:rPr lang="es-CL" sz="800" u="none" strike="noStrike" cap="none">
                          <a:solidFill>
                            <a:schemeClr val="dk1"/>
                          </a:solidFill>
                          <a:latin typeface="Cabin"/>
                          <a:ea typeface="Cabin"/>
                          <a:cs typeface="Cabin"/>
                          <a:sym typeface="Cabin"/>
                        </a:rPr>
                        <a:t>¿Qué problemas, deseos o expectativas tienen las personas que usarán </a:t>
                      </a:r>
                      <a:r>
                        <a:rPr lang="es-CL" sz="800">
                          <a:solidFill>
                            <a:schemeClr val="dk1"/>
                          </a:solidFill>
                          <a:latin typeface="Cabin"/>
                          <a:ea typeface="Cabin"/>
                          <a:cs typeface="Cabin"/>
                          <a:sym typeface="Cabin"/>
                        </a:rPr>
                        <a:t>el</a:t>
                      </a:r>
                      <a:r>
                        <a:rPr lang="es-CL" sz="800" u="none" strike="noStrike" cap="none">
                          <a:solidFill>
                            <a:schemeClr val="dk1"/>
                          </a:solidFill>
                          <a:latin typeface="Cabin"/>
                          <a:ea typeface="Cabin"/>
                          <a:cs typeface="Cabin"/>
                          <a:sym typeface="Cabin"/>
                        </a:rPr>
                        <a:t> producto o servicio? ¿Qué les complica hoy? ¿Qué mejorarían? ¿Qué tipo de solución valoran más? ¿Qué esperan de una experiencia satisfactoria?</a:t>
                      </a:r>
                      <a:endParaRPr sz="800"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Los usuarios buscan realizar actividades al aire libre con seguridad, buena organización y accesibilidad. </a:t>
                      </a:r>
                      <a:r>
                        <a:rPr lang="es-CL" sz="800">
                          <a:latin typeface="Cabin"/>
                          <a:ea typeface="Cabin"/>
                          <a:cs typeface="Cabin"/>
                          <a:sym typeface="Cabin"/>
                        </a:rPr>
                        <a:t>L</a:t>
                      </a:r>
                      <a:r>
                        <a:rPr lang="es-CL" sz="800" u="none" strike="noStrike" cap="none">
                          <a:latin typeface="Cabin"/>
                          <a:ea typeface="Cabin"/>
                          <a:cs typeface="Cabin"/>
                          <a:sym typeface="Cabin"/>
                        </a:rPr>
                        <a:t>es complica coordinar rutas, falta de señal en zonas remotas, dificultad de encontrar mapas confiables y </a:t>
                      </a:r>
                      <a:r>
                        <a:rPr lang="es-CL" sz="800">
                          <a:latin typeface="Cabin"/>
                          <a:ea typeface="Cabin"/>
                          <a:cs typeface="Cabin"/>
                          <a:sym typeface="Cabin"/>
                        </a:rPr>
                        <a:t>crear</a:t>
                      </a:r>
                      <a:r>
                        <a:rPr lang="es-CL" sz="800" u="none" strike="noStrike" cap="none">
                          <a:latin typeface="Cabin"/>
                          <a:ea typeface="Cabin"/>
                          <a:cs typeface="Cabin"/>
                          <a:sym typeface="Cabin"/>
                        </a:rPr>
                        <a:t> rutas con amigos y conocidos. Las expectativas son contar con aplicaciones: con </a:t>
                      </a:r>
                      <a:r>
                        <a:rPr lang="es-CL" sz="800" u="none" strike="noStrike" cap="none">
                          <a:highlight>
                            <a:srgbClr val="00FFFF"/>
                          </a:highlight>
                          <a:latin typeface="Cabin"/>
                          <a:ea typeface="Cabin"/>
                          <a:cs typeface="Cabin"/>
                          <a:sym typeface="Cabin"/>
                        </a:rPr>
                        <a:t>funcion offline(</a:t>
                      </a:r>
                      <a:r>
                        <a:rPr lang="es-CL" sz="800">
                          <a:highlight>
                            <a:srgbClr val="00FFFF"/>
                          </a:highlight>
                          <a:latin typeface="Cabin"/>
                          <a:ea typeface="Cabin"/>
                          <a:cs typeface="Cabin"/>
                          <a:sym typeface="Cabin"/>
                        </a:rPr>
                        <a:t>Aún</a:t>
                      </a:r>
                      <a:r>
                        <a:rPr lang="es-CL" sz="800" u="none" strike="noStrike" cap="none">
                          <a:highlight>
                            <a:srgbClr val="00FFFF"/>
                          </a:highlight>
                          <a:latin typeface="Cabin"/>
                          <a:ea typeface="Cabin"/>
                          <a:cs typeface="Cabin"/>
                          <a:sym typeface="Cabin"/>
                        </a:rPr>
                        <a:t> no implementada)</a:t>
                      </a:r>
                      <a:r>
                        <a:rPr lang="es-CL" sz="800" u="none" strike="noStrike" cap="none">
                          <a:latin typeface="Cabin"/>
                          <a:ea typeface="Cabin"/>
                          <a:cs typeface="Cabin"/>
                          <a:sym typeface="Cabin"/>
                        </a:rPr>
                        <a:t>, que entreguen clima en tiempo real, rutas válidas </a:t>
                      </a:r>
                      <a:r>
                        <a:rPr lang="es-CL" sz="800" u="none" strike="noStrike" cap="none">
                          <a:highlight>
                            <a:srgbClr val="00FFFF"/>
                          </a:highlight>
                          <a:latin typeface="Cabin"/>
                          <a:ea typeface="Cabin"/>
                          <a:cs typeface="Cabin"/>
                          <a:sym typeface="Cabin"/>
                        </a:rPr>
                        <a:t>y recomendaciones de otros excursionistas </a:t>
                      </a:r>
                      <a:r>
                        <a:rPr lang="es-CL" sz="800">
                          <a:solidFill>
                            <a:schemeClr val="dk1"/>
                          </a:solidFill>
                          <a:highlight>
                            <a:srgbClr val="00FFFF"/>
                          </a:highlight>
                          <a:latin typeface="Cabin"/>
                          <a:ea typeface="Cabin"/>
                          <a:cs typeface="Cabin"/>
                          <a:sym typeface="Cabin"/>
                        </a:rPr>
                        <a:t>(Aún no implementada)</a:t>
                      </a:r>
                      <a:r>
                        <a:rPr lang="es-CL" sz="800" u="none" strike="noStrike" cap="none">
                          <a:latin typeface="Cabin"/>
                          <a:ea typeface="Cabin"/>
                          <a:cs typeface="Cabin"/>
                          <a:sym typeface="Cabin"/>
                        </a:rPr>
                        <a:t>. Valorar soluciones que combinen la tecnología con la comunidad, ya que se espera vivir en una experiencia </a:t>
                      </a:r>
                      <a:r>
                        <a:rPr lang="es-CL" sz="800">
                          <a:latin typeface="Cabin"/>
                          <a:ea typeface="Cabin"/>
                          <a:cs typeface="Cabin"/>
                          <a:sym typeface="Cabin"/>
                        </a:rPr>
                        <a:t>al aire libre</a:t>
                      </a:r>
                      <a:r>
                        <a:rPr lang="es-CL" sz="800" u="none" strike="noStrike" cap="none">
                          <a:latin typeface="Cabin"/>
                          <a:ea typeface="Cabin"/>
                          <a:cs typeface="Cabin"/>
                          <a:sym typeface="Cabin"/>
                        </a:rPr>
                        <a:t> que sea segura, colaborativa y viable. </a:t>
                      </a:r>
                      <a:r>
                        <a:rPr lang="es-CL" sz="800" u="sng" strike="noStrike" cap="none">
                          <a:solidFill>
                            <a:schemeClr val="hlink"/>
                          </a:solidFill>
                          <a:latin typeface="Cabin"/>
                          <a:ea typeface="Cabin"/>
                          <a:cs typeface="Cabin"/>
                          <a:sym typeface="Cabin"/>
                          <a:hlinkClick r:id="rId4"/>
                        </a:rPr>
                        <a:t>Infobae</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5"/>
                        </a:rPr>
                        <a:t>Sernatur</a:t>
                      </a:r>
                      <a:r>
                        <a:rPr lang="es-CL" sz="800" u="none" strike="noStrike" cap="none">
                          <a:latin typeface="Cabin"/>
                          <a:ea typeface="Cabin"/>
                          <a:cs typeface="Cabin"/>
                          <a:sym typeface="Cabin"/>
                        </a:rPr>
                        <a:t>.</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55500">
                <a:tc>
                  <a:txBody>
                    <a:bodyPr/>
                    <a:lstStyle/>
                    <a:p>
                      <a:pPr marL="0" marR="0" lvl="0" indent="0" algn="l" rtl="0">
                        <a:lnSpc>
                          <a:spcPct val="100000"/>
                        </a:lnSpc>
                        <a:spcBef>
                          <a:spcPts val="0"/>
                        </a:spcBef>
                        <a:spcAft>
                          <a:spcPts val="0"/>
                        </a:spcAft>
                        <a:buClr>
                          <a:schemeClr val="dk1"/>
                        </a:buClr>
                        <a:buSzPts val="1000"/>
                        <a:buFont typeface="Arial"/>
                        <a:buNone/>
                      </a:pPr>
                      <a:r>
                        <a:rPr lang="es-CL" sz="800" b="1" u="none" strike="noStrike" cap="none">
                          <a:solidFill>
                            <a:schemeClr val="dk1"/>
                          </a:solidFill>
                          <a:latin typeface="Cabin"/>
                          <a:ea typeface="Cabin"/>
                          <a:cs typeface="Cabin"/>
                          <a:sym typeface="Cabin"/>
                        </a:rPr>
                        <a:t>Entorno Económico y del Contexto General: </a:t>
                      </a:r>
                      <a:r>
                        <a:rPr lang="es-CL" sz="800" u="none" strike="noStrike" cap="none">
                          <a:solidFill>
                            <a:schemeClr val="dk1"/>
                          </a:solidFill>
                          <a:latin typeface="Cabin"/>
                          <a:ea typeface="Cabin"/>
                          <a:cs typeface="Cabin"/>
                          <a:sym typeface="Cabin"/>
                        </a:rPr>
                        <a:t>¿Qué factores del entorno podrían afectar positiva o negativamente </a:t>
                      </a:r>
                      <a:r>
                        <a:rPr lang="es-CL" sz="800">
                          <a:solidFill>
                            <a:schemeClr val="dk1"/>
                          </a:solidFill>
                          <a:latin typeface="Cabin"/>
                          <a:ea typeface="Cabin"/>
                          <a:cs typeface="Cabin"/>
                          <a:sym typeface="Cabin"/>
                        </a:rPr>
                        <a:t>el</a:t>
                      </a:r>
                      <a:r>
                        <a:rPr lang="es-CL" sz="800" u="none" strike="noStrike" cap="none">
                          <a:solidFill>
                            <a:schemeClr val="dk1"/>
                          </a:solidFill>
                          <a:latin typeface="Cabin"/>
                          <a:ea typeface="Cabin"/>
                          <a:cs typeface="Cabin"/>
                          <a:sym typeface="Cabin"/>
                        </a:rPr>
                        <a:t> proyecto? ¿Cómo está la economía del país o región? ¿Hay inflación, crisis, oportunidades de crecimiento, acceso a fondos? ¿El entorno es estable o incierto?</a:t>
                      </a:r>
                      <a:endParaRPr sz="8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Factores positivos: Turismo es motor económico en Chile, auge del ecoturismo y acceso a fondos públicos/privados para innovar en turismo.</a:t>
                      </a:r>
                      <a:endParaRPr sz="8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Factores negativos: inflación y menor poder adquisitivo podría afectar gastos en ocio, dependencia de la estabilidad política y social, crisis climáticas(incendios, sequías) que limitan zonas de trekking.</a:t>
                      </a:r>
                      <a:endParaRPr sz="8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Entorno mixto: incierto en lo macroeconómico, pero con oportunidades claras en innovación digital y turismo sustentable </a:t>
                      </a:r>
                      <a:r>
                        <a:rPr lang="es-CL" sz="800" u="sng" strike="noStrike" cap="none">
                          <a:solidFill>
                            <a:schemeClr val="hlink"/>
                          </a:solidFill>
                          <a:latin typeface="Cabin"/>
                          <a:ea typeface="Cabin"/>
                          <a:cs typeface="Cabin"/>
                          <a:sym typeface="Cabin"/>
                          <a:hlinkClick r:id="rId6"/>
                        </a:rPr>
                        <a:t>kaptiro</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3875">
                <a:tc>
                  <a:txBody>
                    <a:bodyPr/>
                    <a:lstStyle/>
                    <a:p>
                      <a:pPr marL="0" marR="0" lvl="0" indent="0" algn="l" rtl="0">
                        <a:lnSpc>
                          <a:spcPct val="100000"/>
                        </a:lnSpc>
                        <a:spcBef>
                          <a:spcPts val="0"/>
                        </a:spcBef>
                        <a:spcAft>
                          <a:spcPts val="0"/>
                        </a:spcAft>
                        <a:buClr>
                          <a:schemeClr val="dk1"/>
                        </a:buClr>
                        <a:buSzPts val="1000"/>
                        <a:buFont typeface="Arial"/>
                        <a:buNone/>
                      </a:pPr>
                      <a:r>
                        <a:rPr lang="es-CL" sz="800" b="1" u="none" strike="noStrike" cap="none">
                          <a:solidFill>
                            <a:schemeClr val="dk1"/>
                          </a:solidFill>
                          <a:latin typeface="Cabin"/>
                          <a:ea typeface="Cabin"/>
                          <a:cs typeface="Cabin"/>
                          <a:sym typeface="Cabin"/>
                        </a:rPr>
                        <a:t>Factores Sociales y Culturales: </a:t>
                      </a:r>
                      <a:r>
                        <a:rPr lang="es-CL" sz="800" u="none" strike="noStrike" cap="none">
                          <a:solidFill>
                            <a:schemeClr val="dk1"/>
                          </a:solidFill>
                          <a:latin typeface="Cabin"/>
                          <a:ea typeface="Cabin"/>
                          <a:cs typeface="Cabin"/>
                          <a:sym typeface="Cabin"/>
                        </a:rPr>
                        <a:t>¿Qué costumbres, valores o creencias de las personas podrían influir en </a:t>
                      </a:r>
                      <a:r>
                        <a:rPr lang="es-CL" sz="800">
                          <a:solidFill>
                            <a:schemeClr val="dk1"/>
                          </a:solidFill>
                          <a:latin typeface="Cabin"/>
                          <a:ea typeface="Cabin"/>
                          <a:cs typeface="Cabin"/>
                          <a:sym typeface="Cabin"/>
                        </a:rPr>
                        <a:t>la</a:t>
                      </a:r>
                      <a:r>
                        <a:rPr lang="es-CL" sz="800" u="none" strike="noStrike" cap="none">
                          <a:solidFill>
                            <a:schemeClr val="dk1"/>
                          </a:solidFill>
                          <a:latin typeface="Cabin"/>
                          <a:ea typeface="Cabin"/>
                          <a:cs typeface="Cabin"/>
                          <a:sym typeface="Cabin"/>
                        </a:rPr>
                        <a:t> propuesta? ¿Hay resistencias o barreras culturales? ¿Existen estilos de vida, hábitos de consumo o movimientos sociales que podrían favorecer o dificultar </a:t>
                      </a:r>
                      <a:r>
                        <a:rPr lang="es-CL" sz="800">
                          <a:solidFill>
                            <a:schemeClr val="dk1"/>
                          </a:solidFill>
                          <a:latin typeface="Cabin"/>
                          <a:ea typeface="Cabin"/>
                          <a:cs typeface="Cabin"/>
                          <a:sym typeface="Cabin"/>
                        </a:rPr>
                        <a:t>la</a:t>
                      </a:r>
                      <a:r>
                        <a:rPr lang="es-CL" sz="800" u="none" strike="noStrike" cap="none">
                          <a:solidFill>
                            <a:schemeClr val="dk1"/>
                          </a:solidFill>
                          <a:latin typeface="Cabin"/>
                          <a:ea typeface="Cabin"/>
                          <a:cs typeface="Cabin"/>
                          <a:sym typeface="Cabin"/>
                        </a:rPr>
                        <a:t> idea?</a:t>
                      </a:r>
                      <a:endParaRPr sz="8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En Chile, el turismo de naturaleza con trekking están profundamente conectados con valores de responsabilidad ambiental, respeto cultural y sensibilización local. Iniciativas como trekking rancagua han impulsado el senderismo inclusivo y consciente, enfocado en personas de cada región que desean acercarse a la naturaleza, fomentando a rutas menos conocidas y responsables. </a:t>
                      </a:r>
                      <a:r>
                        <a:rPr lang="es-CL" sz="800" u="sng" strike="noStrike" cap="none">
                          <a:solidFill>
                            <a:schemeClr val="hlink"/>
                          </a:solidFill>
                          <a:latin typeface="Cabin"/>
                          <a:ea typeface="Cabin"/>
                          <a:cs typeface="Cabin"/>
                          <a:sym typeface="Cabin"/>
                          <a:hlinkClick r:id="rId7"/>
                        </a:rPr>
                        <a:t>PaisCircular</a:t>
                      </a:r>
                      <a:r>
                        <a:rPr lang="es-CL" sz="800" u="none" strike="noStrike" cap="none">
                          <a:latin typeface="Cabin"/>
                          <a:ea typeface="Cabin"/>
                          <a:cs typeface="Cabin"/>
                          <a:sym typeface="Cabin"/>
                        </a:rPr>
                        <a:t>,</a:t>
                      </a:r>
                      <a:r>
                        <a:rPr lang="es-CL" sz="800" u="sng" strike="noStrike" cap="none">
                          <a:solidFill>
                            <a:schemeClr val="hlink"/>
                          </a:solidFill>
                          <a:latin typeface="Cabin"/>
                          <a:ea typeface="Cabin"/>
                          <a:cs typeface="Cabin"/>
                          <a:sym typeface="Cabin"/>
                          <a:hlinkClick r:id="rId8"/>
                        </a:rPr>
                        <a:t>Travolution</a:t>
                      </a:r>
                      <a:r>
                        <a:rPr lang="es-CL" sz="800" u="none" strike="noStrike" cap="none">
                          <a:latin typeface="Cabin"/>
                          <a:ea typeface="Cabin"/>
                          <a:cs typeface="Cabin"/>
                          <a:sym typeface="Cabin"/>
                        </a:rPr>
                        <a:t>.</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3875">
                <a:tc>
                  <a:txBody>
                    <a:bodyPr/>
                    <a:lstStyle/>
                    <a:p>
                      <a:pPr marL="0" marR="0" lvl="0" indent="0" algn="l" rtl="0">
                        <a:lnSpc>
                          <a:spcPct val="100000"/>
                        </a:lnSpc>
                        <a:spcBef>
                          <a:spcPts val="0"/>
                        </a:spcBef>
                        <a:spcAft>
                          <a:spcPts val="0"/>
                        </a:spcAft>
                        <a:buClr>
                          <a:srgbClr val="000000"/>
                        </a:buClr>
                        <a:buSzPts val="1100"/>
                        <a:buFont typeface="Arial"/>
                        <a:buNone/>
                      </a:pPr>
                      <a:r>
                        <a:rPr lang="es-CL" sz="800" b="1" u="none" strike="noStrike" cap="none">
                          <a:solidFill>
                            <a:schemeClr val="dk1"/>
                          </a:solidFill>
                          <a:latin typeface="Cabin"/>
                          <a:ea typeface="Cabin"/>
                          <a:cs typeface="Cabin"/>
                          <a:sym typeface="Cabin"/>
                        </a:rPr>
                        <a:t>Contexto Tecnológico y Científico: </a:t>
                      </a:r>
                      <a:r>
                        <a:rPr lang="es-CL" sz="800" u="none" strike="noStrike" cap="none">
                          <a:solidFill>
                            <a:schemeClr val="dk1"/>
                          </a:solidFill>
                          <a:latin typeface="Cabin"/>
                          <a:ea typeface="Cabin"/>
                          <a:cs typeface="Cabin"/>
                          <a:sym typeface="Cabin"/>
                        </a:rPr>
                        <a:t>¿Qué tecnologías, descubrimientos o herramientas podrían usarse o influir en tu proyecto?¿Hay soluciones existentes que puedes aprovechar? ¿Qué innovaciones recientes podrían ayudarte o cambiar las reglas del juego?</a:t>
                      </a:r>
                      <a:endParaRPr sz="8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Este proyecto utiliza herramientas como GPS, mapas digitales, rutas definidas, existen soluciones que se puede aprovechar como google maps, OpoenStreetMap, </a:t>
                      </a:r>
                      <a:r>
                        <a:rPr lang="es-CL" sz="800" u="sng" strike="noStrike" cap="none">
                          <a:solidFill>
                            <a:schemeClr val="dk1"/>
                          </a:solidFill>
                          <a:latin typeface="Cabin"/>
                          <a:ea typeface="Cabin"/>
                          <a:cs typeface="Cabin"/>
                          <a:sym typeface="Cabin"/>
                          <a:hlinkClick r:id="rId9">
                            <a:extLst>
                              <a:ext uri="{A12FA001-AC4F-418D-AE19-62706E023703}">
                                <ahyp:hlinkClr xmlns:ahyp="http://schemas.microsoft.com/office/drawing/2018/hyperlinkcolor" val="tx"/>
                              </a:ext>
                            </a:extLst>
                          </a:hlinkClick>
                        </a:rPr>
                        <a:t>Maps.me</a:t>
                      </a:r>
                      <a:r>
                        <a:rPr lang="es-CL" sz="800" u="none" strike="noStrike" cap="none">
                          <a:solidFill>
                            <a:schemeClr val="dk1"/>
                          </a:solidFill>
                          <a:latin typeface="Cabin"/>
                          <a:ea typeface="Cabin"/>
                          <a:cs typeface="Cabin"/>
                          <a:sym typeface="Cabin"/>
                        </a:rPr>
                        <a:t> o sistema de localización de emergencia, Algunas innovaciones recientes es la integración de redes satelitales en celulares y los sensores de salud, también ofrecen un seguimiento más preciso y una respuesta más rápido en caso de emergencias. </a:t>
                      </a:r>
                      <a:r>
                        <a:rPr lang="es-CL" sz="800" u="sng" strike="noStrike" cap="none">
                          <a:solidFill>
                            <a:schemeClr val="hlink"/>
                          </a:solidFill>
                          <a:latin typeface="Cabin"/>
                          <a:ea typeface="Cabin"/>
                          <a:cs typeface="Cabin"/>
                          <a:sym typeface="Cabin"/>
                          <a:hlinkClick r:id="rId10"/>
                        </a:rPr>
                        <a:t>infobae</a:t>
                      </a:r>
                      <a:r>
                        <a:rPr lang="es-CL" sz="800" u="none" strike="noStrike" cap="none">
                          <a:solidFill>
                            <a:schemeClr val="dk1"/>
                          </a:solidFill>
                          <a:latin typeface="Cabin"/>
                          <a:ea typeface="Cabin"/>
                          <a:cs typeface="Cabin"/>
                          <a:sym typeface="Cabin"/>
                        </a:rPr>
                        <a:t>, </a:t>
                      </a:r>
                      <a:r>
                        <a:rPr lang="es-CL" sz="800" u="sng" strike="noStrike" cap="none">
                          <a:solidFill>
                            <a:schemeClr val="hlink"/>
                          </a:solidFill>
                          <a:latin typeface="Cabin"/>
                          <a:ea typeface="Cabin"/>
                          <a:cs typeface="Cabin"/>
                          <a:sym typeface="Cabin"/>
                          <a:hlinkClick r:id="rId11"/>
                        </a:rPr>
                        <a:t>cincoDias</a:t>
                      </a:r>
                      <a:r>
                        <a:rPr lang="es-CL" sz="800" u="none" strike="noStrike" cap="none">
                          <a:solidFill>
                            <a:schemeClr val="dk1"/>
                          </a:solidFill>
                          <a:latin typeface="Cabin"/>
                          <a:ea typeface="Cabin"/>
                          <a:cs typeface="Cabin"/>
                          <a:sym typeface="Cabin"/>
                        </a:rPr>
                        <a:t>, </a:t>
                      </a:r>
                      <a:r>
                        <a:rPr lang="es-CL" sz="800" u="sng" strike="noStrike" cap="none">
                          <a:solidFill>
                            <a:schemeClr val="hlink"/>
                          </a:solidFill>
                          <a:latin typeface="Cabin"/>
                          <a:ea typeface="Cabin"/>
                          <a:cs typeface="Cabin"/>
                          <a:sym typeface="Cabin"/>
                          <a:hlinkClick r:id="rId12"/>
                        </a:rPr>
                        <a:t>Android Authority</a:t>
                      </a:r>
                      <a:endParaRPr sz="800" u="none" strike="noStrike" cap="none">
                        <a:solidFill>
                          <a:schemeClr val="dk1"/>
                        </a:solidFill>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4150">
                <a:tc>
                  <a:txBody>
                    <a:bodyPr/>
                    <a:lstStyle/>
                    <a:p>
                      <a:pPr marL="0" marR="0" lvl="0" indent="0" algn="l" rtl="0">
                        <a:lnSpc>
                          <a:spcPct val="100000"/>
                        </a:lnSpc>
                        <a:spcBef>
                          <a:spcPts val="0"/>
                        </a:spcBef>
                        <a:spcAft>
                          <a:spcPts val="0"/>
                        </a:spcAft>
                        <a:buClr>
                          <a:srgbClr val="000000"/>
                        </a:buClr>
                        <a:buSzPts val="1100"/>
                        <a:buFont typeface="Arial"/>
                        <a:buNone/>
                      </a:pPr>
                      <a:r>
                        <a:rPr lang="es-CL" sz="800" b="1" u="none" strike="noStrike" cap="none">
                          <a:solidFill>
                            <a:schemeClr val="dk1"/>
                          </a:solidFill>
                          <a:latin typeface="Cabin"/>
                          <a:ea typeface="Cabin"/>
                          <a:cs typeface="Cabin"/>
                          <a:sym typeface="Cabin"/>
                        </a:rPr>
                        <a:t>Tendencias y Futuras Perspectivas:</a:t>
                      </a:r>
                      <a:r>
                        <a:rPr lang="es-CL" sz="800" i="1" u="none" strike="noStrike" cap="none">
                          <a:solidFill>
                            <a:schemeClr val="dk1"/>
                          </a:solidFill>
                          <a:latin typeface="Cabin"/>
                          <a:ea typeface="Cabin"/>
                          <a:cs typeface="Cabin"/>
                          <a:sym typeface="Cabin"/>
                        </a:rPr>
                        <a:t> </a:t>
                      </a:r>
                      <a:r>
                        <a:rPr lang="es-CL" sz="800" u="none" strike="noStrike" cap="none">
                          <a:solidFill>
                            <a:schemeClr val="dk1"/>
                          </a:solidFill>
                          <a:latin typeface="Cabin"/>
                          <a:ea typeface="Cabin"/>
                          <a:cs typeface="Cabin"/>
                          <a:sym typeface="Cabin"/>
                        </a:rPr>
                        <a:t>¿Qué personas, grupos o instituciones podrían influir en tu proyecto o verse afectadas por él?</a:t>
                      </a:r>
                      <a:endParaRPr sz="80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s-CL" sz="800" u="none" strike="noStrike" cap="none">
                          <a:solidFill>
                            <a:schemeClr val="dk1"/>
                          </a:solidFill>
                          <a:latin typeface="Cabin"/>
                          <a:ea typeface="Cabin"/>
                          <a:cs typeface="Cabin"/>
                          <a:sym typeface="Cabin"/>
                        </a:rPr>
                        <a:t>¿Quiénes podrían ser aliados estratégicos? ¿Quiénes podrían oponerse o exigir condiciones? ¿Qué rol tienen clientes, proveedores, instituciones o comunidad?</a:t>
                      </a:r>
                      <a:endParaRPr sz="800" b="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Este proyecto influye sobre l</a:t>
                      </a:r>
                      <a:r>
                        <a:rPr lang="es-CL" sz="800">
                          <a:latin typeface="Cabin"/>
                          <a:ea typeface="Cabin"/>
                          <a:cs typeface="Cabin"/>
                          <a:sym typeface="Cabin"/>
                        </a:rPr>
                        <a:t>as personas mayores de edad comunes, </a:t>
                      </a:r>
                      <a:r>
                        <a:rPr lang="es-CL" sz="800" u="none" strike="noStrike" cap="none">
                          <a:latin typeface="Cabin"/>
                          <a:ea typeface="Cabin"/>
                          <a:cs typeface="Cabin"/>
                          <a:sym typeface="Cabin"/>
                        </a:rPr>
                        <a:t>turistas y deportistas, algunos aliados estratégicos, </a:t>
                      </a:r>
                      <a:r>
                        <a:rPr lang="es-CL" sz="800">
                          <a:latin typeface="Cabin"/>
                          <a:ea typeface="Cabin"/>
                          <a:cs typeface="Cabin"/>
                          <a:sym typeface="Cabin"/>
                        </a:rPr>
                        <a:t>serían</a:t>
                      </a:r>
                      <a:r>
                        <a:rPr lang="es-CL" sz="800" u="none" strike="noStrike" cap="none">
                          <a:latin typeface="Cabin"/>
                          <a:ea typeface="Cabin"/>
                          <a:cs typeface="Cabin"/>
                          <a:sym typeface="Cabin"/>
                        </a:rPr>
                        <a:t> organizaciones de rescate, parques nacionales y empresas de turismo, algunas instituciones públicas podrían oponerse para exigir condiciones sobre la privacidad y el uso de los datos. </a:t>
                      </a:r>
                      <a:r>
                        <a:rPr lang="es-CL" sz="800">
                          <a:latin typeface="Cabin"/>
                          <a:ea typeface="Cabin"/>
                          <a:cs typeface="Cabin"/>
                          <a:sym typeface="Cabin"/>
                        </a:rPr>
                        <a:t>E</a:t>
                      </a:r>
                      <a:r>
                        <a:rPr lang="es-CL" sz="800" u="none" strike="noStrike" cap="none">
                          <a:latin typeface="Cabin"/>
                          <a:ea typeface="Cabin"/>
                          <a:cs typeface="Cabin"/>
                          <a:sym typeface="Cabin"/>
                        </a:rPr>
                        <a:t>l rol de los clientes son lo central al poder utilizar y validar la herramienta, los proveedores </a:t>
                      </a:r>
                      <a:r>
                        <a:rPr lang="es-CL" sz="800">
                          <a:latin typeface="Cabin"/>
                          <a:ea typeface="Cabin"/>
                          <a:cs typeface="Cabin"/>
                          <a:sym typeface="Cabin"/>
                        </a:rPr>
                        <a:t>contribuirían</a:t>
                      </a:r>
                      <a:r>
                        <a:rPr lang="es-CL" sz="800" u="none" strike="noStrike" cap="none">
                          <a:latin typeface="Cabin"/>
                          <a:ea typeface="Cabin"/>
                          <a:cs typeface="Cabin"/>
                          <a:sym typeface="Cabin"/>
                        </a:rPr>
                        <a:t> a su crecimiento, mientras que la comunidad tambien podria aportar al crecimiento y mejora de esta herramienta.  </a:t>
                      </a:r>
                      <a:r>
                        <a:rPr lang="es-CL" sz="800" u="sng" strike="noStrike" cap="none">
                          <a:solidFill>
                            <a:schemeClr val="hlink"/>
                          </a:solidFill>
                          <a:latin typeface="Cabin"/>
                          <a:ea typeface="Cabin"/>
                          <a:cs typeface="Cabin"/>
                          <a:sym typeface="Cabin"/>
                          <a:hlinkClick r:id="rId13"/>
                        </a:rPr>
                        <a:t>Conaf</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14"/>
                        </a:rPr>
                        <a:t>Gobierno de chile</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15"/>
                        </a:rPr>
                        <a:t>ley 19628</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755500">
                <a:tc>
                  <a:txBody>
                    <a:bodyPr/>
                    <a:lstStyle/>
                    <a:p>
                      <a:pPr marL="0" marR="0" lvl="0" indent="0" algn="l" rtl="0">
                        <a:lnSpc>
                          <a:spcPct val="100000"/>
                        </a:lnSpc>
                        <a:spcBef>
                          <a:spcPts val="0"/>
                        </a:spcBef>
                        <a:spcAft>
                          <a:spcPts val="0"/>
                        </a:spcAft>
                        <a:buClr>
                          <a:srgbClr val="000000"/>
                        </a:buClr>
                        <a:buSzPts val="1100"/>
                        <a:buFont typeface="Arial"/>
                        <a:buNone/>
                      </a:pPr>
                      <a:r>
                        <a:rPr lang="es-CL" sz="800" b="1" u="none" strike="noStrike" cap="none">
                          <a:solidFill>
                            <a:schemeClr val="dk1"/>
                          </a:solidFill>
                          <a:latin typeface="Cabin"/>
                          <a:ea typeface="Cabin"/>
                          <a:cs typeface="Cabin"/>
                          <a:sym typeface="Cabin"/>
                        </a:rPr>
                        <a:t>Asociaciones Claves y Stakeholders:</a:t>
                      </a:r>
                      <a:r>
                        <a:rPr lang="es-CL" sz="800" i="1" u="none" strike="noStrike" cap="none">
                          <a:solidFill>
                            <a:schemeClr val="dk1"/>
                          </a:solidFill>
                          <a:latin typeface="Cabin"/>
                          <a:ea typeface="Cabin"/>
                          <a:cs typeface="Cabin"/>
                          <a:sym typeface="Cabin"/>
                        </a:rPr>
                        <a:t> </a:t>
                      </a:r>
                      <a:r>
                        <a:rPr lang="es-CL" sz="800" u="none" strike="noStrike" cap="none">
                          <a:solidFill>
                            <a:schemeClr val="dk1"/>
                          </a:solidFill>
                          <a:latin typeface="Cabin"/>
                          <a:ea typeface="Cabin"/>
                          <a:cs typeface="Cabin"/>
                          <a:sym typeface="Cabin"/>
                        </a:rPr>
                        <a:t>¿Qué personas, grupos o instituciones podrían influir en </a:t>
                      </a:r>
                      <a:r>
                        <a:rPr lang="es-CL" sz="800">
                          <a:solidFill>
                            <a:schemeClr val="dk1"/>
                          </a:solidFill>
                          <a:latin typeface="Cabin"/>
                          <a:ea typeface="Cabin"/>
                          <a:cs typeface="Cabin"/>
                          <a:sym typeface="Cabin"/>
                        </a:rPr>
                        <a:t>el</a:t>
                      </a:r>
                      <a:r>
                        <a:rPr lang="es-CL" sz="800" u="none" strike="noStrike" cap="none">
                          <a:solidFill>
                            <a:schemeClr val="dk1"/>
                          </a:solidFill>
                          <a:latin typeface="Cabin"/>
                          <a:ea typeface="Cabin"/>
                          <a:cs typeface="Cabin"/>
                          <a:sym typeface="Cabin"/>
                        </a:rPr>
                        <a:t> proyecto o verse afectadas por él?</a:t>
                      </a:r>
                      <a:endParaRPr sz="80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s-CL" sz="800" u="none" strike="noStrike" cap="none">
                          <a:solidFill>
                            <a:schemeClr val="dk1"/>
                          </a:solidFill>
                          <a:latin typeface="Cabin"/>
                          <a:ea typeface="Cabin"/>
                          <a:cs typeface="Cabin"/>
                          <a:sym typeface="Cabin"/>
                        </a:rPr>
                        <a:t>¿Quiénes podrían ser aliados estratégicos? ¿Quiénes podrían oponerse o exigir condiciones?</a:t>
                      </a:r>
                      <a:endParaRPr sz="8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Posibles aliados: Guías turísticos y operadores locales (beneficio mediante el turismo), apps de geolocalización y seguridad, instituciones públicas como CONAF y SERNATUR.</a:t>
                      </a:r>
                      <a:endParaRPr sz="8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Stakeholders afectados: Usuarios (Excursionistas y familias), propietarios rurales qu</a:t>
                      </a:r>
                      <a:r>
                        <a:rPr lang="es-CL" sz="800">
                          <a:latin typeface="Cabin"/>
                          <a:ea typeface="Cabin"/>
                          <a:cs typeface="Cabin"/>
                          <a:sym typeface="Cabin"/>
                        </a:rPr>
                        <a:t>e </a:t>
                      </a:r>
                      <a:r>
                        <a:rPr lang="es-CL" sz="800" u="none" strike="noStrike" cap="none">
                          <a:latin typeface="Cabin"/>
                          <a:ea typeface="Cabin"/>
                          <a:cs typeface="Cabin"/>
                          <a:sym typeface="Cabin"/>
                        </a:rPr>
                        <a:t>condiciona</a:t>
                      </a:r>
                      <a:r>
                        <a:rPr lang="es-CL" sz="800">
                          <a:latin typeface="Cabin"/>
                          <a:ea typeface="Cabin"/>
                          <a:cs typeface="Cabin"/>
                          <a:sym typeface="Cabin"/>
                        </a:rPr>
                        <a:t>n</a:t>
                      </a:r>
                      <a:r>
                        <a:rPr lang="es-CL" sz="800" u="none" strike="noStrike" cap="none">
                          <a:latin typeface="Cabin"/>
                          <a:ea typeface="Cabin"/>
                          <a:cs typeface="Cabin"/>
                          <a:sym typeface="Cabin"/>
                        </a:rPr>
                        <a:t> accesos (alquiler de terrenos), las municipalidad podrían oponerse  por cumplimiento de normas de seguridad o ambientales (ordenamiento territorial) </a:t>
                      </a:r>
                      <a:r>
                        <a:rPr lang="es-CL" sz="800" u="sng" strike="noStrike" cap="none">
                          <a:solidFill>
                            <a:schemeClr val="hlink"/>
                          </a:solidFill>
                          <a:latin typeface="Cabin"/>
                          <a:ea typeface="Cabin"/>
                          <a:cs typeface="Cabin"/>
                          <a:sym typeface="Cabin"/>
                          <a:hlinkClick r:id="rId16"/>
                        </a:rPr>
                        <a:t>Sernatur</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17"/>
                        </a:rPr>
                        <a:t>Conaf</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18"/>
                        </a:rPr>
                        <a:t>Subturismo</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755500">
                <a:tc>
                  <a:txBody>
                    <a:bodyPr/>
                    <a:lstStyle/>
                    <a:p>
                      <a:pPr marL="0" marR="0" lvl="0" indent="0" algn="l" rtl="0">
                        <a:lnSpc>
                          <a:spcPct val="100000"/>
                        </a:lnSpc>
                        <a:spcBef>
                          <a:spcPts val="0"/>
                        </a:spcBef>
                        <a:spcAft>
                          <a:spcPts val="0"/>
                        </a:spcAft>
                        <a:buClr>
                          <a:srgbClr val="000000"/>
                        </a:buClr>
                        <a:buSzPts val="1100"/>
                        <a:buFont typeface="Arial"/>
                        <a:buNone/>
                      </a:pPr>
                      <a:r>
                        <a:rPr lang="es-CL" sz="800" b="1" u="none" strike="noStrike" cap="none">
                          <a:solidFill>
                            <a:schemeClr val="dk1"/>
                          </a:solidFill>
                          <a:latin typeface="Cabin"/>
                          <a:ea typeface="Cabin"/>
                          <a:cs typeface="Cabin"/>
                          <a:sym typeface="Cabin"/>
                        </a:rPr>
                        <a:t>Legislaciones/Regulaciones: </a:t>
                      </a:r>
                      <a:r>
                        <a:rPr lang="es-CL" sz="800" i="1" u="none" strike="noStrike" cap="none">
                          <a:solidFill>
                            <a:schemeClr val="dk1"/>
                          </a:solidFill>
                          <a:latin typeface="Cabin"/>
                          <a:ea typeface="Cabin"/>
                          <a:cs typeface="Cabin"/>
                          <a:sym typeface="Cabin"/>
                        </a:rPr>
                        <a:t> </a:t>
                      </a:r>
                      <a:r>
                        <a:rPr lang="es-CL" sz="800" u="none" strike="noStrike" cap="none">
                          <a:solidFill>
                            <a:schemeClr val="dk1"/>
                          </a:solidFill>
                          <a:latin typeface="Cabin"/>
                          <a:ea typeface="Cabin"/>
                          <a:cs typeface="Cabin"/>
                          <a:sym typeface="Cabin"/>
                        </a:rPr>
                        <a:t>¿Qué leyes, permisos, normas o requisitos legales deben cumplirse para llevar a cabo </a:t>
                      </a:r>
                      <a:r>
                        <a:rPr lang="es-CL" sz="800">
                          <a:solidFill>
                            <a:schemeClr val="dk1"/>
                          </a:solidFill>
                          <a:latin typeface="Cabin"/>
                          <a:ea typeface="Cabin"/>
                          <a:cs typeface="Cabin"/>
                          <a:sym typeface="Cabin"/>
                        </a:rPr>
                        <a:t>el</a:t>
                      </a:r>
                      <a:r>
                        <a:rPr lang="es-CL" sz="800" u="none" strike="noStrike" cap="none">
                          <a:solidFill>
                            <a:schemeClr val="dk1"/>
                          </a:solidFill>
                          <a:latin typeface="Cabin"/>
                          <a:ea typeface="Cabin"/>
                          <a:cs typeface="Cabin"/>
                          <a:sym typeface="Cabin"/>
                        </a:rPr>
                        <a:t> proyecto?</a:t>
                      </a:r>
                      <a:endParaRPr sz="80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r>
                        <a:rPr lang="es-CL" sz="800" u="none" strike="noStrike" cap="none">
                          <a:solidFill>
                            <a:schemeClr val="dk1"/>
                          </a:solidFill>
                          <a:latin typeface="Cabin"/>
                          <a:ea typeface="Cabin"/>
                          <a:cs typeface="Cabin"/>
                          <a:sym typeface="Cabin"/>
                        </a:rPr>
                        <a:t>¿Hay nuevas regulaciones que podrían afectar su viabilidad? ¿Existen incentivos o restricciones legales relevantes?</a:t>
                      </a:r>
                      <a:endParaRPr sz="800" i="1" u="none" strike="noStrike" cap="none">
                        <a:solidFill>
                          <a:schemeClr val="dk1"/>
                        </a:solidFill>
                        <a:latin typeface="Cabin"/>
                        <a:ea typeface="Cabin"/>
                        <a:cs typeface="Cabin"/>
                        <a:sym typeface="Cabin"/>
                      </a:endParaRPr>
                    </a:p>
                  </a:txBody>
                  <a:tcPr marL="78200" marR="78200" marT="82950" marB="8295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s-CL" sz="800" u="none" strike="noStrike" cap="none">
                          <a:latin typeface="Cabin"/>
                          <a:ea typeface="Cabin"/>
                          <a:cs typeface="Cabin"/>
                          <a:sym typeface="Cabin"/>
                        </a:rPr>
                        <a:t>Se debe registrar la actividad del trekking como turismo aventura según la ley 20.423, cumpliendo con los estándares de seguridad, medidas de riesgo y registro ante sernatur, además se exige el cumplimiento de uso en áreas protegidas (ley 21.600), cómo acampar solo en lugares autorizados, prohibición de fogatas, fuego y drones. Un posible cambio </a:t>
                      </a:r>
                      <a:r>
                        <a:rPr lang="es-CL" sz="800">
                          <a:latin typeface="Cabin"/>
                          <a:ea typeface="Cabin"/>
                          <a:cs typeface="Cabin"/>
                          <a:sym typeface="Cabin"/>
                        </a:rPr>
                        <a:t>a</a:t>
                      </a:r>
                      <a:r>
                        <a:rPr lang="es-CL" sz="800" u="none" strike="noStrike" cap="none">
                          <a:latin typeface="Cabin"/>
                          <a:ea typeface="Cabin"/>
                          <a:cs typeface="Cabin"/>
                          <a:sym typeface="Cabin"/>
                        </a:rPr>
                        <a:t> futuro es el avance del proyecto, que podría centralizar y agilizar permisos ambientales mediante una plataforma digital. </a:t>
                      </a:r>
                      <a:r>
                        <a:rPr lang="es-CL" sz="800" u="sng" strike="noStrike" cap="none">
                          <a:solidFill>
                            <a:schemeClr val="hlink"/>
                          </a:solidFill>
                          <a:latin typeface="Cabin"/>
                          <a:ea typeface="Cabin"/>
                          <a:cs typeface="Cabin"/>
                          <a:sym typeface="Cabin"/>
                          <a:hlinkClick r:id="rId19"/>
                        </a:rPr>
                        <a:t>Uso Público</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20"/>
                        </a:rPr>
                        <a:t>Gobcl</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21"/>
                        </a:rPr>
                        <a:t>INDAP</a:t>
                      </a:r>
                      <a:r>
                        <a:rPr lang="es-CL" sz="800" u="none" strike="noStrike" cap="none">
                          <a:latin typeface="Cabin"/>
                          <a:ea typeface="Cabin"/>
                          <a:cs typeface="Cabin"/>
                          <a:sym typeface="Cabin"/>
                        </a:rPr>
                        <a:t>,  </a:t>
                      </a:r>
                      <a:r>
                        <a:rPr lang="es-CL" sz="800" u="sng" strike="noStrike" cap="none">
                          <a:solidFill>
                            <a:schemeClr val="hlink"/>
                          </a:solidFill>
                          <a:latin typeface="Cabin"/>
                          <a:ea typeface="Cabin"/>
                          <a:cs typeface="Cabin"/>
                          <a:sym typeface="Cabin"/>
                          <a:hlinkClick r:id="rId22"/>
                        </a:rPr>
                        <a:t>ChileAtiende</a:t>
                      </a:r>
                      <a:endParaRPr sz="8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79" name="Google Shape;179;g3f6d87f1187_0_306"/>
          <p:cNvSpPr txBox="1">
            <a:spLocks noGrp="1"/>
          </p:cNvSpPr>
          <p:nvPr>
            <p:ph type="title"/>
          </p:nvPr>
        </p:nvSpPr>
        <p:spPr>
          <a:xfrm>
            <a:off x="385881" y="0"/>
            <a:ext cx="51432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3. MAPA DE CONTEXTO</a:t>
            </a:r>
            <a:endParaRPr sz="1200">
              <a:solidFill>
                <a:srgbClr val="FF0000"/>
              </a:solidFill>
              <a:highlight>
                <a:srgbClr val="5C5DD4"/>
              </a:highlight>
              <a:latin typeface="Comfortaa"/>
              <a:ea typeface="Comfortaa"/>
              <a:cs typeface="Comfortaa"/>
              <a:sym typeface="Comfortaa"/>
            </a:endParaRPr>
          </a:p>
        </p:txBody>
      </p:sp>
      <p:sp>
        <p:nvSpPr>
          <p:cNvPr id="180" name="Google Shape;180;g3f6d87f1187_0_306"/>
          <p:cNvSpPr txBox="1"/>
          <p:nvPr/>
        </p:nvSpPr>
        <p:spPr>
          <a:xfrm>
            <a:off x="393681" y="313442"/>
            <a:ext cx="7163700" cy="2499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P</a:t>
            </a:r>
            <a:r>
              <a:rPr lang="es-CL" sz="1100" b="0" i="0" u="none" strike="noStrike" cap="none">
                <a:solidFill>
                  <a:srgbClr val="000000"/>
                </a:solidFill>
                <a:latin typeface="Cabin"/>
                <a:ea typeface="Cabin"/>
                <a:cs typeface="Cabin"/>
                <a:sym typeface="Cabin"/>
              </a:rPr>
              <a:t>erspectivas que impactan o podrían impactar en un futuro proyecto en el ámbito de investigación.</a:t>
            </a:r>
            <a:endParaRPr sz="1100" b="0" i="0" u="none" strike="noStrike" cap="none">
              <a:solidFill>
                <a:srgbClr val="000000"/>
              </a:solidFill>
              <a:latin typeface="Cabin"/>
              <a:ea typeface="Cabin"/>
              <a:cs typeface="Cabin"/>
              <a:sym typeface="Cab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f6d87f1187_0_313"/>
          <p:cNvSpPr txBox="1">
            <a:spLocks noGrp="1"/>
          </p:cNvSpPr>
          <p:nvPr>
            <p:ph type="title"/>
          </p:nvPr>
        </p:nvSpPr>
        <p:spPr>
          <a:xfrm>
            <a:off x="337933" y="59706"/>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4. IDENTIFICAR UN PROBLEMA</a:t>
            </a:r>
            <a:endParaRPr sz="1200">
              <a:solidFill>
                <a:srgbClr val="FF0000"/>
              </a:solidFill>
              <a:highlight>
                <a:srgbClr val="5C5DD4"/>
              </a:highlight>
              <a:latin typeface="Comfortaa"/>
              <a:ea typeface="Comfortaa"/>
              <a:cs typeface="Comfortaa"/>
              <a:sym typeface="Comfortaa"/>
            </a:endParaRPr>
          </a:p>
        </p:txBody>
      </p:sp>
      <p:sp>
        <p:nvSpPr>
          <p:cNvPr id="187" name="Google Shape;187;g3f6d87f1187_0_313"/>
          <p:cNvSpPr txBox="1"/>
          <p:nvPr/>
        </p:nvSpPr>
        <p:spPr>
          <a:xfrm>
            <a:off x="337921" y="381157"/>
            <a:ext cx="8606100" cy="2499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b="0" i="0" u="none" strike="noStrike" cap="none">
                <a:solidFill>
                  <a:srgbClr val="000000"/>
                </a:solidFill>
                <a:latin typeface="Cabin"/>
                <a:ea typeface="Cabin"/>
                <a:cs typeface="Cabin"/>
                <a:sym typeface="Cabin"/>
              </a:rPr>
              <a:t>Identificar el problema principal que buscarán solucionar:</a:t>
            </a:r>
            <a:endParaRPr sz="1100" b="0" i="0" u="none" strike="noStrike" cap="none">
              <a:solidFill>
                <a:srgbClr val="000000"/>
              </a:solidFill>
              <a:latin typeface="Cabin"/>
              <a:ea typeface="Cabin"/>
              <a:cs typeface="Cabin"/>
              <a:sym typeface="Cabin"/>
            </a:endParaRPr>
          </a:p>
        </p:txBody>
      </p:sp>
      <p:graphicFrame>
        <p:nvGraphicFramePr>
          <p:cNvPr id="188" name="Google Shape;188;g3f6d87f1187_0_313"/>
          <p:cNvGraphicFramePr/>
          <p:nvPr/>
        </p:nvGraphicFramePr>
        <p:xfrm>
          <a:off x="131536" y="693895"/>
          <a:ext cx="8860200" cy="5808375"/>
        </p:xfrm>
        <a:graphic>
          <a:graphicData uri="http://schemas.openxmlformats.org/drawingml/2006/table">
            <a:tbl>
              <a:tblPr>
                <a:noFill/>
                <a:tableStyleId>{1DB02A97-F7C7-495C-9862-EC5E712B0BC7}</a:tableStyleId>
              </a:tblPr>
              <a:tblGrid>
                <a:gridCol w="2648175">
                  <a:extLst>
                    <a:ext uri="{9D8B030D-6E8A-4147-A177-3AD203B41FA5}">
                      <a16:colId xmlns:a16="http://schemas.microsoft.com/office/drawing/2014/main" val="20000"/>
                    </a:ext>
                  </a:extLst>
                </a:gridCol>
                <a:gridCol w="3545575">
                  <a:extLst>
                    <a:ext uri="{9D8B030D-6E8A-4147-A177-3AD203B41FA5}">
                      <a16:colId xmlns:a16="http://schemas.microsoft.com/office/drawing/2014/main" val="20001"/>
                    </a:ext>
                  </a:extLst>
                </a:gridCol>
                <a:gridCol w="2666450">
                  <a:extLst>
                    <a:ext uri="{9D8B030D-6E8A-4147-A177-3AD203B41FA5}">
                      <a16:colId xmlns:a16="http://schemas.microsoft.com/office/drawing/2014/main" val="20002"/>
                    </a:ext>
                  </a:extLst>
                </a:gridCol>
              </a:tblGrid>
              <a:tr h="672925">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rgbClr val="000000"/>
                          </a:solidFill>
                          <a:latin typeface="Cabin"/>
                          <a:ea typeface="Cabin"/>
                          <a:cs typeface="Cabin"/>
                          <a:sym typeface="Cabin"/>
                        </a:rPr>
                        <a:t>¿Cuál es el problema que quiere</a:t>
                      </a:r>
                      <a:r>
                        <a:rPr lang="es-CL" sz="1100" b="1" u="none" strike="noStrike" cap="none">
                          <a:latin typeface="Cabin"/>
                          <a:ea typeface="Cabin"/>
                          <a:cs typeface="Cabin"/>
                          <a:sym typeface="Cabin"/>
                        </a:rPr>
                        <a:t>n </a:t>
                      </a:r>
                      <a:r>
                        <a:rPr lang="es-CL" sz="1100" b="1" u="none" strike="noStrike" cap="none">
                          <a:solidFill>
                            <a:srgbClr val="000000"/>
                          </a:solidFill>
                          <a:latin typeface="Cabin"/>
                          <a:ea typeface="Cabin"/>
                          <a:cs typeface="Cabin"/>
                          <a:sym typeface="Cabin"/>
                        </a:rPr>
                        <a:t>investigar?  </a:t>
                      </a:r>
                      <a:endParaRPr sz="1100" b="1"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rgbClr val="000000"/>
                          </a:solidFill>
                          <a:latin typeface="Cabin"/>
                          <a:ea typeface="Cabin"/>
                          <a:cs typeface="Cabin"/>
                          <a:sym typeface="Cabin"/>
                        </a:rPr>
                        <a:t>¿Por qué es importante?</a:t>
                      </a:r>
                      <a:endParaRPr sz="1100" b="1" i="0" u="none" strike="noStrike" cap="none">
                        <a:solidFill>
                          <a:srgbClr val="000000"/>
                        </a:solidFill>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rgbClr val="000000"/>
                          </a:solidFill>
                          <a:latin typeface="Cabin"/>
                          <a:ea typeface="Cabin"/>
                          <a:cs typeface="Cabin"/>
                          <a:sym typeface="Cabin"/>
                        </a:rPr>
                        <a:t>Datos que puedan respaldar el problema. </a:t>
                      </a:r>
                      <a:endParaRPr sz="1100" b="1" u="none" strike="noStrike" cap="none">
                        <a:solidFill>
                          <a:srgbClr val="000000"/>
                        </a:solidFill>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s-CL" sz="1100" b="1" u="none" strike="noStrike" cap="none">
                          <a:solidFill>
                            <a:srgbClr val="000000"/>
                          </a:solidFill>
                          <a:latin typeface="Cabin"/>
                          <a:ea typeface="Cabin"/>
                          <a:cs typeface="Cabin"/>
                          <a:sym typeface="Cabin"/>
                        </a:rPr>
                        <a:t>¿Para quién es un problema? </a:t>
                      </a:r>
                      <a:endParaRPr sz="1100" b="1" i="0" u="none" strike="noStrike" cap="none">
                        <a:solidFill>
                          <a:srgbClr val="000000"/>
                        </a:solidFill>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extLst>
                  <a:ext uri="{0D108BD9-81ED-4DB2-BD59-A6C34878D82A}">
                    <a16:rowId xmlns:a16="http://schemas.microsoft.com/office/drawing/2014/main" val="10000"/>
                  </a:ext>
                </a:extLst>
              </a:tr>
              <a:tr h="3653950">
                <a:tc>
                  <a:txBody>
                    <a:bodyPr/>
                    <a:lstStyle/>
                    <a:p>
                      <a:pPr marL="76200" marR="101600" lvl="0" indent="0" algn="l" rtl="0">
                        <a:lnSpc>
                          <a:spcPct val="100000"/>
                        </a:lnSpc>
                        <a:spcBef>
                          <a:spcPts val="0"/>
                        </a:spcBef>
                        <a:spcAft>
                          <a:spcPts val="0"/>
                        </a:spcAft>
                        <a:buClr>
                          <a:schemeClr val="dk1"/>
                        </a:buClr>
                        <a:buSzPts val="1100"/>
                        <a:buFont typeface="Arial"/>
                        <a:buNone/>
                      </a:pPr>
                      <a:r>
                        <a:rPr lang="es-CL" sz="900" i="1" u="none" strike="noStrike" cap="none">
                          <a:solidFill>
                            <a:schemeClr val="dk1"/>
                          </a:solidFill>
                          <a:latin typeface="Cabin"/>
                          <a:ea typeface="Cabin"/>
                          <a:cs typeface="Cabin"/>
                          <a:sym typeface="Cabin"/>
                        </a:rPr>
                        <a:t>-Problema: falta de compañía y poca seguridad para realizar trekking</a:t>
                      </a:r>
                      <a:endParaRPr sz="900" i="1" u="none" strike="noStrike" cap="none">
                        <a:solidFill>
                          <a:schemeClr val="dk1"/>
                        </a:solidFill>
                        <a:latin typeface="Cabin"/>
                        <a:ea typeface="Cabin"/>
                        <a:cs typeface="Cabin"/>
                        <a:sym typeface="Cabin"/>
                      </a:endParaRPr>
                    </a:p>
                    <a:p>
                      <a:pPr marL="76200" marR="101600" lvl="0" indent="0" algn="l" rtl="0">
                        <a:lnSpc>
                          <a:spcPct val="100000"/>
                        </a:lnSpc>
                        <a:spcBef>
                          <a:spcPts val="0"/>
                        </a:spcBef>
                        <a:spcAft>
                          <a:spcPts val="0"/>
                        </a:spcAft>
                        <a:buClr>
                          <a:schemeClr val="dk1"/>
                        </a:buClr>
                        <a:buSzPts val="1100"/>
                        <a:buFont typeface="Arial"/>
                        <a:buNone/>
                      </a:pPr>
                      <a:endParaRPr sz="900" i="1">
                        <a:solidFill>
                          <a:schemeClr val="dk1"/>
                        </a:solidFill>
                        <a:latin typeface="Cabin"/>
                        <a:ea typeface="Cabin"/>
                        <a:cs typeface="Cabin"/>
                        <a:sym typeface="Cabin"/>
                      </a:endParaRPr>
                    </a:p>
                    <a:p>
                      <a:pPr marL="76200" marR="101600" lvl="0" indent="0" algn="l" rtl="0">
                        <a:lnSpc>
                          <a:spcPct val="100000"/>
                        </a:lnSpc>
                        <a:spcBef>
                          <a:spcPts val="0"/>
                        </a:spcBef>
                        <a:spcAft>
                          <a:spcPts val="0"/>
                        </a:spcAft>
                        <a:buClr>
                          <a:schemeClr val="dk1"/>
                        </a:buClr>
                        <a:buSzPts val="1100"/>
                        <a:buFont typeface="Arial"/>
                        <a:buNone/>
                      </a:pPr>
                      <a:r>
                        <a:rPr lang="es-CL" sz="900" i="1" u="none" strike="noStrike" cap="none">
                          <a:solidFill>
                            <a:schemeClr val="dk1"/>
                          </a:solidFill>
                          <a:latin typeface="Cabin"/>
                          <a:ea typeface="Cabin"/>
                          <a:cs typeface="Cabin"/>
                          <a:sym typeface="Cabin"/>
                        </a:rPr>
                        <a:t>-Muchas personas no pueden ir a hacer trekking porque no tienen con quien hacerlo, lo que limita su participación y genera inseguridad al intentar salir solo</a:t>
                      </a:r>
                      <a:endParaRPr sz="900" i="1" u="none" strike="noStrike" cap="none">
                        <a:solidFill>
                          <a:schemeClr val="dk1"/>
                        </a:solidFill>
                        <a:latin typeface="Cabin"/>
                        <a:ea typeface="Cabin"/>
                        <a:cs typeface="Cabin"/>
                        <a:sym typeface="Cabin"/>
                      </a:endParaRPr>
                    </a:p>
                    <a:p>
                      <a:pPr marL="76200" marR="101600" lvl="0" indent="0" algn="l" rtl="0">
                        <a:lnSpc>
                          <a:spcPct val="100000"/>
                        </a:lnSpc>
                        <a:spcBef>
                          <a:spcPts val="0"/>
                        </a:spcBef>
                        <a:spcAft>
                          <a:spcPts val="0"/>
                        </a:spcAft>
                        <a:buClr>
                          <a:schemeClr val="dk1"/>
                        </a:buClr>
                        <a:buSzPts val="1100"/>
                        <a:buFont typeface="Arial"/>
                        <a:buNone/>
                      </a:pPr>
                      <a:endParaRPr sz="900" i="1">
                        <a:solidFill>
                          <a:schemeClr val="dk1"/>
                        </a:solidFill>
                        <a:latin typeface="Cabin"/>
                        <a:ea typeface="Cabin"/>
                        <a:cs typeface="Cabin"/>
                        <a:sym typeface="Cabin"/>
                      </a:endParaRPr>
                    </a:p>
                    <a:p>
                      <a:pPr marL="76200" marR="101600" lvl="0" indent="0" algn="l" rtl="0">
                        <a:lnSpc>
                          <a:spcPct val="100000"/>
                        </a:lnSpc>
                        <a:spcBef>
                          <a:spcPts val="0"/>
                        </a:spcBef>
                        <a:spcAft>
                          <a:spcPts val="0"/>
                        </a:spcAft>
                        <a:buClr>
                          <a:schemeClr val="dk1"/>
                        </a:buClr>
                        <a:buSzPts val="1100"/>
                        <a:buFont typeface="Arial"/>
                        <a:buNone/>
                      </a:pPr>
                      <a:r>
                        <a:rPr lang="es-CL" sz="900" i="1" u="none" strike="noStrike" cap="none">
                          <a:solidFill>
                            <a:schemeClr val="dk1"/>
                          </a:solidFill>
                          <a:latin typeface="Cabin"/>
                          <a:ea typeface="Cabin"/>
                          <a:cs typeface="Cabin"/>
                          <a:sym typeface="Cabin"/>
                        </a:rPr>
                        <a:t>-Es importante porque la falta de compañía reduce el acceso a experiencias de contacto con la naturaleza, desincentiva hábitos de la vida saludable y afecta la seguridad de quienes desean practicar esta actividad, además al resolver este problema </a:t>
                      </a:r>
                      <a:r>
                        <a:rPr lang="es-CL" sz="900" i="1">
                          <a:solidFill>
                            <a:schemeClr val="dk1"/>
                          </a:solidFill>
                          <a:latin typeface="Cabin"/>
                          <a:ea typeface="Cabin"/>
                          <a:cs typeface="Cabin"/>
                          <a:sym typeface="Cabin"/>
                        </a:rPr>
                        <a:t>da</a:t>
                      </a:r>
                      <a:r>
                        <a:rPr lang="es-CL" sz="900" i="1" u="none" strike="noStrike" cap="none">
                          <a:solidFill>
                            <a:schemeClr val="dk1"/>
                          </a:solidFill>
                          <a:latin typeface="Cabin"/>
                          <a:ea typeface="Cabin"/>
                          <a:cs typeface="Cabin"/>
                          <a:sym typeface="Cabin"/>
                        </a:rPr>
                        <a:t> la oportunidad de crear comunidades, fomentar el turismo local y fortalecer la práctica responsable del trekking</a:t>
                      </a:r>
                      <a:endParaRPr sz="900" i="1" u="none" strike="noStrike" cap="none">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1"/>
                    </a:solidFill>
                  </a:tcPr>
                </a:tc>
                <a:tc>
                  <a:txBody>
                    <a:bodyPr/>
                    <a:lstStyle/>
                    <a:p>
                      <a:pPr marL="76200" marR="101600" lvl="0" indent="0" algn="l" rtl="0">
                        <a:lnSpc>
                          <a:spcPct val="100000"/>
                        </a:lnSpc>
                        <a:spcBef>
                          <a:spcPts val="0"/>
                        </a:spcBef>
                        <a:spcAft>
                          <a:spcPts val="0"/>
                        </a:spcAft>
                        <a:buClr>
                          <a:schemeClr val="dk1"/>
                        </a:buClr>
                        <a:buSzPts val="1100"/>
                        <a:buFont typeface="Arial"/>
                        <a:buNone/>
                      </a:pPr>
                      <a:endParaRPr sz="900" i="1">
                        <a:solidFill>
                          <a:schemeClr val="dk1"/>
                        </a:solidFill>
                        <a:latin typeface="Cabin"/>
                        <a:ea typeface="Cabin"/>
                        <a:cs typeface="Cabin"/>
                        <a:sym typeface="Cabin"/>
                      </a:endParaRPr>
                    </a:p>
                    <a:p>
                      <a:pPr marL="76200" marR="101600" lvl="0" indent="0" algn="l" rtl="0">
                        <a:lnSpc>
                          <a:spcPct val="100000"/>
                        </a:lnSpc>
                        <a:spcBef>
                          <a:spcPts val="0"/>
                        </a:spcBef>
                        <a:spcAft>
                          <a:spcPts val="0"/>
                        </a:spcAft>
                        <a:buClr>
                          <a:schemeClr val="dk1"/>
                        </a:buClr>
                        <a:buSzPts val="1100"/>
                        <a:buFont typeface="Arial"/>
                        <a:buNone/>
                      </a:pPr>
                      <a:r>
                        <a:rPr lang="es-CL" sz="900" i="1" u="none" strike="noStrike" cap="none">
                          <a:solidFill>
                            <a:schemeClr val="dk1"/>
                          </a:solidFill>
                          <a:latin typeface="Cabin"/>
                          <a:ea typeface="Cabin"/>
                          <a:cs typeface="Cabin"/>
                          <a:sym typeface="Cabin"/>
                        </a:rPr>
                        <a:t>El turismo es motor económico de Chile, pero depende mucho de la estabilidad política y social. </a:t>
                      </a:r>
                      <a:r>
                        <a:rPr lang="es-CL" sz="900" i="1" u="sng" strike="noStrike" cap="none">
                          <a:solidFill>
                            <a:schemeClr val="hlink"/>
                          </a:solidFill>
                          <a:latin typeface="Cabin"/>
                          <a:ea typeface="Cabin"/>
                          <a:cs typeface="Cabin"/>
                          <a:sym typeface="Cabin"/>
                          <a:hlinkClick r:id="rId3"/>
                        </a:rPr>
                        <a:t>WorldTravel&amp;tourismCouncil</a:t>
                      </a:r>
                      <a:r>
                        <a:rPr lang="es-CL" sz="900" i="1" u="none" strike="noStrike" cap="none">
                          <a:solidFill>
                            <a:schemeClr val="dk1"/>
                          </a:solidFill>
                          <a:latin typeface="Cabin"/>
                          <a:ea typeface="Cabin"/>
                          <a:cs typeface="Cabin"/>
                          <a:sym typeface="Cabin"/>
                        </a:rPr>
                        <a:t> </a:t>
                      </a:r>
                      <a:br>
                        <a:rPr lang="es-CL" sz="900" i="1" u="none" strike="noStrike" cap="none">
                          <a:solidFill>
                            <a:schemeClr val="dk1"/>
                          </a:solidFill>
                          <a:latin typeface="Cabin"/>
                          <a:ea typeface="Cabin"/>
                          <a:cs typeface="Cabin"/>
                          <a:sym typeface="Cabin"/>
                        </a:rPr>
                      </a:br>
                      <a:r>
                        <a:rPr lang="es-CL" sz="900" i="1" u="sng" strike="noStrike" cap="none">
                          <a:solidFill>
                            <a:schemeClr val="hlink"/>
                          </a:solidFill>
                          <a:latin typeface="Cabin"/>
                          <a:ea typeface="Cabin"/>
                          <a:cs typeface="Cabin"/>
                          <a:sym typeface="Cabin"/>
                          <a:hlinkClick r:id="rId4"/>
                        </a:rPr>
                        <a:t>Subsecretaria de Turismo</a:t>
                      </a:r>
                      <a:endParaRPr sz="900" i="1" u="none" strike="noStrike" cap="none">
                        <a:solidFill>
                          <a:schemeClr val="dk1"/>
                        </a:solidFill>
                        <a:latin typeface="Cabin"/>
                        <a:ea typeface="Cabin"/>
                        <a:cs typeface="Cabin"/>
                        <a:sym typeface="Cabin"/>
                      </a:endParaRPr>
                    </a:p>
                    <a:p>
                      <a:pPr marL="76200" marR="101600" lvl="0" indent="0" algn="l" rtl="0">
                        <a:lnSpc>
                          <a:spcPct val="115000"/>
                        </a:lnSpc>
                        <a:spcBef>
                          <a:spcPts val="1100"/>
                        </a:spcBef>
                        <a:spcAft>
                          <a:spcPts val="0"/>
                        </a:spcAft>
                        <a:buClr>
                          <a:schemeClr val="dk1"/>
                        </a:buClr>
                        <a:buSzPts val="1000"/>
                        <a:buFont typeface="Arial"/>
                        <a:buNone/>
                      </a:pPr>
                      <a:r>
                        <a:rPr lang="es-CL" sz="900" i="1" u="none" strike="noStrike" cap="none">
                          <a:solidFill>
                            <a:schemeClr val="dk1"/>
                          </a:solidFill>
                          <a:latin typeface="Cabin"/>
                          <a:ea typeface="Cabin"/>
                          <a:cs typeface="Cabin"/>
                          <a:sym typeface="Cabin"/>
                        </a:rPr>
                        <a:t>En foros como Reddit, usuarios expresan dificultades para encontrar grupos de trekking confiables. </a:t>
                      </a:r>
                      <a:endParaRPr sz="900" i="1" u="none" strike="noStrike" cap="none">
                        <a:solidFill>
                          <a:schemeClr val="dk1"/>
                        </a:solidFill>
                        <a:latin typeface="Cabin"/>
                        <a:ea typeface="Cabin"/>
                        <a:cs typeface="Cabin"/>
                        <a:sym typeface="Cabin"/>
                      </a:endParaRPr>
                    </a:p>
                    <a:p>
                      <a:pPr marL="76200" marR="101600" lvl="0" indent="0" algn="l" rtl="0">
                        <a:lnSpc>
                          <a:spcPct val="115000"/>
                        </a:lnSpc>
                        <a:spcBef>
                          <a:spcPts val="1100"/>
                        </a:spcBef>
                        <a:spcAft>
                          <a:spcPts val="0"/>
                        </a:spcAft>
                        <a:buClr>
                          <a:schemeClr val="dk1"/>
                        </a:buClr>
                        <a:buSzPts val="1000"/>
                        <a:buFont typeface="Arial"/>
                        <a:buNone/>
                      </a:pPr>
                      <a:r>
                        <a:rPr lang="es-CL" sz="900" i="1" u="none" strike="noStrike" cap="none">
                          <a:solidFill>
                            <a:schemeClr val="dk1"/>
                          </a:solidFill>
                          <a:latin typeface="Cabin"/>
                          <a:ea typeface="Cabin"/>
                          <a:cs typeface="Cabin"/>
                          <a:sym typeface="Cabin"/>
                        </a:rPr>
                        <a:t>Un usuario comenta:</a:t>
                      </a:r>
                      <a:r>
                        <a:rPr lang="es-CL" sz="900" i="1">
                          <a:solidFill>
                            <a:schemeClr val="dk1"/>
                          </a:solidFill>
                          <a:latin typeface="Cabin"/>
                          <a:ea typeface="Cabin"/>
                          <a:cs typeface="Cabin"/>
                          <a:sym typeface="Cabin"/>
                        </a:rPr>
                        <a:t> </a:t>
                      </a:r>
                      <a:r>
                        <a:rPr lang="es-CL" sz="900" i="1" u="none" strike="noStrike" cap="none">
                          <a:solidFill>
                            <a:schemeClr val="dk1"/>
                          </a:solidFill>
                          <a:latin typeface="Cabin"/>
                          <a:ea typeface="Cabin"/>
                          <a:cs typeface="Cabin"/>
                          <a:sym typeface="Cabin"/>
                        </a:rPr>
                        <a:t>“Básicamente me he interesado mucho por el trekking últimamente... sin embargo, no tengo con quien</a:t>
                      </a:r>
                      <a:r>
                        <a:rPr lang="es-CL" sz="900" i="1">
                          <a:solidFill>
                            <a:schemeClr val="dk1"/>
                          </a:solidFill>
                          <a:latin typeface="Cabin"/>
                          <a:ea typeface="Cabin"/>
                          <a:cs typeface="Cabin"/>
                          <a:sym typeface="Cabin"/>
                        </a:rPr>
                        <a:t> ir</a:t>
                      </a:r>
                      <a:r>
                        <a:rPr lang="es-CL" sz="900" i="1" u="none" strike="noStrike" cap="none">
                          <a:solidFill>
                            <a:schemeClr val="dk1"/>
                          </a:solidFill>
                          <a:latin typeface="Cabin"/>
                          <a:ea typeface="Cabin"/>
                          <a:cs typeface="Cabin"/>
                          <a:sym typeface="Cabin"/>
                        </a:rPr>
                        <a:t>.”</a:t>
                      </a:r>
                      <a:br>
                        <a:rPr lang="es-CL" sz="900" i="1" u="none" strike="noStrike" cap="none">
                          <a:solidFill>
                            <a:schemeClr val="dk1"/>
                          </a:solidFill>
                          <a:latin typeface="Cabin"/>
                          <a:ea typeface="Cabin"/>
                          <a:cs typeface="Cabin"/>
                          <a:sym typeface="Cabin"/>
                        </a:rPr>
                      </a:br>
                      <a:r>
                        <a:rPr lang="es-CL" sz="900" i="1" u="none" strike="noStrike" cap="none">
                          <a:solidFill>
                            <a:schemeClr val="dk1"/>
                          </a:solidFill>
                          <a:latin typeface="Cabin"/>
                          <a:ea typeface="Cabin"/>
                          <a:cs typeface="Cabin"/>
                          <a:sym typeface="Cabin"/>
                        </a:rPr>
                        <a:t>Otro señala que aunque existen clubes, acceder requiere referencias previas, lo que dificulta la participación independiente” </a:t>
                      </a:r>
                      <a:r>
                        <a:rPr lang="es-CL" sz="900" i="1" u="sng" strike="noStrike" cap="none">
                          <a:solidFill>
                            <a:schemeClr val="hlink"/>
                          </a:solidFill>
                          <a:latin typeface="Cabin"/>
                          <a:ea typeface="Cabin"/>
                          <a:cs typeface="Cabin"/>
                          <a:sym typeface="Cabin"/>
                          <a:hlinkClick r:id="rId5"/>
                        </a:rPr>
                        <a:t>Reddit</a:t>
                      </a:r>
                      <a:endParaRPr sz="900" i="1" u="none" strike="noStrike" cap="none">
                        <a:solidFill>
                          <a:schemeClr val="dk1"/>
                        </a:solidFill>
                        <a:latin typeface="Cabin"/>
                        <a:ea typeface="Cabin"/>
                        <a:cs typeface="Cabin"/>
                        <a:sym typeface="Cabin"/>
                      </a:endParaRPr>
                    </a:p>
                    <a:p>
                      <a:pPr marL="76200" marR="101600" lvl="0" indent="0" algn="l" rtl="0">
                        <a:lnSpc>
                          <a:spcPct val="115000"/>
                        </a:lnSpc>
                        <a:spcBef>
                          <a:spcPts val="1100"/>
                        </a:spcBef>
                        <a:spcAft>
                          <a:spcPts val="0"/>
                        </a:spcAft>
                        <a:buClr>
                          <a:schemeClr val="dk1"/>
                        </a:buClr>
                        <a:buSzPts val="1000"/>
                        <a:buFont typeface="Arial"/>
                        <a:buNone/>
                      </a:pPr>
                      <a:r>
                        <a:rPr lang="es-CL" sz="900" i="1" u="none" strike="noStrike" cap="none">
                          <a:solidFill>
                            <a:schemeClr val="dk1"/>
                          </a:solidFill>
                          <a:latin typeface="Cabin"/>
                          <a:ea typeface="Cabin"/>
                          <a:cs typeface="Cabin"/>
                          <a:sym typeface="Cabin"/>
                        </a:rPr>
                        <a:t>Consejos para hacer un trekking seguro:</a:t>
                      </a:r>
                      <a:br>
                        <a:rPr lang="es-CL" sz="900" i="1" u="none" strike="noStrike" cap="none">
                          <a:solidFill>
                            <a:schemeClr val="dk1"/>
                          </a:solidFill>
                          <a:latin typeface="Cabin"/>
                          <a:ea typeface="Cabin"/>
                          <a:cs typeface="Cabin"/>
                          <a:sym typeface="Cabin"/>
                        </a:rPr>
                      </a:br>
                      <a:r>
                        <a:rPr lang="es-CL" sz="900" i="1" u="none" strike="noStrike" cap="none">
                          <a:solidFill>
                            <a:schemeClr val="dk1"/>
                          </a:solidFill>
                          <a:latin typeface="Cabin"/>
                          <a:ea typeface="Cabin"/>
                          <a:cs typeface="Cabin"/>
                          <a:sym typeface="Cabin"/>
                        </a:rPr>
                        <a:t>“Ir sólo es peligroso... recomienda realizar excursiones de a dos o tres personas.” (U. San Sebastián) </a:t>
                      </a:r>
                      <a:r>
                        <a:rPr lang="es-CL" sz="900" i="1" u="sng" strike="noStrike" cap="none">
                          <a:solidFill>
                            <a:schemeClr val="hlink"/>
                          </a:solidFill>
                          <a:latin typeface="Cabin"/>
                          <a:ea typeface="Cabin"/>
                          <a:cs typeface="Cabin"/>
                          <a:sym typeface="Cabin"/>
                          <a:hlinkClick r:id="rId6"/>
                        </a:rPr>
                        <a:t>ipsuss.cl</a:t>
                      </a:r>
                      <a:endParaRPr sz="900" i="1" u="none" strike="noStrike" cap="none">
                        <a:solidFill>
                          <a:schemeClr val="dk1"/>
                        </a:solidFill>
                        <a:latin typeface="Cabin"/>
                        <a:ea typeface="Cabin"/>
                        <a:cs typeface="Cabin"/>
                        <a:sym typeface="Cabin"/>
                      </a:endParaRPr>
                    </a:p>
                    <a:p>
                      <a:pPr marL="76200" marR="101600" lvl="0" indent="0" algn="l" rtl="0">
                        <a:lnSpc>
                          <a:spcPct val="115000"/>
                        </a:lnSpc>
                        <a:spcBef>
                          <a:spcPts val="1100"/>
                        </a:spcBef>
                        <a:spcAft>
                          <a:spcPts val="0"/>
                        </a:spcAft>
                        <a:buClr>
                          <a:schemeClr val="dk1"/>
                        </a:buClr>
                        <a:buSzPts val="1000"/>
                        <a:buFont typeface="Arial"/>
                        <a:buNone/>
                      </a:pPr>
                      <a:r>
                        <a:rPr lang="es-CL" sz="900" i="1" u="none" strike="noStrike" cap="none">
                          <a:solidFill>
                            <a:schemeClr val="dk1"/>
                          </a:solidFill>
                          <a:latin typeface="Cabin"/>
                          <a:ea typeface="Cabin"/>
                          <a:cs typeface="Cabin"/>
                          <a:sym typeface="Cabin"/>
                        </a:rPr>
                        <a:t>Socorro Andino: Rescates en cerros de Santiago pasaron de uno al mes a cuatro semanales en cinco años”, donde se destaca que, en la Región Metropolitana, los rescates pasaron de ser </a:t>
                      </a:r>
                      <a:r>
                        <a:rPr lang="es-CL" sz="900" b="1" i="1" u="none" strike="noStrike" cap="none">
                          <a:solidFill>
                            <a:schemeClr val="dk1"/>
                          </a:solidFill>
                          <a:latin typeface="Cabin"/>
                          <a:ea typeface="Cabin"/>
                          <a:cs typeface="Cabin"/>
                          <a:sym typeface="Cabin"/>
                        </a:rPr>
                        <a:t>uno mensual a cuatro cada semana</a:t>
                      </a:r>
                      <a:r>
                        <a:rPr lang="es-CL" sz="900" i="1" u="none" strike="noStrike" cap="none">
                          <a:solidFill>
                            <a:schemeClr val="dk1"/>
                          </a:solidFill>
                          <a:latin typeface="Cabin"/>
                          <a:ea typeface="Cabin"/>
                          <a:cs typeface="Cabin"/>
                          <a:sym typeface="Cabin"/>
                        </a:rPr>
                        <a:t>, según lo señalado por el jefe nacional de Socorro Andino, Roberto Quiroz </a:t>
                      </a:r>
                      <a:r>
                        <a:rPr lang="es-CL" sz="900" i="1" u="sng" strike="noStrike" cap="none">
                          <a:solidFill>
                            <a:schemeClr val="hlink"/>
                          </a:solidFill>
                          <a:latin typeface="Cabin"/>
                          <a:ea typeface="Cabin"/>
                          <a:cs typeface="Cabin"/>
                          <a:sym typeface="Cabin"/>
                          <a:hlinkClick r:id="rId7"/>
                        </a:rPr>
                        <a:t>EMOL</a:t>
                      </a:r>
                      <a:r>
                        <a:rPr lang="es-CL" sz="900" i="1" u="none" strike="noStrike" cap="none">
                          <a:solidFill>
                            <a:schemeClr val="dk1"/>
                          </a:solidFill>
                          <a:latin typeface="Cabin"/>
                          <a:ea typeface="Cabin"/>
                          <a:cs typeface="Cabin"/>
                          <a:sym typeface="Cabin"/>
                        </a:rPr>
                        <a:t> </a:t>
                      </a:r>
                      <a:endParaRPr sz="900" i="1" u="none" strike="noStrike" cap="none">
                        <a:solidFill>
                          <a:schemeClr val="dk1"/>
                        </a:solidFill>
                        <a:latin typeface="Cabin"/>
                        <a:ea typeface="Cabin"/>
                        <a:cs typeface="Cabin"/>
                        <a:sym typeface="Cabin"/>
                      </a:endParaRPr>
                    </a:p>
                  </a:txBody>
                  <a:tcPr marL="7700" marR="7700" marT="8175" marB="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1"/>
                    </a:solidFill>
                  </a:tcPr>
                </a:tc>
                <a:tc>
                  <a:txBody>
                    <a:bodyPr/>
                    <a:lstStyle/>
                    <a:p>
                      <a:pPr marL="76200" marR="101600" lvl="0" indent="0" algn="l" rtl="0">
                        <a:lnSpc>
                          <a:spcPct val="100000"/>
                        </a:lnSpc>
                        <a:spcBef>
                          <a:spcPts val="0"/>
                        </a:spcBef>
                        <a:spcAft>
                          <a:spcPts val="0"/>
                        </a:spcAft>
                        <a:buClr>
                          <a:srgbClr val="000000"/>
                        </a:buClr>
                        <a:buSzPts val="1100"/>
                        <a:buFont typeface="Arial"/>
                        <a:buNone/>
                      </a:pPr>
                      <a:r>
                        <a:rPr lang="es-CL" sz="900" b="1" i="1" u="none" strike="noStrike" cap="none">
                          <a:solidFill>
                            <a:schemeClr val="dk1"/>
                          </a:solidFill>
                          <a:latin typeface="Cabin"/>
                          <a:ea typeface="Cabin"/>
                          <a:cs typeface="Cabin"/>
                          <a:sym typeface="Cabin"/>
                        </a:rPr>
                        <a:t>Personas mayor de edad aficionadas al trekking que no tienen compañía</a:t>
                      </a:r>
                      <a:br>
                        <a:rPr lang="es-CL" sz="900" b="1" i="1" u="none" strike="noStrike" cap="none">
                          <a:solidFill>
                            <a:schemeClr val="dk1"/>
                          </a:solidFill>
                          <a:latin typeface="Cabin"/>
                          <a:ea typeface="Cabin"/>
                          <a:cs typeface="Cabin"/>
                          <a:sym typeface="Cabin"/>
                        </a:rPr>
                      </a:br>
                      <a:r>
                        <a:rPr lang="es-CL" sz="900" i="1" u="none" strike="noStrike" cap="none">
                          <a:solidFill>
                            <a:schemeClr val="dk1"/>
                          </a:solidFill>
                          <a:latin typeface="Cabin"/>
                          <a:ea typeface="Cabin"/>
                          <a:cs typeface="Cabin"/>
                          <a:sym typeface="Cabin"/>
                        </a:rPr>
                        <a:t>No pueden realizar la actividad por inseguridad al</a:t>
                      </a:r>
                      <a:r>
                        <a:rPr lang="es-CL" sz="900" i="1">
                          <a:solidFill>
                            <a:schemeClr val="dk1"/>
                          </a:solidFill>
                          <a:latin typeface="Cabin"/>
                          <a:ea typeface="Cabin"/>
                          <a:cs typeface="Cabin"/>
                          <a:sym typeface="Cabin"/>
                        </a:rPr>
                        <a:t> </a:t>
                      </a:r>
                      <a:r>
                        <a:rPr lang="es-CL" sz="900" i="1" u="none" strike="noStrike" cap="none">
                          <a:solidFill>
                            <a:schemeClr val="dk1"/>
                          </a:solidFill>
                          <a:latin typeface="Cabin"/>
                          <a:ea typeface="Cabin"/>
                          <a:cs typeface="Cabin"/>
                          <a:sym typeface="Cabin"/>
                        </a:rPr>
                        <a:t>salir solos.</a:t>
                      </a:r>
                      <a:br>
                        <a:rPr lang="es-CL" sz="900" i="1" u="none" strike="noStrike" cap="none">
                          <a:solidFill>
                            <a:schemeClr val="dk1"/>
                          </a:solidFill>
                          <a:latin typeface="Cabin"/>
                          <a:ea typeface="Cabin"/>
                          <a:cs typeface="Cabin"/>
                          <a:sym typeface="Cabin"/>
                        </a:rPr>
                      </a:br>
                      <a:r>
                        <a:rPr lang="es-CL" sz="900" i="1" u="none" strike="noStrike" cap="none">
                          <a:solidFill>
                            <a:schemeClr val="dk1"/>
                          </a:solidFill>
                          <a:latin typeface="Cabin"/>
                          <a:ea typeface="Cabin"/>
                          <a:cs typeface="Cabin"/>
                          <a:sym typeface="Cabin"/>
                        </a:rPr>
                        <a:t>Esto limita su acceso a la naturaleza y a una vida más activa y saludable.</a:t>
                      </a:r>
                      <a:br>
                        <a:rPr lang="es-CL" sz="900" i="1" u="none" strike="noStrike" cap="none">
                          <a:solidFill>
                            <a:schemeClr val="dk1"/>
                          </a:solidFill>
                          <a:latin typeface="Cabin"/>
                          <a:ea typeface="Cabin"/>
                          <a:cs typeface="Cabin"/>
                          <a:sym typeface="Cabin"/>
                        </a:rPr>
                      </a:br>
                      <a:endParaRPr sz="900" i="1" u="none" strike="noStrike" cap="none">
                        <a:solidFill>
                          <a:schemeClr val="dk1"/>
                        </a:solidFill>
                        <a:latin typeface="Cabin"/>
                        <a:ea typeface="Cabin"/>
                        <a:cs typeface="Cabin"/>
                        <a:sym typeface="Cabin"/>
                      </a:endParaRPr>
                    </a:p>
                    <a:p>
                      <a:pPr marL="76200" marR="101600" lvl="0" indent="0" algn="l" rtl="0">
                        <a:lnSpc>
                          <a:spcPct val="115000"/>
                        </a:lnSpc>
                        <a:spcBef>
                          <a:spcPts val="0"/>
                        </a:spcBef>
                        <a:spcAft>
                          <a:spcPts val="0"/>
                        </a:spcAft>
                        <a:buClr>
                          <a:schemeClr val="dk1"/>
                        </a:buClr>
                        <a:buSzPts val="1000"/>
                        <a:buFont typeface="Arial"/>
                        <a:buNone/>
                      </a:pPr>
                      <a:r>
                        <a:rPr lang="es-CL" sz="900" b="1" i="1" u="none" strike="noStrike" cap="none">
                          <a:solidFill>
                            <a:schemeClr val="dk1"/>
                          </a:solidFill>
                          <a:latin typeface="Cabin"/>
                          <a:ea typeface="Cabin"/>
                          <a:cs typeface="Cabin"/>
                          <a:sym typeface="Cabin"/>
                        </a:rPr>
                        <a:t>Excursionistas principiantes </a:t>
                      </a:r>
                      <a:r>
                        <a:rPr lang="es-CL" sz="900" b="1" i="1">
                          <a:solidFill>
                            <a:schemeClr val="dk1"/>
                          </a:solidFill>
                          <a:latin typeface="Cabin"/>
                          <a:ea typeface="Cabin"/>
                          <a:cs typeface="Cabin"/>
                          <a:sym typeface="Cabin"/>
                        </a:rPr>
                        <a:t>mayores de edad </a:t>
                      </a:r>
                      <a:br>
                        <a:rPr lang="es-CL" sz="900" b="1" i="1" u="none" strike="noStrike" cap="none">
                          <a:solidFill>
                            <a:schemeClr val="dk1"/>
                          </a:solidFill>
                          <a:latin typeface="Cabin"/>
                          <a:ea typeface="Cabin"/>
                          <a:cs typeface="Cabin"/>
                          <a:sym typeface="Cabin"/>
                        </a:rPr>
                      </a:br>
                      <a:r>
                        <a:rPr lang="es-CL" sz="900" i="1" u="none" strike="noStrike" cap="none">
                          <a:solidFill>
                            <a:schemeClr val="dk1"/>
                          </a:solidFill>
                          <a:latin typeface="Cabin"/>
                          <a:ea typeface="Cabin"/>
                          <a:cs typeface="Cabin"/>
                          <a:sym typeface="Cabin"/>
                        </a:rPr>
                        <a:t>Al no contar con alguien con experiencia que los guíe, enfrentan más riesgos de accidentes y desorientación.</a:t>
                      </a:r>
                      <a:br>
                        <a:rPr lang="es-CL" sz="900" i="1" u="none" strike="noStrike" cap="none">
                          <a:solidFill>
                            <a:schemeClr val="dk1"/>
                          </a:solidFill>
                          <a:latin typeface="Cabin"/>
                          <a:ea typeface="Cabin"/>
                          <a:cs typeface="Cabin"/>
                          <a:sym typeface="Cabin"/>
                        </a:rPr>
                      </a:br>
                      <a:endParaRPr sz="900" i="1" u="none" strike="noStrike" cap="none">
                        <a:solidFill>
                          <a:schemeClr val="dk1"/>
                        </a:solidFill>
                        <a:latin typeface="Cabin"/>
                        <a:ea typeface="Cabin"/>
                        <a:cs typeface="Cabin"/>
                        <a:sym typeface="Cabin"/>
                      </a:endParaRPr>
                    </a:p>
                    <a:p>
                      <a:pPr marL="0" marR="0" lvl="0" indent="0" algn="l" rtl="0">
                        <a:lnSpc>
                          <a:spcPct val="115000"/>
                        </a:lnSpc>
                        <a:spcBef>
                          <a:spcPts val="0"/>
                        </a:spcBef>
                        <a:spcAft>
                          <a:spcPts val="0"/>
                        </a:spcAft>
                        <a:buClr>
                          <a:schemeClr val="dk1"/>
                        </a:buClr>
                        <a:buSzPts val="1000"/>
                        <a:buFont typeface="Arial"/>
                        <a:buNone/>
                      </a:pPr>
                      <a:endParaRPr sz="900" i="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1100"/>
                        <a:buFont typeface="Arial"/>
                        <a:buNone/>
                      </a:pPr>
                      <a:endParaRPr sz="900" i="1" u="none" strike="noStrike" cap="none">
                        <a:solidFill>
                          <a:schemeClr val="dk1"/>
                        </a:solidFill>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6050">
                <a:tc gridSpan="3">
                  <a:txBody>
                    <a:bodyPr/>
                    <a:lstStyle/>
                    <a:p>
                      <a:pPr marL="0" marR="0" lvl="0" indent="0" algn="ctr" rtl="0">
                        <a:lnSpc>
                          <a:spcPct val="100000"/>
                        </a:lnSpc>
                        <a:spcBef>
                          <a:spcPts val="0"/>
                        </a:spcBef>
                        <a:spcAft>
                          <a:spcPts val="0"/>
                        </a:spcAft>
                        <a:buClr>
                          <a:srgbClr val="000000"/>
                        </a:buClr>
                        <a:buSzPts val="1100"/>
                        <a:buFont typeface="Arial"/>
                        <a:buNone/>
                      </a:pPr>
                      <a:r>
                        <a:rPr lang="es-CL" sz="900" b="1" u="none" strike="noStrike" cap="none">
                          <a:latin typeface="Cabin"/>
                          <a:ea typeface="Cabin"/>
                          <a:cs typeface="Cabin"/>
                          <a:sym typeface="Cabin"/>
                        </a:rPr>
                        <a:t>Plantear el problema con una pregunta ¿Cómo podríamos…? </a:t>
                      </a:r>
                      <a:endParaRPr sz="900" b="1" u="none" strike="noStrike" cap="none">
                        <a:latin typeface="Cabin"/>
                        <a:ea typeface="Cabin"/>
                        <a:cs typeface="Cabin"/>
                        <a:sym typeface="Cabin"/>
                      </a:endParaRPr>
                    </a:p>
                    <a:p>
                      <a:pPr marL="2209800" marR="0" lvl="0" indent="0" algn="l" rtl="0">
                        <a:lnSpc>
                          <a:spcPct val="100000"/>
                        </a:lnSpc>
                        <a:spcBef>
                          <a:spcPts val="0"/>
                        </a:spcBef>
                        <a:spcAft>
                          <a:spcPts val="0"/>
                        </a:spcAft>
                        <a:buClr>
                          <a:srgbClr val="000000"/>
                        </a:buClr>
                        <a:buSzPts val="1100"/>
                        <a:buFont typeface="Arial"/>
                        <a:buNone/>
                      </a:pPr>
                      <a:r>
                        <a:rPr lang="es-CL" sz="900" i="1" u="none" strike="noStrike" cap="none">
                          <a:latin typeface="Cabin"/>
                          <a:ea typeface="Cabin"/>
                          <a:cs typeface="Cabin"/>
                          <a:sym typeface="Cabin"/>
                        </a:rPr>
                        <a:t>Ejemplo:    “¿Cómo podríamos </a:t>
                      </a:r>
                      <a:r>
                        <a:rPr lang="es-CL" sz="900" i="1" u="none" strike="noStrike" cap="none">
                          <a:solidFill>
                            <a:srgbClr val="5C5DD4"/>
                          </a:solidFill>
                          <a:latin typeface="Cabin"/>
                          <a:ea typeface="Cabin"/>
                          <a:cs typeface="Cabin"/>
                          <a:sym typeface="Cabin"/>
                        </a:rPr>
                        <a:t>mejorar la seguridad de los ciclistas en la avenida troncal?”</a:t>
                      </a:r>
                      <a:endParaRPr sz="900" i="1" u="none" strike="noStrike" cap="none">
                        <a:solidFill>
                          <a:srgbClr val="5C5DD4"/>
                        </a:solidFill>
                        <a:latin typeface="Cabin"/>
                        <a:ea typeface="Cabin"/>
                        <a:cs typeface="Cabin"/>
                        <a:sym typeface="Cabin"/>
                      </a:endParaRPr>
                    </a:p>
                    <a:p>
                      <a:pPr marL="2209800" marR="0" lvl="0" indent="0" algn="l" rtl="0">
                        <a:lnSpc>
                          <a:spcPct val="100000"/>
                        </a:lnSpc>
                        <a:spcBef>
                          <a:spcPts val="0"/>
                        </a:spcBef>
                        <a:spcAft>
                          <a:spcPts val="0"/>
                        </a:spcAft>
                        <a:buClr>
                          <a:srgbClr val="000000"/>
                        </a:buClr>
                        <a:buSzPts val="1100"/>
                        <a:buFont typeface="Arial"/>
                        <a:buNone/>
                      </a:pPr>
                      <a:r>
                        <a:rPr lang="es-CL" sz="900" i="1">
                          <a:latin typeface="Cabin"/>
                          <a:ea typeface="Cabin"/>
                          <a:cs typeface="Cabin"/>
                          <a:sym typeface="Cabin"/>
                        </a:rPr>
                        <a:t>                    </a:t>
                      </a:r>
                      <a:r>
                        <a:rPr lang="es-CL" sz="900" i="1" u="none" strike="noStrike" cap="none">
                          <a:latin typeface="Cabin"/>
                          <a:ea typeface="Cabin"/>
                          <a:cs typeface="Cabin"/>
                          <a:sym typeface="Cabin"/>
                        </a:rPr>
                        <a:t>“¿Cómo podríamos </a:t>
                      </a:r>
                      <a:r>
                        <a:rPr lang="es-CL" sz="900" i="1" u="none" strike="noStrike" cap="none">
                          <a:solidFill>
                            <a:srgbClr val="5C5DD4"/>
                          </a:solidFill>
                          <a:latin typeface="Cabin"/>
                          <a:ea typeface="Cabin"/>
                          <a:cs typeface="Cabin"/>
                          <a:sym typeface="Cabin"/>
                        </a:rPr>
                        <a:t>disminuir los problemas del desperdicio de agua en espacios públicos?”</a:t>
                      </a:r>
                      <a:endParaRPr sz="900" i="1" u="none" strike="noStrike" cap="none">
                        <a:solidFill>
                          <a:srgbClr val="5C5DD4"/>
                        </a:solidFill>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2"/>
                  </a:ext>
                </a:extLst>
              </a:tr>
              <a:tr h="975450">
                <a:tc gridSpan="3">
                  <a:txBody>
                    <a:bodyPr/>
                    <a:lstStyle/>
                    <a:p>
                      <a:pPr marL="0" marR="0" lvl="0" indent="0" algn="ctr" rtl="0">
                        <a:lnSpc>
                          <a:spcPct val="100000"/>
                        </a:lnSpc>
                        <a:spcBef>
                          <a:spcPts val="0"/>
                        </a:spcBef>
                        <a:spcAft>
                          <a:spcPts val="0"/>
                        </a:spcAft>
                        <a:buClr>
                          <a:srgbClr val="000000"/>
                        </a:buClr>
                        <a:buSzPts val="1100"/>
                        <a:buFont typeface="Arial"/>
                        <a:buNone/>
                      </a:pPr>
                      <a:r>
                        <a:rPr lang="es-CL" sz="900" u="none" strike="noStrike" cap="none">
                          <a:latin typeface="Cabin"/>
                          <a:ea typeface="Cabin"/>
                          <a:cs typeface="Cabin"/>
                          <a:sym typeface="Cabin"/>
                        </a:rPr>
                        <a:t> ¿Cómo podríamos conectar a personas interesadas en hacer trekking para que puedan organizarse en grupo y realizar las actividades </a:t>
                      </a:r>
                      <a:endParaRPr sz="900" u="none" strike="noStrike" cap="none">
                        <a:latin typeface="Cabin"/>
                        <a:ea typeface="Cabin"/>
                        <a:cs typeface="Cabin"/>
                        <a:sym typeface="Cabin"/>
                      </a:endParaRPr>
                    </a:p>
                    <a:p>
                      <a:pPr marL="0" marR="0" lvl="0" indent="0" algn="ctr" rtl="0">
                        <a:lnSpc>
                          <a:spcPct val="100000"/>
                        </a:lnSpc>
                        <a:spcBef>
                          <a:spcPts val="0"/>
                        </a:spcBef>
                        <a:spcAft>
                          <a:spcPts val="0"/>
                        </a:spcAft>
                        <a:buClr>
                          <a:srgbClr val="000000"/>
                        </a:buClr>
                        <a:buSzPts val="1100"/>
                        <a:buFont typeface="Arial"/>
                        <a:buNone/>
                      </a:pPr>
                      <a:r>
                        <a:rPr lang="es-CL" sz="900" u="none" strike="noStrike" cap="none">
                          <a:latin typeface="Cabin"/>
                          <a:ea typeface="Cabin"/>
                          <a:cs typeface="Cabin"/>
                          <a:sym typeface="Cabin"/>
                        </a:rPr>
                        <a:t>de forma colaborativa y segura en las rutas de trekking habilitadas en Santiag</a:t>
                      </a:r>
                      <a:r>
                        <a:rPr lang="es-CL" sz="900">
                          <a:latin typeface="Cabin"/>
                          <a:ea typeface="Cabin"/>
                          <a:cs typeface="Cabin"/>
                          <a:sym typeface="Cabin"/>
                        </a:rPr>
                        <a:t>o </a:t>
                      </a:r>
                      <a:r>
                        <a:rPr lang="es-CL" sz="900" u="none" strike="noStrike" cap="none">
                          <a:latin typeface="Cabin"/>
                          <a:ea typeface="Cabin"/>
                          <a:cs typeface="Cabin"/>
                          <a:sym typeface="Cabin"/>
                        </a:rPr>
                        <a:t>de Chile?</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900" u="none" strike="noStrike" cap="none">
                        <a:latin typeface="Cabin"/>
                        <a:ea typeface="Cabin"/>
                        <a:cs typeface="Cabin"/>
                        <a:sym typeface="Cabin"/>
                      </a:endParaRPr>
                    </a:p>
                  </a:txBody>
                  <a:tcPr marL="7700" marR="7700" marT="8175" marB="0" anchor="ctr">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chemeClr val="lt1"/>
                    </a:solidFill>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f6d87f1187_0_320"/>
          <p:cNvSpPr txBox="1">
            <a:spLocks noGrp="1"/>
          </p:cNvSpPr>
          <p:nvPr>
            <p:ph type="title"/>
          </p:nvPr>
        </p:nvSpPr>
        <p:spPr>
          <a:xfrm>
            <a:off x="428021" y="-9"/>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5. PAUTA DE ENTREVISTAS</a:t>
            </a:r>
            <a:endParaRPr sz="1200">
              <a:solidFill>
                <a:srgbClr val="FF0000"/>
              </a:solidFill>
              <a:highlight>
                <a:srgbClr val="5C5DD4"/>
              </a:highlight>
              <a:latin typeface="Comfortaa"/>
              <a:ea typeface="Comfortaa"/>
              <a:cs typeface="Comfortaa"/>
              <a:sym typeface="Comfortaa"/>
            </a:endParaRPr>
          </a:p>
        </p:txBody>
      </p:sp>
      <p:sp>
        <p:nvSpPr>
          <p:cNvPr id="195" name="Google Shape;195;g3f6d87f1187_0_320"/>
          <p:cNvSpPr txBox="1"/>
          <p:nvPr/>
        </p:nvSpPr>
        <p:spPr>
          <a:xfrm>
            <a:off x="431548" y="365236"/>
            <a:ext cx="8606100" cy="2499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P</a:t>
            </a:r>
            <a:r>
              <a:rPr lang="es-CL" sz="1100" b="0" i="0" u="none" strike="noStrike" cap="none">
                <a:solidFill>
                  <a:srgbClr val="000000"/>
                </a:solidFill>
                <a:latin typeface="Cabin"/>
                <a:ea typeface="Cabin"/>
                <a:cs typeface="Cabin"/>
                <a:sym typeface="Cabin"/>
              </a:rPr>
              <a:t>reguntas claras y abiertas</a:t>
            </a:r>
            <a:r>
              <a:rPr lang="es-CL" sz="1100">
                <a:latin typeface="Cabin"/>
                <a:ea typeface="Cabin"/>
                <a:cs typeface="Cabin"/>
                <a:sym typeface="Cabin"/>
              </a:rPr>
              <a:t> en un a</a:t>
            </a:r>
            <a:r>
              <a:rPr lang="es-CL" sz="1100" b="0" i="0" u="none" strike="noStrike" cap="none">
                <a:solidFill>
                  <a:srgbClr val="000000"/>
                </a:solidFill>
                <a:latin typeface="Cabin"/>
                <a:ea typeface="Cabin"/>
                <a:cs typeface="Cabin"/>
                <a:sym typeface="Cabin"/>
              </a:rPr>
              <a:t>mbiente cómodo y de confianza. Escucha activa y notas de las respuestas. </a:t>
            </a:r>
            <a:endParaRPr sz="1100" b="0" i="0" u="none" strike="noStrike" cap="none">
              <a:solidFill>
                <a:srgbClr val="000000"/>
              </a:solidFill>
              <a:latin typeface="Cabin"/>
              <a:ea typeface="Cabin"/>
              <a:cs typeface="Cabin"/>
              <a:sym typeface="Cabin"/>
            </a:endParaRPr>
          </a:p>
        </p:txBody>
      </p:sp>
      <p:graphicFrame>
        <p:nvGraphicFramePr>
          <p:cNvPr id="196" name="Google Shape;196;g3f6d87f1187_0_320"/>
          <p:cNvGraphicFramePr/>
          <p:nvPr/>
        </p:nvGraphicFramePr>
        <p:xfrm>
          <a:off x="375235" y="664719"/>
          <a:ext cx="8393500" cy="6079870"/>
        </p:xfrm>
        <a:graphic>
          <a:graphicData uri="http://schemas.openxmlformats.org/drawingml/2006/table">
            <a:tbl>
              <a:tblPr>
                <a:noFill/>
                <a:tableStyleId>{43D06EDE-987B-4894-A242-B41088D9BEBC}</a:tableStyleId>
              </a:tblPr>
              <a:tblGrid>
                <a:gridCol w="1335875">
                  <a:extLst>
                    <a:ext uri="{9D8B030D-6E8A-4147-A177-3AD203B41FA5}">
                      <a16:colId xmlns:a16="http://schemas.microsoft.com/office/drawing/2014/main" val="20000"/>
                    </a:ext>
                  </a:extLst>
                </a:gridCol>
                <a:gridCol w="2001775">
                  <a:extLst>
                    <a:ext uri="{9D8B030D-6E8A-4147-A177-3AD203B41FA5}">
                      <a16:colId xmlns:a16="http://schemas.microsoft.com/office/drawing/2014/main" val="20001"/>
                    </a:ext>
                  </a:extLst>
                </a:gridCol>
                <a:gridCol w="423575">
                  <a:extLst>
                    <a:ext uri="{9D8B030D-6E8A-4147-A177-3AD203B41FA5}">
                      <a16:colId xmlns:a16="http://schemas.microsoft.com/office/drawing/2014/main" val="20002"/>
                    </a:ext>
                  </a:extLst>
                </a:gridCol>
                <a:gridCol w="524475">
                  <a:extLst>
                    <a:ext uri="{9D8B030D-6E8A-4147-A177-3AD203B41FA5}">
                      <a16:colId xmlns:a16="http://schemas.microsoft.com/office/drawing/2014/main" val="20003"/>
                    </a:ext>
                  </a:extLst>
                </a:gridCol>
                <a:gridCol w="1366650">
                  <a:extLst>
                    <a:ext uri="{9D8B030D-6E8A-4147-A177-3AD203B41FA5}">
                      <a16:colId xmlns:a16="http://schemas.microsoft.com/office/drawing/2014/main" val="20004"/>
                    </a:ext>
                  </a:extLst>
                </a:gridCol>
                <a:gridCol w="902800">
                  <a:extLst>
                    <a:ext uri="{9D8B030D-6E8A-4147-A177-3AD203B41FA5}">
                      <a16:colId xmlns:a16="http://schemas.microsoft.com/office/drawing/2014/main" val="20005"/>
                    </a:ext>
                  </a:extLst>
                </a:gridCol>
                <a:gridCol w="1044650">
                  <a:extLst>
                    <a:ext uri="{9D8B030D-6E8A-4147-A177-3AD203B41FA5}">
                      <a16:colId xmlns:a16="http://schemas.microsoft.com/office/drawing/2014/main" val="20006"/>
                    </a:ext>
                  </a:extLst>
                </a:gridCol>
                <a:gridCol w="793700">
                  <a:extLst>
                    <a:ext uri="{9D8B030D-6E8A-4147-A177-3AD203B41FA5}">
                      <a16:colId xmlns:a16="http://schemas.microsoft.com/office/drawing/2014/main" val="20007"/>
                    </a:ext>
                  </a:extLst>
                </a:gridCol>
              </a:tblGrid>
              <a:tr h="391800">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Nombre entrevistado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Felipe Villanueva</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Registro utilizado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b="1" i="1" u="none" strike="noStrike" cap="none">
                          <a:solidFill>
                            <a:schemeClr val="dk1"/>
                          </a:solidFill>
                          <a:latin typeface="Cabin"/>
                          <a:ea typeface="Cabin"/>
                          <a:cs typeface="Cabin"/>
                          <a:sym typeface="Cabin"/>
                        </a:rPr>
                        <a:t>Audio de grabación </a:t>
                      </a:r>
                      <a:endParaRPr sz="1100" b="1" i="1" u="none" strike="noStrike" cap="none">
                        <a:solidFill>
                          <a:schemeClr val="dk1"/>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r h="391800">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Mail de contacto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fe.villanueval@duocuc.cl</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Hora de inicio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20:20</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900" b="1" u="none" strike="noStrike" cap="none">
                          <a:solidFill>
                            <a:srgbClr val="000000"/>
                          </a:solidFill>
                          <a:latin typeface="Cabin"/>
                          <a:ea typeface="Cabin"/>
                          <a:cs typeface="Cabin"/>
                          <a:sym typeface="Cabin"/>
                        </a:rPr>
                        <a:t>Hora de término</a:t>
                      </a:r>
                      <a:endParaRPr sz="9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20:24</a:t>
                      </a:r>
                      <a:endParaRPr sz="9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391800">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Ocupación</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Estudiante Ingeniería en informática - DuocUC San Joaquín</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Edad</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20</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Lugar de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Discord - Llamada personal</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2"/>
                  </a:ext>
                </a:extLst>
              </a:tr>
              <a:tr h="391800">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solidFill>
                            <a:srgbClr val="000000"/>
                          </a:solidFill>
                          <a:latin typeface="Cabin"/>
                          <a:ea typeface="Cabin"/>
                          <a:cs typeface="Cabin"/>
                          <a:sym typeface="Cabin"/>
                        </a:rPr>
                        <a:t>Preguntas claves</a:t>
                      </a:r>
                      <a:endParaRPr sz="1100" b="1" u="none" strike="noStrike" cap="none">
                        <a:solidFill>
                          <a:srgbClr val="000000"/>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Citar frases relevantes de la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3"/>
                  </a:ext>
                </a:extLst>
              </a:tr>
              <a:tr h="4153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1.-¿Qué tan seguido realizas actividades al aire libre como trekking?</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5" gridSpan="4">
                  <a:txBody>
                    <a:bodyPr/>
                    <a:lstStyle/>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-Cada dos semanas hago actividades al aire libre.</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-Más de una vez no se ha concretado viajes por falta de compañía.</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-Estar acompañado sirve para ubicarse sino uno se puede accidentar yendo solo por ahí.</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-Especialmente yo no me he perdido pero si me ha costado encontrar el camino sin señalizaciones.</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-Si seria interesante estar con gente que si sabe y que no tenga experiencia.</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-Lo más seguro que he estado haciendo trekking es en grupo de scout, nos organizaremos por dia, hora, etc..</a:t>
                      </a: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-Si me interesaria participar en alguna comunidad digital, sería interesante.</a:t>
                      </a:r>
                      <a:endParaRPr sz="900" u="none" strike="noStrike" cap="none">
                        <a:latin typeface="Cabin"/>
                        <a:ea typeface="Cabin"/>
                        <a:cs typeface="Cabin"/>
                        <a:sym typeface="Cabin"/>
                      </a:endParaRPr>
                    </a:p>
                  </a:txBody>
                  <a:tcPr marL="30800" marR="30800" marT="43550" marB="43550">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5" hMerge="1">
                  <a:txBody>
                    <a:bodyPr/>
                    <a:lstStyle/>
                    <a:p>
                      <a:endParaRPr lang="es-CL"/>
                    </a:p>
                  </a:txBody>
                  <a:tcPr/>
                </a:tc>
                <a:tc rowSpan="5" hMerge="1">
                  <a:txBody>
                    <a:bodyPr/>
                    <a:lstStyle/>
                    <a:p>
                      <a:endParaRPr lang="es-CL"/>
                    </a:p>
                  </a:txBody>
                  <a:tcPr/>
                </a:tc>
                <a:tc rowSpan="5" hMerge="1">
                  <a:txBody>
                    <a:bodyPr/>
                    <a:lstStyle/>
                    <a:p>
                      <a:endParaRPr lang="es-CL"/>
                    </a:p>
                  </a:txBody>
                  <a:tcPr/>
                </a:tc>
                <a:extLst>
                  <a:ext uri="{0D108BD9-81ED-4DB2-BD59-A6C34878D82A}">
                    <a16:rowId xmlns:a16="http://schemas.microsoft.com/office/drawing/2014/main" val="10004"/>
                  </a:ext>
                </a:extLst>
              </a:tr>
              <a:tr h="4153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 ¿Alguna vez haz tenido las ganas de ir a conocer un nuevo lugar para realizar trekking pero terminas no yendo por la falta de compañía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5"/>
                  </a:ext>
                </a:extLst>
              </a:tr>
              <a:tr h="4153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3.-</a:t>
                      </a:r>
                      <a:r>
                        <a:rPr lang="es-CL" sz="1100" u="none" strike="noStrike" cap="none">
                          <a:solidFill>
                            <a:schemeClr val="dk1"/>
                          </a:solidFill>
                          <a:latin typeface="Cabin"/>
                          <a:ea typeface="Cabin"/>
                          <a:cs typeface="Cabin"/>
                          <a:sym typeface="Cabin"/>
                        </a:rPr>
                        <a:t>¿Qué tan importante es para ti sentirte acompañado y seguro cuando haces actividades en montaña ?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6"/>
                  </a:ext>
                </a:extLst>
              </a:tr>
              <a:tr h="4672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4.- </a:t>
                      </a:r>
                      <a:r>
                        <a:rPr lang="es-CL" sz="1100" u="none" strike="noStrike" cap="none">
                          <a:solidFill>
                            <a:schemeClr val="dk1"/>
                          </a:solidFill>
                          <a:latin typeface="Cabin"/>
                          <a:ea typeface="Cabin"/>
                          <a:cs typeface="Cabin"/>
                          <a:sym typeface="Cabin"/>
                        </a:rPr>
                        <a:t>¿Alguna vez te has sentido desorientado o perdido en una ruta de trekking si no hay señalizaciones o aplicaciones que te orienten con gps en tiempo real?</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7"/>
                  </a:ext>
                </a:extLst>
              </a:tr>
              <a:tr h="10472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5.- ¿Te interesaría conectarte con personas que compartan tu mismo nivel de experiencia para realizar trekking en grupo?</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6.- ¿Participas</a:t>
                      </a:r>
                      <a:r>
                        <a:rPr lang="es-CL" sz="1100" u="none" strike="noStrike" cap="none">
                          <a:solidFill>
                            <a:schemeClr val="dk1"/>
                          </a:solidFill>
                          <a:latin typeface="Cabin"/>
                          <a:ea typeface="Cabin"/>
                          <a:cs typeface="Cabin"/>
                          <a:sym typeface="Cabin"/>
                        </a:rPr>
                        <a:t>/Participarias</a:t>
                      </a:r>
                      <a:r>
                        <a:rPr lang="es-CL" sz="1100" u="none" strike="noStrike" cap="none">
                          <a:latin typeface="Cabin"/>
                          <a:ea typeface="Cabin"/>
                          <a:cs typeface="Cabin"/>
                          <a:sym typeface="Cabin"/>
                        </a:rPr>
                        <a:t> en una comunidad digital donde puedas encontrar compañeros de trekking y organizar salidas seguras?</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8"/>
                  </a:ext>
                </a:extLst>
              </a:tr>
              <a:tr h="391800">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Principales problemas identificados</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Describir el problema más relevante</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9"/>
                  </a:ext>
                </a:extLst>
              </a:tr>
              <a:tr h="391800">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-Sentirse desorientado por no haber señalizaciones del camino.</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3"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-La compañía para salidas cooperativas</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3" hMerge="1">
                  <a:txBody>
                    <a:bodyPr/>
                    <a:lstStyle/>
                    <a:p>
                      <a:endParaRPr lang="es-CL"/>
                    </a:p>
                  </a:txBody>
                  <a:tcPr/>
                </a:tc>
                <a:tc rowSpan="3" hMerge="1">
                  <a:txBody>
                    <a:bodyPr/>
                    <a:lstStyle/>
                    <a:p>
                      <a:endParaRPr lang="es-CL"/>
                    </a:p>
                  </a:txBody>
                  <a:tcPr/>
                </a:tc>
                <a:tc rowSpan="3" hMerge="1">
                  <a:txBody>
                    <a:bodyPr/>
                    <a:lstStyle/>
                    <a:p>
                      <a:endParaRPr lang="es-CL"/>
                    </a:p>
                  </a:txBody>
                  <a:tcPr/>
                </a:tc>
                <a:extLst>
                  <a:ext uri="{0D108BD9-81ED-4DB2-BD59-A6C34878D82A}">
                    <a16:rowId xmlns:a16="http://schemas.microsoft.com/office/drawing/2014/main" val="10010"/>
                  </a:ext>
                </a:extLst>
              </a:tr>
              <a:tr h="391800">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-Falta de compañía.</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1"/>
                  </a:ext>
                </a:extLst>
              </a:tr>
              <a:tr h="0">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-Falta de organización por compañía</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f6d87f1187_0_327"/>
          <p:cNvSpPr txBox="1">
            <a:spLocks noGrp="1"/>
          </p:cNvSpPr>
          <p:nvPr>
            <p:ph type="title"/>
          </p:nvPr>
        </p:nvSpPr>
        <p:spPr>
          <a:xfrm>
            <a:off x="428021" y="6341"/>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5. PAUTA DE ENTREVISTAS</a:t>
            </a:r>
            <a:endParaRPr sz="1200">
              <a:solidFill>
                <a:srgbClr val="FF0000"/>
              </a:solidFill>
              <a:highlight>
                <a:srgbClr val="5C5DD4"/>
              </a:highlight>
              <a:latin typeface="Comfortaa"/>
              <a:ea typeface="Comfortaa"/>
              <a:cs typeface="Comfortaa"/>
              <a:sym typeface="Comfortaa"/>
            </a:endParaRPr>
          </a:p>
        </p:txBody>
      </p:sp>
      <p:sp>
        <p:nvSpPr>
          <p:cNvPr id="203" name="Google Shape;203;g3f6d87f1187_0_327"/>
          <p:cNvSpPr txBox="1"/>
          <p:nvPr/>
        </p:nvSpPr>
        <p:spPr>
          <a:xfrm>
            <a:off x="431548" y="371586"/>
            <a:ext cx="8606100" cy="249900"/>
          </a:xfrm>
          <a:prstGeom prst="rect">
            <a:avLst/>
          </a:prstGeom>
          <a:noFill/>
          <a:ln>
            <a:noFill/>
          </a:ln>
        </p:spPr>
        <p:txBody>
          <a:bodyPr spcFirstLastPara="1" wrap="square" lIns="79775" tIns="39875" rIns="79775" bIns="39875" anchor="t" anchorCtr="0">
            <a:spAutoFit/>
          </a:bodyPr>
          <a:lstStyle/>
          <a:p>
            <a:pPr marL="0" lvl="0" indent="0" algn="l" rtl="0">
              <a:spcBef>
                <a:spcPts val="0"/>
              </a:spcBef>
              <a:spcAft>
                <a:spcPts val="0"/>
              </a:spcAft>
              <a:buClr>
                <a:schemeClr val="dk1"/>
              </a:buClr>
              <a:buSzPts val="1200"/>
              <a:buFont typeface="Arial"/>
              <a:buNone/>
            </a:pPr>
            <a:r>
              <a:rPr lang="es-CL" sz="1100">
                <a:solidFill>
                  <a:schemeClr val="dk1"/>
                </a:solidFill>
                <a:latin typeface="Cabin"/>
                <a:ea typeface="Cabin"/>
                <a:cs typeface="Cabin"/>
                <a:sym typeface="Cabin"/>
              </a:rPr>
              <a:t>Preguntas claras y abiertas en un ambiente cómodo y de confianza. Escucha activa y notas de las respuestas. </a:t>
            </a:r>
            <a:endParaRPr sz="1100" b="0" i="0" u="none" strike="noStrike" cap="none">
              <a:solidFill>
                <a:srgbClr val="000000"/>
              </a:solidFill>
              <a:latin typeface="Cabin"/>
              <a:ea typeface="Cabin"/>
              <a:cs typeface="Cabin"/>
              <a:sym typeface="Cabin"/>
            </a:endParaRPr>
          </a:p>
        </p:txBody>
      </p:sp>
      <p:graphicFrame>
        <p:nvGraphicFramePr>
          <p:cNvPr id="204" name="Google Shape;204;g3f6d87f1187_0_327"/>
          <p:cNvGraphicFramePr/>
          <p:nvPr/>
        </p:nvGraphicFramePr>
        <p:xfrm>
          <a:off x="431541" y="636925"/>
          <a:ext cx="8393475" cy="6176630"/>
        </p:xfrm>
        <a:graphic>
          <a:graphicData uri="http://schemas.openxmlformats.org/drawingml/2006/table">
            <a:tbl>
              <a:tblPr>
                <a:noFill/>
                <a:tableStyleId>{43D06EDE-987B-4894-A242-B41088D9BEBC}</a:tableStyleId>
              </a:tblPr>
              <a:tblGrid>
                <a:gridCol w="1335875">
                  <a:extLst>
                    <a:ext uri="{9D8B030D-6E8A-4147-A177-3AD203B41FA5}">
                      <a16:colId xmlns:a16="http://schemas.microsoft.com/office/drawing/2014/main" val="20000"/>
                    </a:ext>
                  </a:extLst>
                </a:gridCol>
                <a:gridCol w="2001775">
                  <a:extLst>
                    <a:ext uri="{9D8B030D-6E8A-4147-A177-3AD203B41FA5}">
                      <a16:colId xmlns:a16="http://schemas.microsoft.com/office/drawing/2014/main" val="20001"/>
                    </a:ext>
                  </a:extLst>
                </a:gridCol>
                <a:gridCol w="423575">
                  <a:extLst>
                    <a:ext uri="{9D8B030D-6E8A-4147-A177-3AD203B41FA5}">
                      <a16:colId xmlns:a16="http://schemas.microsoft.com/office/drawing/2014/main" val="20002"/>
                    </a:ext>
                  </a:extLst>
                </a:gridCol>
                <a:gridCol w="505525">
                  <a:extLst>
                    <a:ext uri="{9D8B030D-6E8A-4147-A177-3AD203B41FA5}">
                      <a16:colId xmlns:a16="http://schemas.microsoft.com/office/drawing/2014/main" val="20003"/>
                    </a:ext>
                  </a:extLst>
                </a:gridCol>
                <a:gridCol w="1385575">
                  <a:extLst>
                    <a:ext uri="{9D8B030D-6E8A-4147-A177-3AD203B41FA5}">
                      <a16:colId xmlns:a16="http://schemas.microsoft.com/office/drawing/2014/main" val="20004"/>
                    </a:ext>
                  </a:extLst>
                </a:gridCol>
                <a:gridCol w="902800">
                  <a:extLst>
                    <a:ext uri="{9D8B030D-6E8A-4147-A177-3AD203B41FA5}">
                      <a16:colId xmlns:a16="http://schemas.microsoft.com/office/drawing/2014/main" val="20005"/>
                    </a:ext>
                  </a:extLst>
                </a:gridCol>
                <a:gridCol w="1044650">
                  <a:extLst>
                    <a:ext uri="{9D8B030D-6E8A-4147-A177-3AD203B41FA5}">
                      <a16:colId xmlns:a16="http://schemas.microsoft.com/office/drawing/2014/main" val="20006"/>
                    </a:ext>
                  </a:extLst>
                </a:gridCol>
                <a:gridCol w="793700">
                  <a:extLst>
                    <a:ext uri="{9D8B030D-6E8A-4147-A177-3AD203B41FA5}">
                      <a16:colId xmlns:a16="http://schemas.microsoft.com/office/drawing/2014/main" val="20007"/>
                    </a:ext>
                  </a:extLst>
                </a:gridCol>
              </a:tblGrid>
              <a:tr h="37847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Nombre entrevistado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Miguel Leyton</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Registro utilizado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i="1" u="none" strike="noStrike" cap="none">
                          <a:solidFill>
                            <a:schemeClr val="dk1"/>
                          </a:solidFill>
                          <a:latin typeface="Cabin"/>
                          <a:ea typeface="Cabin"/>
                          <a:cs typeface="Cabin"/>
                          <a:sym typeface="Cabin"/>
                        </a:rPr>
                        <a:t>Texto por mensaje</a:t>
                      </a:r>
                      <a:endParaRPr sz="1100" i="1" u="none" strike="noStrike" cap="none">
                        <a:solidFill>
                          <a:schemeClr val="dk1"/>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r h="37847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Mail de contacto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chemeClr val="dk1"/>
                        </a:buClr>
                        <a:buSzPts val="900"/>
                        <a:buFont typeface="Arial"/>
                        <a:buNone/>
                      </a:pPr>
                      <a:r>
                        <a:rPr lang="es-CL" sz="1100" u="sng" strike="noStrike" cap="none">
                          <a:solidFill>
                            <a:schemeClr val="hlink"/>
                          </a:solidFill>
                          <a:latin typeface="Cabin"/>
                          <a:ea typeface="Cabin"/>
                          <a:cs typeface="Cabin"/>
                          <a:sym typeface="Cabin"/>
                          <a:hlinkClick r:id="rId3"/>
                        </a:rPr>
                        <a:t>mleytonrios2000@gmail.com</a:t>
                      </a:r>
                      <a:r>
                        <a:rPr lang="es-CL" sz="1100" u="none" strike="noStrike" cap="none">
                          <a:solidFill>
                            <a:schemeClr val="dk1"/>
                          </a:solidFill>
                          <a:latin typeface="Cabin"/>
                          <a:ea typeface="Cabin"/>
                          <a:cs typeface="Cabin"/>
                          <a:sym typeface="Cabin"/>
                        </a:rPr>
                        <a:t> </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Hora de inicio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12:03</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900" b="1" u="none" strike="noStrike" cap="none">
                          <a:solidFill>
                            <a:srgbClr val="000000"/>
                          </a:solidFill>
                          <a:latin typeface="Cabin"/>
                          <a:ea typeface="Cabin"/>
                          <a:cs typeface="Cabin"/>
                          <a:sym typeface="Cabin"/>
                        </a:rPr>
                        <a:t>Hora de término</a:t>
                      </a:r>
                      <a:endParaRPr sz="9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900" u="none" strike="noStrike" cap="none">
                          <a:latin typeface="Cabin"/>
                          <a:ea typeface="Cabin"/>
                          <a:cs typeface="Cabin"/>
                          <a:sym typeface="Cabin"/>
                        </a:rPr>
                        <a:t>13:23</a:t>
                      </a:r>
                      <a:endParaRPr sz="9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37847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Ocupación</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Estudiante de ingenieria en informatica </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Edad</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25 años</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Lugar de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Chat de Instagram </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2"/>
                  </a:ext>
                </a:extLst>
              </a:tr>
              <a:tr h="3784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solidFill>
                            <a:srgbClr val="000000"/>
                          </a:solidFill>
                          <a:latin typeface="Cabin"/>
                          <a:ea typeface="Cabin"/>
                          <a:cs typeface="Cabin"/>
                          <a:sym typeface="Cabin"/>
                        </a:rPr>
                        <a:t>Preguntas claves</a:t>
                      </a:r>
                      <a:endParaRPr sz="1100" b="1" u="none" strike="noStrike" cap="none">
                        <a:solidFill>
                          <a:srgbClr val="000000"/>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Citar frases relevantes de la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3"/>
                  </a:ext>
                </a:extLst>
              </a:tr>
              <a:tr h="4046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1.-¿Qué tan seguido realizas actividades al aire libre como trekkin</a:t>
                      </a:r>
                      <a:r>
                        <a:rPr lang="es-CL" sz="1100">
                          <a:latin typeface="Cabin"/>
                          <a:ea typeface="Cabin"/>
                          <a:cs typeface="Cabin"/>
                          <a:sym typeface="Cabin"/>
                        </a:rPr>
                        <a:t>g</a:t>
                      </a:r>
                      <a:r>
                        <a:rPr lang="es-CL" sz="1100" u="none" strike="noStrike" cap="none">
                          <a:latin typeface="Cabin"/>
                          <a:ea typeface="Cabin"/>
                          <a:cs typeface="Cabin"/>
                          <a:sym typeface="Cabin"/>
                        </a:rPr>
                        <a:t>?</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5" gridSpan="4">
                  <a:txBody>
                    <a:bodyPr/>
                    <a:lstStyle/>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2 veces al mes</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Voy solo o acompañado</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Es muy importante, se pasa bien, se disfrutan las vista y se siente más seguro y protegido </a:t>
                      </a:r>
                      <a:endParaRPr sz="1100" u="none" strike="noStrike" cap="none">
                        <a:latin typeface="Cabin"/>
                        <a:ea typeface="Cabin"/>
                        <a:cs typeface="Cabin"/>
                        <a:sym typeface="Cabin"/>
                      </a:endParaRPr>
                    </a:p>
                    <a:p>
                      <a:pPr marL="41910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Me he perdido por la falta de señalización, por rutas que no </a:t>
                      </a:r>
                      <a:r>
                        <a:rPr lang="es-CL" sz="1100">
                          <a:latin typeface="Cabin"/>
                          <a:ea typeface="Cabin"/>
                          <a:cs typeface="Cabin"/>
                          <a:sym typeface="Cabin"/>
                        </a:rPr>
                        <a:t>están</a:t>
                      </a:r>
                      <a:r>
                        <a:rPr lang="es-CL" sz="1100" u="none" strike="noStrike" cap="none">
                          <a:latin typeface="Cabin"/>
                          <a:ea typeface="Cabin"/>
                          <a:cs typeface="Cabin"/>
                          <a:sym typeface="Cabin"/>
                        </a:rPr>
                        <a:t> supervisadas por los </a:t>
                      </a:r>
                      <a:r>
                        <a:rPr lang="es-CL" sz="1100">
                          <a:latin typeface="Cabin"/>
                          <a:ea typeface="Cabin"/>
                          <a:cs typeface="Cabin"/>
                          <a:sym typeface="Cabin"/>
                        </a:rPr>
                        <a:t>guardaparques</a:t>
                      </a:r>
                      <a:r>
                        <a:rPr lang="es-CL" sz="1100" u="none" strike="noStrike" cap="none">
                          <a:latin typeface="Cabin"/>
                          <a:ea typeface="Cabin"/>
                          <a:cs typeface="Cabin"/>
                          <a:sym typeface="Cabin"/>
                        </a:rPr>
                        <a:t>, </a:t>
                      </a:r>
                      <a:r>
                        <a:rPr lang="es-CL" sz="1100">
                          <a:latin typeface="Cabin"/>
                          <a:ea typeface="Cabin"/>
                          <a:cs typeface="Cabin"/>
                          <a:sym typeface="Cabin"/>
                        </a:rPr>
                        <a:t>utilizó</a:t>
                      </a:r>
                      <a:r>
                        <a:rPr lang="es-CL" sz="1100" u="none" strike="noStrike" cap="none">
                          <a:latin typeface="Cabin"/>
                          <a:ea typeface="Cabin"/>
                          <a:cs typeface="Cabin"/>
                          <a:sym typeface="Cabin"/>
                        </a:rPr>
                        <a:t> un mapa por celular</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Me encantaría, para formar nuevos lazos, ya que actualmente salgo con solo 1 persona para estas actividades</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solidFill>
                            <a:schemeClr val="dk1"/>
                          </a:solidFill>
                          <a:latin typeface="Cabin"/>
                          <a:ea typeface="Cabin"/>
                          <a:cs typeface="Cabin"/>
                          <a:sym typeface="Cabin"/>
                        </a:rPr>
                        <a:t>Si para conocer gente con mis mismo gustos, sería reconfortante y agradable</a:t>
                      </a:r>
                      <a:endParaRPr sz="1100"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txBody>
                  <a:tcPr marL="30800" marR="30800" marT="43550" marB="43550">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5" hMerge="1">
                  <a:txBody>
                    <a:bodyPr/>
                    <a:lstStyle/>
                    <a:p>
                      <a:endParaRPr lang="es-CL"/>
                    </a:p>
                  </a:txBody>
                  <a:tcPr/>
                </a:tc>
                <a:tc rowSpan="5" hMerge="1">
                  <a:txBody>
                    <a:bodyPr/>
                    <a:lstStyle/>
                    <a:p>
                      <a:endParaRPr lang="es-CL"/>
                    </a:p>
                  </a:txBody>
                  <a:tcPr/>
                </a:tc>
                <a:tc rowSpan="5" hMerge="1">
                  <a:txBody>
                    <a:bodyPr/>
                    <a:lstStyle/>
                    <a:p>
                      <a:endParaRPr lang="es-CL"/>
                    </a:p>
                  </a:txBody>
                  <a:tcPr/>
                </a:tc>
                <a:extLst>
                  <a:ext uri="{0D108BD9-81ED-4DB2-BD59-A6C34878D82A}">
                    <a16:rowId xmlns:a16="http://schemas.microsoft.com/office/drawing/2014/main" val="10004"/>
                  </a:ext>
                </a:extLst>
              </a:tr>
              <a:tr h="4046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 ¿Alguna vez haz tenido las ganas de ir a conocer un nuevo lugar para realizar trekking pero terminas no yendo por la falta de compañía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5"/>
                  </a:ext>
                </a:extLst>
              </a:tr>
              <a:tr h="4046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3.-</a:t>
                      </a:r>
                      <a:r>
                        <a:rPr lang="es-CL" sz="1100" u="none" strike="noStrike" cap="none">
                          <a:solidFill>
                            <a:schemeClr val="dk1"/>
                          </a:solidFill>
                          <a:latin typeface="Cabin"/>
                          <a:ea typeface="Cabin"/>
                          <a:cs typeface="Cabin"/>
                          <a:sym typeface="Cabin"/>
                        </a:rPr>
                        <a:t>¿Qué tan importante es para ti sentirte acompañado y seguro cuando haces actividades en montaña ?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6"/>
                  </a:ext>
                </a:extLst>
              </a:tr>
              <a:tr h="5649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4.- </a:t>
                      </a:r>
                      <a:r>
                        <a:rPr lang="es-CL" sz="1100" u="none" strike="noStrike" cap="none">
                          <a:solidFill>
                            <a:schemeClr val="dk1"/>
                          </a:solidFill>
                          <a:latin typeface="Cabin"/>
                          <a:ea typeface="Cabin"/>
                          <a:cs typeface="Cabin"/>
                          <a:sym typeface="Cabin"/>
                        </a:rPr>
                        <a:t>¿Alguna vez te has sentido desorientado o perdido en una ruta de trekking si no hay señalizaciones o aplicaciones que te orienten con gps en tiempo real?</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7"/>
                  </a:ext>
                </a:extLst>
              </a:tr>
              <a:tr h="10116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5.- ¿Te interesaría conectarte con personas que compartan tu mismo nivel de experiencia para realizar trekking en grupo?</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6.- ¿Participas/Participarias en una comunidad digital donde puedas encontrar compañeros de trekking y organizar salidas seguras?</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8"/>
                  </a:ext>
                </a:extLst>
              </a:tr>
              <a:tr h="3784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Principales problemas identificados</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Describir el problema más relevante</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9"/>
                  </a:ext>
                </a:extLst>
              </a:tr>
              <a:tr h="37847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Falta de señalización</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3"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Falta de lazos de amistad o con </a:t>
                      </a:r>
                      <a:r>
                        <a:rPr lang="es-CL" sz="1100">
                          <a:latin typeface="Cabin"/>
                          <a:ea typeface="Cabin"/>
                          <a:cs typeface="Cabin"/>
                          <a:sym typeface="Cabin"/>
                        </a:rPr>
                        <a:t>más</a:t>
                      </a:r>
                      <a:r>
                        <a:rPr lang="es-CL" sz="1100" u="none" strike="noStrike" cap="none">
                          <a:latin typeface="Cabin"/>
                          <a:ea typeface="Cabin"/>
                          <a:cs typeface="Cabin"/>
                          <a:sym typeface="Cabin"/>
                        </a:rPr>
                        <a:t> personas para realizar estas actividades.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3" hMerge="1">
                  <a:txBody>
                    <a:bodyPr/>
                    <a:lstStyle/>
                    <a:p>
                      <a:endParaRPr lang="es-CL"/>
                    </a:p>
                  </a:txBody>
                  <a:tcPr/>
                </a:tc>
                <a:tc rowSpan="3" hMerge="1">
                  <a:txBody>
                    <a:bodyPr/>
                    <a:lstStyle/>
                    <a:p>
                      <a:endParaRPr lang="es-CL"/>
                    </a:p>
                  </a:txBody>
                  <a:tcPr/>
                </a:tc>
                <a:tc rowSpan="3" hMerge="1">
                  <a:txBody>
                    <a:bodyPr/>
                    <a:lstStyle/>
                    <a:p>
                      <a:endParaRPr lang="es-CL"/>
                    </a:p>
                  </a:txBody>
                  <a:tcPr/>
                </a:tc>
                <a:extLst>
                  <a:ext uri="{0D108BD9-81ED-4DB2-BD59-A6C34878D82A}">
                    <a16:rowId xmlns:a16="http://schemas.microsoft.com/office/drawing/2014/main" val="10010"/>
                  </a:ext>
                </a:extLst>
              </a:tr>
              <a:tr h="37847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Falta de lazos para realizar estas actividades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1"/>
                  </a:ext>
                </a:extLst>
              </a:tr>
              <a:tr h="37847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Utilizar mapas de otras fuentes para guia</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aphicFrame>
        <p:nvGraphicFramePr>
          <p:cNvPr id="210" name="Google Shape;210;g3f6d87f1187_0_334"/>
          <p:cNvGraphicFramePr/>
          <p:nvPr/>
        </p:nvGraphicFramePr>
        <p:xfrm>
          <a:off x="389282" y="762895"/>
          <a:ext cx="8393625" cy="5523875"/>
        </p:xfrm>
        <a:graphic>
          <a:graphicData uri="http://schemas.openxmlformats.org/drawingml/2006/table">
            <a:tbl>
              <a:tblPr>
                <a:noFill/>
                <a:tableStyleId>{43D06EDE-987B-4894-A242-B41088D9BEBC}</a:tableStyleId>
              </a:tblPr>
              <a:tblGrid>
                <a:gridCol w="2797875">
                  <a:extLst>
                    <a:ext uri="{9D8B030D-6E8A-4147-A177-3AD203B41FA5}">
                      <a16:colId xmlns:a16="http://schemas.microsoft.com/office/drawing/2014/main" val="20000"/>
                    </a:ext>
                  </a:extLst>
                </a:gridCol>
                <a:gridCol w="2797875">
                  <a:extLst>
                    <a:ext uri="{9D8B030D-6E8A-4147-A177-3AD203B41FA5}">
                      <a16:colId xmlns:a16="http://schemas.microsoft.com/office/drawing/2014/main" val="20001"/>
                    </a:ext>
                  </a:extLst>
                </a:gridCol>
                <a:gridCol w="2797875">
                  <a:extLst>
                    <a:ext uri="{9D8B030D-6E8A-4147-A177-3AD203B41FA5}">
                      <a16:colId xmlns:a16="http://schemas.microsoft.com/office/drawing/2014/main" val="20002"/>
                    </a:ext>
                  </a:extLst>
                </a:gridCol>
              </a:tblGrid>
              <a:tr h="5523875">
                <a:tc gridSpan="3">
                  <a:txBody>
                    <a:bodyPr/>
                    <a:lstStyle/>
                    <a:p>
                      <a:pPr marL="3022600" marR="0" lvl="0" indent="0" algn="l" rtl="0">
                        <a:lnSpc>
                          <a:spcPct val="100000"/>
                        </a:lnSpc>
                        <a:spcBef>
                          <a:spcPts val="0"/>
                        </a:spcBef>
                        <a:spcAft>
                          <a:spcPts val="0"/>
                        </a:spcAft>
                        <a:buClr>
                          <a:srgbClr val="000000"/>
                        </a:buClr>
                        <a:buSzPts val="1300"/>
                        <a:buFont typeface="Arial"/>
                        <a:buNone/>
                      </a:pPr>
                      <a:r>
                        <a:rPr lang="es-CL" sz="1300" i="1" u="none" strike="noStrike" cap="none">
                          <a:latin typeface="Cabin"/>
                          <a:ea typeface="Cabin"/>
                          <a:cs typeface="Cabin"/>
                          <a:sym typeface="Cabin"/>
                        </a:rPr>
                        <a:t>Anexar respaldo ya sea a través de:</a:t>
                      </a:r>
                      <a:endParaRPr sz="1300" i="1" u="none" strike="noStrike" cap="none">
                        <a:latin typeface="Cabin"/>
                        <a:ea typeface="Cabin"/>
                        <a:cs typeface="Cabin"/>
                        <a:sym typeface="Cabin"/>
                      </a:endParaRPr>
                    </a:p>
                    <a:p>
                      <a:pPr marL="3022600" marR="0" lvl="0" indent="0" algn="l" rtl="0">
                        <a:lnSpc>
                          <a:spcPct val="100000"/>
                        </a:lnSpc>
                        <a:spcBef>
                          <a:spcPts val="0"/>
                        </a:spcBef>
                        <a:spcAft>
                          <a:spcPts val="0"/>
                        </a:spcAft>
                        <a:buClr>
                          <a:srgbClr val="000000"/>
                        </a:buClr>
                        <a:buSzPts val="1300"/>
                        <a:buFont typeface="Arial"/>
                        <a:buNone/>
                      </a:pPr>
                      <a:endParaRPr sz="1300" i="1" u="none" strike="noStrike" cap="none">
                        <a:latin typeface="Cabin"/>
                        <a:ea typeface="Cabin"/>
                        <a:cs typeface="Cabin"/>
                        <a:sym typeface="Cabin"/>
                      </a:endParaRPr>
                    </a:p>
                    <a:p>
                      <a:pPr marL="3022600" marR="0" lvl="0" indent="0" algn="l" rtl="0">
                        <a:lnSpc>
                          <a:spcPct val="100000"/>
                        </a:lnSpc>
                        <a:spcBef>
                          <a:spcPts val="0"/>
                        </a:spcBef>
                        <a:spcAft>
                          <a:spcPts val="0"/>
                        </a:spcAft>
                        <a:buClr>
                          <a:srgbClr val="000000"/>
                        </a:buClr>
                        <a:buSzPts val="1300"/>
                        <a:buFont typeface="Arial"/>
                        <a:buNone/>
                      </a:pPr>
                      <a:r>
                        <a:rPr lang="es-CL" sz="1300" i="1" u="none" strike="noStrike" cap="none">
                          <a:latin typeface="Cabin"/>
                          <a:ea typeface="Cabin"/>
                          <a:cs typeface="Cabin"/>
                          <a:sym typeface="Cabin"/>
                        </a:rPr>
                        <a:t>- Texto transcrito</a:t>
                      </a:r>
                      <a:endParaRPr sz="1300" i="1" u="none" strike="noStrike" cap="none">
                        <a:latin typeface="Cabin"/>
                        <a:ea typeface="Cabin"/>
                        <a:cs typeface="Cabin"/>
                        <a:sym typeface="Cabin"/>
                      </a:endParaRPr>
                    </a:p>
                    <a:p>
                      <a:pPr marL="3022600" marR="0" lvl="0" indent="0" algn="l" rtl="0">
                        <a:lnSpc>
                          <a:spcPct val="100000"/>
                        </a:lnSpc>
                        <a:spcBef>
                          <a:spcPts val="0"/>
                        </a:spcBef>
                        <a:spcAft>
                          <a:spcPts val="0"/>
                        </a:spcAft>
                        <a:buClr>
                          <a:srgbClr val="000000"/>
                        </a:buClr>
                        <a:buSzPts val="1300"/>
                        <a:buFont typeface="Arial"/>
                        <a:buNone/>
                      </a:pPr>
                      <a:r>
                        <a:rPr lang="es-CL" sz="1300" i="1" u="none" strike="noStrike" cap="none">
                          <a:latin typeface="Cabin"/>
                          <a:ea typeface="Cabin"/>
                          <a:cs typeface="Cabin"/>
                          <a:sym typeface="Cabin"/>
                        </a:rPr>
                        <a:t>-I</a:t>
                      </a:r>
                      <a:r>
                        <a:rPr lang="es-CL" sz="1300" i="1" u="none" strike="noStrike" cap="none">
                          <a:solidFill>
                            <a:srgbClr val="000000"/>
                          </a:solidFill>
                          <a:latin typeface="Cabin"/>
                          <a:ea typeface="Cabin"/>
                          <a:cs typeface="Cabin"/>
                          <a:sym typeface="Cabin"/>
                        </a:rPr>
                        <a:t>ncorpora</a:t>
                      </a:r>
                      <a:r>
                        <a:rPr lang="es-CL" sz="1300" i="1" u="none" strike="noStrike" cap="none">
                          <a:latin typeface="Cabin"/>
                          <a:ea typeface="Cabin"/>
                          <a:cs typeface="Cabin"/>
                          <a:sym typeface="Cabin"/>
                        </a:rPr>
                        <a:t>ndo</a:t>
                      </a:r>
                      <a:r>
                        <a:rPr lang="es-CL" sz="1300" i="1" u="none" strike="noStrike" cap="none">
                          <a:solidFill>
                            <a:srgbClr val="000000"/>
                          </a:solidFill>
                          <a:latin typeface="Cabin"/>
                          <a:ea typeface="Cabin"/>
                          <a:cs typeface="Cabin"/>
                          <a:sym typeface="Cabin"/>
                        </a:rPr>
                        <a:t> fotografías o capturas de pantalla de las respuestas</a:t>
                      </a:r>
                      <a:endParaRPr sz="1300" i="1" u="none" strike="noStrike" cap="none">
                        <a:solidFill>
                          <a:srgbClr val="000000"/>
                        </a:solidFill>
                        <a:latin typeface="Cabin"/>
                        <a:ea typeface="Cabin"/>
                        <a:cs typeface="Cabin"/>
                        <a:sym typeface="Cabin"/>
                      </a:endParaRPr>
                    </a:p>
                    <a:p>
                      <a:pPr marL="3022600" marR="0" lvl="0" indent="0" algn="l" rtl="0">
                        <a:lnSpc>
                          <a:spcPct val="100000"/>
                        </a:lnSpc>
                        <a:spcBef>
                          <a:spcPts val="0"/>
                        </a:spcBef>
                        <a:spcAft>
                          <a:spcPts val="0"/>
                        </a:spcAft>
                        <a:buClr>
                          <a:srgbClr val="000000"/>
                        </a:buClr>
                        <a:buSzPts val="1300"/>
                        <a:buFont typeface="Arial"/>
                        <a:buNone/>
                      </a:pPr>
                      <a:r>
                        <a:rPr lang="es-CL" sz="1300" i="1" u="none" strike="noStrike" cap="none">
                          <a:latin typeface="Cabin"/>
                          <a:ea typeface="Cabin"/>
                          <a:cs typeface="Cabin"/>
                          <a:sym typeface="Cabin"/>
                        </a:rPr>
                        <a:t>-Link de audio grabado</a:t>
                      </a:r>
                      <a:endParaRPr sz="1300" i="1" u="none" strike="noStrike" cap="none">
                        <a:latin typeface="Cabin"/>
                        <a:ea typeface="Cabin"/>
                        <a:cs typeface="Cabin"/>
                        <a:sym typeface="Cabin"/>
                      </a:endParaRPr>
                    </a:p>
                  </a:txBody>
                  <a:tcPr marL="78200" marR="78200" marT="82950" marB="82950" anchor="ctr">
                    <a:lnL w="8300" cap="flat" cmpd="sng">
                      <a:solidFill>
                        <a:srgbClr val="000000"/>
                      </a:solidFill>
                      <a:prstDash val="solid"/>
                      <a:round/>
                      <a:headEnd type="none" w="sm" len="sm"/>
                      <a:tailEnd type="none" w="sm" len="sm"/>
                    </a:lnL>
                    <a:lnR w="8300" cap="flat" cmpd="sng">
                      <a:solidFill>
                        <a:srgbClr val="000000"/>
                      </a:solidFill>
                      <a:prstDash val="solid"/>
                      <a:round/>
                      <a:headEnd type="none" w="sm" len="sm"/>
                      <a:tailEnd type="none" w="sm" len="sm"/>
                    </a:lnR>
                    <a:lnT w="8300" cap="flat" cmpd="sng">
                      <a:solidFill>
                        <a:srgbClr val="000000"/>
                      </a:solidFill>
                      <a:prstDash val="solid"/>
                      <a:round/>
                      <a:headEnd type="none" w="sm" len="sm"/>
                      <a:tailEnd type="none" w="sm" len="sm"/>
                    </a:lnT>
                    <a:lnB w="8300" cap="flat" cmpd="sng">
                      <a:solidFill>
                        <a:srgbClr val="000000"/>
                      </a:solidFill>
                      <a:prstDash val="solid"/>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bl>
          </a:graphicData>
        </a:graphic>
      </p:graphicFrame>
      <p:sp>
        <p:nvSpPr>
          <p:cNvPr id="211" name="Google Shape;211;g3f6d87f1187_0_334"/>
          <p:cNvSpPr txBox="1"/>
          <p:nvPr/>
        </p:nvSpPr>
        <p:spPr>
          <a:xfrm>
            <a:off x="343751" y="6326596"/>
            <a:ext cx="5811900" cy="345900"/>
          </a:xfrm>
          <a:prstGeom prst="rect">
            <a:avLst/>
          </a:prstGeom>
          <a:noFill/>
          <a:ln>
            <a:noFill/>
          </a:ln>
        </p:spPr>
        <p:txBody>
          <a:bodyPr spcFirstLastPara="1" wrap="square" lIns="79775" tIns="79775" rIns="79775" bIns="797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200" b="1" i="0" u="none" strike="noStrike" cap="none">
                <a:solidFill>
                  <a:srgbClr val="5C5DD4"/>
                </a:solidFill>
                <a:latin typeface="Cabin"/>
                <a:ea typeface="Cabin"/>
                <a:cs typeface="Cabin"/>
                <a:sym typeface="Cabin"/>
              </a:rPr>
              <a:t>Nombre estudiante: Danilo Gonzalez</a:t>
            </a:r>
            <a:endParaRPr sz="1200" b="0" i="0" u="none" strike="noStrike" cap="none">
              <a:solidFill>
                <a:srgbClr val="5C5DD4"/>
              </a:solidFill>
              <a:latin typeface="Cabin"/>
              <a:ea typeface="Cabin"/>
              <a:cs typeface="Cabin"/>
              <a:sym typeface="Cabin"/>
            </a:endParaRPr>
          </a:p>
        </p:txBody>
      </p:sp>
      <p:pic>
        <p:nvPicPr>
          <p:cNvPr id="212" name="Google Shape;212;g3f6d87f1187_0_334" title="entrevistaEmprendimiento.png"/>
          <p:cNvPicPr preferRelativeResize="0"/>
          <p:nvPr/>
        </p:nvPicPr>
        <p:blipFill rotWithShape="1">
          <a:blip r:embed="rId3">
            <a:alphaModFix/>
          </a:blip>
          <a:srcRect/>
          <a:stretch/>
        </p:blipFill>
        <p:spPr>
          <a:xfrm>
            <a:off x="2264234" y="869114"/>
            <a:ext cx="5031240" cy="50072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f6d87f1187_0_341"/>
          <p:cNvSpPr txBox="1">
            <a:spLocks noGrp="1"/>
          </p:cNvSpPr>
          <p:nvPr>
            <p:ph type="title"/>
          </p:nvPr>
        </p:nvSpPr>
        <p:spPr>
          <a:xfrm>
            <a:off x="385879" y="-9"/>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5. PAUTA DE ENTREVISTAS</a:t>
            </a:r>
            <a:endParaRPr sz="1200">
              <a:solidFill>
                <a:srgbClr val="FF0000"/>
              </a:solidFill>
              <a:highlight>
                <a:srgbClr val="5C5DD4"/>
              </a:highlight>
              <a:latin typeface="Comfortaa"/>
              <a:ea typeface="Comfortaa"/>
              <a:cs typeface="Comfortaa"/>
              <a:sym typeface="Comfortaa"/>
            </a:endParaRPr>
          </a:p>
        </p:txBody>
      </p:sp>
      <p:sp>
        <p:nvSpPr>
          <p:cNvPr id="219" name="Google Shape;219;g3f6d87f1187_0_341"/>
          <p:cNvSpPr txBox="1"/>
          <p:nvPr/>
        </p:nvSpPr>
        <p:spPr>
          <a:xfrm>
            <a:off x="389663" y="365236"/>
            <a:ext cx="8606100" cy="249900"/>
          </a:xfrm>
          <a:prstGeom prst="rect">
            <a:avLst/>
          </a:prstGeom>
          <a:noFill/>
          <a:ln>
            <a:noFill/>
          </a:ln>
        </p:spPr>
        <p:txBody>
          <a:bodyPr spcFirstLastPara="1" wrap="square" lIns="79775" tIns="39875" rIns="79775" bIns="39875" anchor="t" anchorCtr="0">
            <a:spAutoFit/>
          </a:bodyPr>
          <a:lstStyle/>
          <a:p>
            <a:pPr marL="0" lvl="0" indent="0" algn="l" rtl="0">
              <a:spcBef>
                <a:spcPts val="0"/>
              </a:spcBef>
              <a:spcAft>
                <a:spcPts val="0"/>
              </a:spcAft>
              <a:buClr>
                <a:schemeClr val="dk1"/>
              </a:buClr>
              <a:buSzPts val="1200"/>
              <a:buFont typeface="Arial"/>
              <a:buNone/>
            </a:pPr>
            <a:r>
              <a:rPr lang="es-CL" sz="1100">
                <a:solidFill>
                  <a:schemeClr val="dk1"/>
                </a:solidFill>
                <a:latin typeface="Cabin"/>
                <a:ea typeface="Cabin"/>
                <a:cs typeface="Cabin"/>
                <a:sym typeface="Cabin"/>
              </a:rPr>
              <a:t>Preguntas claras y abiertas en un ambiente cómodo y de confianza. Escucha activa y notas de las respuestas. </a:t>
            </a:r>
            <a:endParaRPr sz="1100" b="0" i="0" u="none" strike="noStrike" cap="none">
              <a:solidFill>
                <a:srgbClr val="000000"/>
              </a:solidFill>
              <a:latin typeface="Cabin"/>
              <a:ea typeface="Cabin"/>
              <a:cs typeface="Cabin"/>
              <a:sym typeface="Cabin"/>
            </a:endParaRPr>
          </a:p>
        </p:txBody>
      </p:sp>
      <p:graphicFrame>
        <p:nvGraphicFramePr>
          <p:cNvPr id="220" name="Google Shape;220;g3f6d87f1187_0_341"/>
          <p:cNvGraphicFramePr/>
          <p:nvPr/>
        </p:nvGraphicFramePr>
        <p:xfrm>
          <a:off x="343730" y="631686"/>
          <a:ext cx="8393475" cy="5961710"/>
        </p:xfrm>
        <a:graphic>
          <a:graphicData uri="http://schemas.openxmlformats.org/drawingml/2006/table">
            <a:tbl>
              <a:tblPr>
                <a:noFill/>
                <a:tableStyleId>{43D06EDE-987B-4894-A242-B41088D9BEBC}</a:tableStyleId>
              </a:tblPr>
              <a:tblGrid>
                <a:gridCol w="1335875">
                  <a:extLst>
                    <a:ext uri="{9D8B030D-6E8A-4147-A177-3AD203B41FA5}">
                      <a16:colId xmlns:a16="http://schemas.microsoft.com/office/drawing/2014/main" val="20000"/>
                    </a:ext>
                  </a:extLst>
                </a:gridCol>
                <a:gridCol w="2001775">
                  <a:extLst>
                    <a:ext uri="{9D8B030D-6E8A-4147-A177-3AD203B41FA5}">
                      <a16:colId xmlns:a16="http://schemas.microsoft.com/office/drawing/2014/main" val="20001"/>
                    </a:ext>
                  </a:extLst>
                </a:gridCol>
                <a:gridCol w="423575">
                  <a:extLst>
                    <a:ext uri="{9D8B030D-6E8A-4147-A177-3AD203B41FA5}">
                      <a16:colId xmlns:a16="http://schemas.microsoft.com/office/drawing/2014/main" val="20002"/>
                    </a:ext>
                  </a:extLst>
                </a:gridCol>
                <a:gridCol w="505525">
                  <a:extLst>
                    <a:ext uri="{9D8B030D-6E8A-4147-A177-3AD203B41FA5}">
                      <a16:colId xmlns:a16="http://schemas.microsoft.com/office/drawing/2014/main" val="20003"/>
                    </a:ext>
                  </a:extLst>
                </a:gridCol>
                <a:gridCol w="1385575">
                  <a:extLst>
                    <a:ext uri="{9D8B030D-6E8A-4147-A177-3AD203B41FA5}">
                      <a16:colId xmlns:a16="http://schemas.microsoft.com/office/drawing/2014/main" val="20004"/>
                    </a:ext>
                  </a:extLst>
                </a:gridCol>
                <a:gridCol w="902800">
                  <a:extLst>
                    <a:ext uri="{9D8B030D-6E8A-4147-A177-3AD203B41FA5}">
                      <a16:colId xmlns:a16="http://schemas.microsoft.com/office/drawing/2014/main" val="20005"/>
                    </a:ext>
                  </a:extLst>
                </a:gridCol>
                <a:gridCol w="1044650">
                  <a:extLst>
                    <a:ext uri="{9D8B030D-6E8A-4147-A177-3AD203B41FA5}">
                      <a16:colId xmlns:a16="http://schemas.microsoft.com/office/drawing/2014/main" val="20006"/>
                    </a:ext>
                  </a:extLst>
                </a:gridCol>
                <a:gridCol w="793700">
                  <a:extLst>
                    <a:ext uri="{9D8B030D-6E8A-4147-A177-3AD203B41FA5}">
                      <a16:colId xmlns:a16="http://schemas.microsoft.com/office/drawing/2014/main" val="20007"/>
                    </a:ext>
                  </a:extLst>
                </a:gridCol>
              </a:tblGrid>
              <a:tr h="36632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Nombre entrevistado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Gisella Horta Chavez</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Registro utilizado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i="1" u="none" strike="noStrike" cap="none">
                          <a:solidFill>
                            <a:schemeClr val="dk1"/>
                          </a:solidFill>
                          <a:latin typeface="Cabin"/>
                          <a:ea typeface="Cabin"/>
                          <a:cs typeface="Cabin"/>
                          <a:sym typeface="Cabin"/>
                        </a:rPr>
                        <a:t>Grabación, audio de una llamada </a:t>
                      </a:r>
                      <a:endParaRPr sz="1100" i="1" u="none" strike="noStrike" cap="none">
                        <a:solidFill>
                          <a:schemeClr val="dk1"/>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r h="36632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Mail de contacto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Gisella_h@gmail.cl</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Hora de inicio</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09:40</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900" b="1" u="none" strike="noStrike" cap="none">
                          <a:solidFill>
                            <a:srgbClr val="000000"/>
                          </a:solidFill>
                          <a:latin typeface="Cabin"/>
                          <a:ea typeface="Cabin"/>
                          <a:cs typeface="Cabin"/>
                          <a:sym typeface="Cabin"/>
                        </a:rPr>
                        <a:t>Hora de término</a:t>
                      </a:r>
                      <a:endParaRPr sz="9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chemeClr val="dk1"/>
                        </a:buClr>
                        <a:buSzPts val="900"/>
                        <a:buFont typeface="Arial"/>
                        <a:buNone/>
                      </a:pPr>
                      <a:r>
                        <a:rPr lang="es-CL" sz="1100" u="none" strike="noStrike" cap="none">
                          <a:solidFill>
                            <a:schemeClr val="dk1"/>
                          </a:solidFill>
                          <a:latin typeface="Cabin"/>
                          <a:ea typeface="Cabin"/>
                          <a:cs typeface="Cabin"/>
                          <a:sym typeface="Cabin"/>
                        </a:rPr>
                        <a:t>09:45</a:t>
                      </a:r>
                      <a:endParaRPr sz="9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366325">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Ocupación</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Ama de casa</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Edad</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27</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Lugar de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gridSpan="3">
                  <a:txBody>
                    <a:bodyPr/>
                    <a:lstStyle/>
                    <a:p>
                      <a:pPr marL="0" marR="0" lvl="0" indent="0" algn="l" rtl="0">
                        <a:lnSpc>
                          <a:spcPct val="100000"/>
                        </a:lnSpc>
                        <a:spcBef>
                          <a:spcPts val="0"/>
                        </a:spcBef>
                        <a:spcAft>
                          <a:spcPts val="0"/>
                        </a:spcAft>
                        <a:buClr>
                          <a:schemeClr val="dk1"/>
                        </a:buClr>
                        <a:buSzPts val="900"/>
                        <a:buFont typeface="Arial"/>
                        <a:buNone/>
                      </a:pPr>
                      <a:r>
                        <a:rPr lang="es-CL" sz="1100" i="1" u="none" strike="noStrike" cap="none">
                          <a:solidFill>
                            <a:schemeClr val="dk1"/>
                          </a:solidFill>
                          <a:latin typeface="Cabin"/>
                          <a:ea typeface="Cabin"/>
                          <a:cs typeface="Cabin"/>
                          <a:sym typeface="Cabin"/>
                        </a:rPr>
                        <a:t>Realizada por WhatsApp</a:t>
                      </a:r>
                      <a:endParaRPr sz="1100"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2"/>
                  </a:ext>
                </a:extLst>
              </a:tr>
              <a:tr h="3663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solidFill>
                            <a:srgbClr val="000000"/>
                          </a:solidFill>
                          <a:latin typeface="Cabin"/>
                          <a:ea typeface="Cabin"/>
                          <a:cs typeface="Cabin"/>
                          <a:sym typeface="Cabin"/>
                        </a:rPr>
                        <a:t>Preguntas claves</a:t>
                      </a:r>
                      <a:endParaRPr sz="1100" b="1" u="none" strike="noStrike" cap="none">
                        <a:solidFill>
                          <a:srgbClr val="000000"/>
                        </a:solidFill>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Citar frases relevantes de la entrevista</a:t>
                      </a:r>
                      <a:endParaRPr sz="1100" b="1" u="none" strike="noStrike" cap="none">
                        <a:latin typeface="Cabin"/>
                        <a:ea typeface="Cabin"/>
                        <a:cs typeface="Cabin"/>
                        <a:sym typeface="Cabin"/>
                      </a:endParaRPr>
                    </a:p>
                  </a:txBody>
                  <a:tcPr marL="30800" marR="30800" marT="32650" marB="326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3"/>
                  </a:ext>
                </a:extLst>
              </a:tr>
              <a:tr h="4111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1.-¿Qué tan seguido realizas actividades al aire libre como trekkin</a:t>
                      </a:r>
                      <a:r>
                        <a:rPr lang="es-CL" sz="1100">
                          <a:latin typeface="Cabin"/>
                          <a:ea typeface="Cabin"/>
                          <a:cs typeface="Cabin"/>
                          <a:sym typeface="Cabin"/>
                        </a:rPr>
                        <a:t>g</a:t>
                      </a:r>
                      <a:r>
                        <a:rPr lang="es-CL" sz="1100" u="none" strike="noStrike" cap="none">
                          <a:latin typeface="Cabin"/>
                          <a:ea typeface="Cabin"/>
                          <a:cs typeface="Cabin"/>
                          <a:sym typeface="Cabin"/>
                        </a:rPr>
                        <a:t>?</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5" gridSpan="4">
                  <a:txBody>
                    <a:bodyPr/>
                    <a:lstStyle/>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latin typeface="Cabin"/>
                          <a:ea typeface="Cabin"/>
                          <a:cs typeface="Cabin"/>
                          <a:sym typeface="Cabin"/>
                        </a:rPr>
                        <a:t>He querido ir a hacer trekking pero no puede porque no tengo compañía</a:t>
                      </a:r>
                      <a:endParaRPr sz="1100" u="none" strike="noStrike" cap="none">
                        <a:latin typeface="Cabin"/>
                        <a:ea typeface="Cabin"/>
                        <a:cs typeface="Cabin"/>
                        <a:sym typeface="Cabin"/>
                      </a:endParaRPr>
                    </a:p>
                    <a:p>
                      <a:pPr marL="41910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latin typeface="Cabin"/>
                          <a:ea typeface="Cabin"/>
                          <a:cs typeface="Cabin"/>
                          <a:sym typeface="Cabin"/>
                        </a:rPr>
                        <a:t>Es importante sentirse acompañad</a:t>
                      </a:r>
                      <a:r>
                        <a:rPr lang="es-CL" sz="1100">
                          <a:latin typeface="Cabin"/>
                          <a:ea typeface="Cabin"/>
                          <a:cs typeface="Cabin"/>
                          <a:sym typeface="Cabin"/>
                        </a:rPr>
                        <a:t>a</a:t>
                      </a:r>
                      <a:r>
                        <a:rPr lang="es-CL" sz="1100" u="none" strike="noStrike" cap="none">
                          <a:latin typeface="Cabin"/>
                          <a:ea typeface="Cabin"/>
                          <a:cs typeface="Cabin"/>
                          <a:sym typeface="Cabin"/>
                        </a:rPr>
                        <a:t> por que en caso de accidente un compañero/a puede llamar a emergencias</a:t>
                      </a:r>
                      <a:endParaRPr sz="1100" u="none" strike="noStrike" cap="none">
                        <a:latin typeface="Cabin"/>
                        <a:ea typeface="Cabin"/>
                        <a:cs typeface="Cabin"/>
                        <a:sym typeface="Cabin"/>
                      </a:endParaRPr>
                    </a:p>
                    <a:p>
                      <a:pPr marL="41910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latin typeface="Cabin"/>
                          <a:ea typeface="Cabin"/>
                          <a:cs typeface="Cabin"/>
                          <a:sym typeface="Cabin"/>
                        </a:rPr>
                        <a:t>En caso de que no haya señalización </a:t>
                      </a:r>
                      <a:r>
                        <a:rPr lang="es-CL" sz="1100">
                          <a:latin typeface="Cabin"/>
                          <a:ea typeface="Cabin"/>
                          <a:cs typeface="Cabin"/>
                          <a:sym typeface="Cabin"/>
                        </a:rPr>
                        <a:t>me</a:t>
                      </a:r>
                      <a:r>
                        <a:rPr lang="es-CL" sz="1100" u="none" strike="noStrike" cap="none">
                          <a:latin typeface="Cabin"/>
                          <a:ea typeface="Cabin"/>
                          <a:cs typeface="Cabin"/>
                          <a:sym typeface="Cabin"/>
                        </a:rPr>
                        <a:t> sentiria desorientada</a:t>
                      </a:r>
                      <a:endParaRPr sz="1100" u="none" strike="noStrike" cap="none">
                        <a:latin typeface="Cabin"/>
                        <a:ea typeface="Cabin"/>
                        <a:cs typeface="Cabin"/>
                        <a:sym typeface="Cabin"/>
                      </a:endParaRPr>
                    </a:p>
                    <a:p>
                      <a:pPr marL="41910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latin typeface="Cabin"/>
                          <a:ea typeface="Cabin"/>
                          <a:cs typeface="Cabin"/>
                          <a:sym typeface="Cabin"/>
                        </a:rPr>
                        <a:t>No tengo mucha experiencia en trekking pero me interesaria si se hiciera en grupo</a:t>
                      </a:r>
                      <a:endParaRPr sz="1100" u="none" strike="noStrike" cap="none">
                        <a:latin typeface="Cabin"/>
                        <a:ea typeface="Cabin"/>
                        <a:cs typeface="Cabin"/>
                        <a:sym typeface="Cabin"/>
                      </a:endParaRPr>
                    </a:p>
                    <a:p>
                      <a:pPr marL="419100" marR="0" lvl="0" indent="0" algn="l" rtl="0">
                        <a:lnSpc>
                          <a:spcPct val="100000"/>
                        </a:lnSpc>
                        <a:spcBef>
                          <a:spcPts val="0"/>
                        </a:spcBef>
                        <a:spcAft>
                          <a:spcPts val="0"/>
                        </a:spcAft>
                        <a:buClr>
                          <a:srgbClr val="000000"/>
                        </a:buClr>
                        <a:buSzPts val="1100"/>
                        <a:buFont typeface="Arial"/>
                        <a:buNone/>
                      </a:pPr>
                      <a:endParaRPr sz="1100" u="none" strike="noStrike" cap="none">
                        <a:latin typeface="Cabin"/>
                        <a:ea typeface="Cabin"/>
                        <a:cs typeface="Cabin"/>
                        <a:sym typeface="Cabin"/>
                      </a:endParaRPr>
                    </a:p>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latin typeface="Cabin"/>
                          <a:ea typeface="Cabin"/>
                          <a:cs typeface="Cabin"/>
                          <a:sym typeface="Cabin"/>
                        </a:rPr>
                        <a:t>Participaría en comunidad digital porque seria mucho mejor salir en grupo</a:t>
                      </a:r>
                      <a:endParaRPr sz="1100" u="none" strike="noStrike" cap="none">
                        <a:latin typeface="Cabin"/>
                        <a:ea typeface="Cabin"/>
                        <a:cs typeface="Cabin"/>
                        <a:sym typeface="Cabin"/>
                      </a:endParaRPr>
                    </a:p>
                  </a:txBody>
                  <a:tcPr marL="30800" marR="30800" marT="43550" marB="43550">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5" hMerge="1">
                  <a:txBody>
                    <a:bodyPr/>
                    <a:lstStyle/>
                    <a:p>
                      <a:endParaRPr lang="es-CL"/>
                    </a:p>
                  </a:txBody>
                  <a:tcPr/>
                </a:tc>
                <a:tc rowSpan="5" hMerge="1">
                  <a:txBody>
                    <a:bodyPr/>
                    <a:lstStyle/>
                    <a:p>
                      <a:endParaRPr lang="es-CL"/>
                    </a:p>
                  </a:txBody>
                  <a:tcPr/>
                </a:tc>
                <a:tc rowSpan="5" hMerge="1">
                  <a:txBody>
                    <a:bodyPr/>
                    <a:lstStyle/>
                    <a:p>
                      <a:endParaRPr lang="es-CL"/>
                    </a:p>
                  </a:txBody>
                  <a:tcPr/>
                </a:tc>
                <a:extLst>
                  <a:ext uri="{0D108BD9-81ED-4DB2-BD59-A6C34878D82A}">
                    <a16:rowId xmlns:a16="http://schemas.microsoft.com/office/drawing/2014/main" val="10004"/>
                  </a:ext>
                </a:extLst>
              </a:tr>
              <a:tr h="4111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2.- ¿Alguna vez haz tenido las ganas de ir a conocer un nuevo lugar para realizar trekking pero terminas no yendo por la falta de compañía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5"/>
                  </a:ext>
                </a:extLst>
              </a:tr>
              <a:tr h="4111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3.-</a:t>
                      </a:r>
                      <a:r>
                        <a:rPr lang="es-CL" sz="1100" u="none" strike="noStrike" cap="none">
                          <a:solidFill>
                            <a:schemeClr val="dk1"/>
                          </a:solidFill>
                          <a:latin typeface="Cabin"/>
                          <a:ea typeface="Cabin"/>
                          <a:cs typeface="Cabin"/>
                          <a:sym typeface="Cabin"/>
                        </a:rPr>
                        <a:t>¿Qué tan importante es para ti sentirte acompañado y seguro cuando haces actividades en montaña ?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6"/>
                  </a:ext>
                </a:extLst>
              </a:tr>
              <a:tr h="5919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4.- </a:t>
                      </a:r>
                      <a:r>
                        <a:rPr lang="es-CL" sz="1100" u="none" strike="noStrike" cap="none">
                          <a:solidFill>
                            <a:schemeClr val="dk1"/>
                          </a:solidFill>
                          <a:latin typeface="Cabin"/>
                          <a:ea typeface="Cabin"/>
                          <a:cs typeface="Cabin"/>
                          <a:sym typeface="Cabin"/>
                        </a:rPr>
                        <a:t>¿Alguna vez te has sentido desorientado o perdido en una ruta de trekking si no hay señalizaciones o aplicaciones que te orienten con gps en tiempo real?</a:t>
                      </a:r>
                      <a:endParaRPr sz="1100" u="none" strike="noStrike" cap="none">
                        <a:solidFill>
                          <a:schemeClr val="dk1"/>
                        </a:solidFill>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7"/>
                  </a:ext>
                </a:extLst>
              </a:tr>
              <a:tr h="106247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5.- ¿Te interesaría conectarte con personas que compartan tu mismo nivel de experiencia para realizar trekking en grupo?</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1100" u="none" strike="noStrike" cap="none">
                          <a:latin typeface="Cabin"/>
                          <a:ea typeface="Cabin"/>
                          <a:cs typeface="Cabin"/>
                          <a:sym typeface="Cabin"/>
                        </a:rPr>
                        <a:t>6.- ¿Participas</a:t>
                      </a:r>
                      <a:r>
                        <a:rPr lang="es-CL" sz="1100" u="none" strike="noStrike" cap="none">
                          <a:solidFill>
                            <a:schemeClr val="dk1"/>
                          </a:solidFill>
                          <a:latin typeface="Cabin"/>
                          <a:ea typeface="Cabin"/>
                          <a:cs typeface="Cabin"/>
                          <a:sym typeface="Cabin"/>
                        </a:rPr>
                        <a:t>/Participarias</a:t>
                      </a:r>
                      <a:r>
                        <a:rPr lang="es-CL" sz="1100" u="none" strike="noStrike" cap="none">
                          <a:latin typeface="Cabin"/>
                          <a:ea typeface="Cabin"/>
                          <a:cs typeface="Cabin"/>
                          <a:sym typeface="Cabin"/>
                        </a:rPr>
                        <a:t> en una comunidad digital donde puedas encontrar compañeros de trekking y organizar salidas seguras?</a:t>
                      </a:r>
                      <a:endParaRPr sz="1100" u="none" strike="noStrike" cap="none">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08"/>
                  </a:ext>
                </a:extLst>
              </a:tr>
              <a:tr h="366325">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Principales problemas identificados</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marL="0" marR="0" lvl="0" indent="0" algn="l" rtl="0">
                        <a:lnSpc>
                          <a:spcPct val="100000"/>
                        </a:lnSpc>
                        <a:spcBef>
                          <a:spcPts val="0"/>
                        </a:spcBef>
                        <a:spcAft>
                          <a:spcPts val="0"/>
                        </a:spcAft>
                        <a:buClr>
                          <a:srgbClr val="000000"/>
                        </a:buClr>
                        <a:buSzPts val="900"/>
                        <a:buFont typeface="Arial"/>
                        <a:buNone/>
                      </a:pPr>
                      <a:r>
                        <a:rPr lang="es-CL" sz="1100" b="1" u="none" strike="noStrike" cap="none">
                          <a:latin typeface="Cabin"/>
                          <a:ea typeface="Cabin"/>
                          <a:cs typeface="Cabin"/>
                          <a:sym typeface="Cabin"/>
                        </a:rPr>
                        <a:t>Describir el problema más relevante</a:t>
                      </a:r>
                      <a:endParaRPr sz="1100" b="1"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solidFill>
                      <a:srgbClr val="B9B9EA"/>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9"/>
                  </a:ext>
                </a:extLst>
              </a:tr>
              <a:tr h="36632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No tiene con quien salir a realizar trekking</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rowSpan="3" gridSpan="4">
                  <a:txBody>
                    <a:bodyPr/>
                    <a:lstStyle/>
                    <a:p>
                      <a:pPr marL="419100" marR="0" lvl="0" indent="-285750" algn="l" rtl="0">
                        <a:lnSpc>
                          <a:spcPct val="100000"/>
                        </a:lnSpc>
                        <a:spcBef>
                          <a:spcPts val="0"/>
                        </a:spcBef>
                        <a:spcAft>
                          <a:spcPts val="0"/>
                        </a:spcAft>
                        <a:buClr>
                          <a:schemeClr val="dk1"/>
                        </a:buClr>
                        <a:buSzPts val="1100"/>
                        <a:buFont typeface="Cabin"/>
                        <a:buChar char="-"/>
                      </a:pPr>
                      <a:r>
                        <a:rPr lang="es-CL" sz="1100" u="none" strike="noStrike" cap="none">
                          <a:solidFill>
                            <a:schemeClr val="dk1"/>
                          </a:solidFill>
                          <a:latin typeface="Cabin"/>
                          <a:ea typeface="Cabin"/>
                          <a:cs typeface="Cabin"/>
                          <a:sym typeface="Cabin"/>
                        </a:rPr>
                        <a:t>se siente insegura en caso de salir a hacer trekking sola en caso de sufr</a:t>
                      </a:r>
                      <a:r>
                        <a:rPr lang="es-CL" sz="1100">
                          <a:solidFill>
                            <a:schemeClr val="dk1"/>
                          </a:solidFill>
                          <a:latin typeface="Cabin"/>
                          <a:ea typeface="Cabin"/>
                          <a:cs typeface="Cabin"/>
                          <a:sym typeface="Cabin"/>
                        </a:rPr>
                        <a:t>ir algún </a:t>
                      </a:r>
                      <a:r>
                        <a:rPr lang="es-CL" sz="1100" u="none" strike="noStrike" cap="none">
                          <a:solidFill>
                            <a:schemeClr val="dk1"/>
                          </a:solidFill>
                          <a:latin typeface="Cabin"/>
                          <a:ea typeface="Cabin"/>
                          <a:cs typeface="Cabin"/>
                          <a:sym typeface="Cabin"/>
                        </a:rPr>
                        <a:t>accidente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rowSpan="3" hMerge="1">
                  <a:txBody>
                    <a:bodyPr/>
                    <a:lstStyle/>
                    <a:p>
                      <a:endParaRPr lang="es-CL"/>
                    </a:p>
                  </a:txBody>
                  <a:tcPr/>
                </a:tc>
                <a:tc rowSpan="3" hMerge="1">
                  <a:txBody>
                    <a:bodyPr/>
                    <a:lstStyle/>
                    <a:p>
                      <a:endParaRPr lang="es-CL"/>
                    </a:p>
                  </a:txBody>
                  <a:tcPr/>
                </a:tc>
                <a:tc rowSpan="3" hMerge="1">
                  <a:txBody>
                    <a:bodyPr/>
                    <a:lstStyle/>
                    <a:p>
                      <a:endParaRPr lang="es-CL"/>
                    </a:p>
                  </a:txBody>
                  <a:tcPr/>
                </a:tc>
                <a:extLst>
                  <a:ext uri="{0D108BD9-81ED-4DB2-BD59-A6C34878D82A}">
                    <a16:rowId xmlns:a16="http://schemas.microsoft.com/office/drawing/2014/main" val="10010"/>
                  </a:ext>
                </a:extLst>
              </a:tr>
              <a:tr h="41112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se siente insegura en caso de salir a hacer trekking sola en caso de accidente </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1"/>
                  </a:ext>
                </a:extLst>
              </a:tr>
              <a:tr h="366325">
                <a:tc gridSpan="4">
                  <a:txBody>
                    <a:bodyPr/>
                    <a:lstStyle/>
                    <a:p>
                      <a:pPr marL="419100" marR="0" lvl="0" indent="-285750" algn="l" rtl="0">
                        <a:lnSpc>
                          <a:spcPct val="100000"/>
                        </a:lnSpc>
                        <a:spcBef>
                          <a:spcPts val="0"/>
                        </a:spcBef>
                        <a:spcAft>
                          <a:spcPts val="0"/>
                        </a:spcAft>
                        <a:buClr>
                          <a:srgbClr val="000000"/>
                        </a:buClr>
                        <a:buSzPts val="1100"/>
                        <a:buFont typeface="Cabin"/>
                        <a:buChar char="-"/>
                      </a:pPr>
                      <a:r>
                        <a:rPr lang="es-CL" sz="1100" u="none" strike="noStrike" cap="none">
                          <a:latin typeface="Cabin"/>
                          <a:ea typeface="Cabin"/>
                          <a:cs typeface="Cabin"/>
                          <a:sym typeface="Cabin"/>
                        </a:rPr>
                        <a:t>Sin señalizaciones se sentiría desorientada</a:t>
                      </a:r>
                      <a:endParaRPr sz="1100" u="none" strike="noStrike" cap="none">
                        <a:latin typeface="Cabin"/>
                        <a:ea typeface="Cabin"/>
                        <a:cs typeface="Cabin"/>
                        <a:sym typeface="Cabin"/>
                      </a:endParaRPr>
                    </a:p>
                  </a:txBody>
                  <a:tcPr marL="30800" marR="30800" marT="43550" marB="43550" anchor="ctr">
                    <a:lnL w="8300" cap="flat" cmpd="sng">
                      <a:solidFill>
                        <a:srgbClr val="000000"/>
                      </a:solidFill>
                      <a:prstDash val="dot"/>
                      <a:round/>
                      <a:headEnd type="none" w="sm" len="sm"/>
                      <a:tailEnd type="none" w="sm" len="sm"/>
                    </a:lnL>
                    <a:lnR w="8300" cap="flat" cmpd="sng">
                      <a:solidFill>
                        <a:srgbClr val="000000"/>
                      </a:solidFill>
                      <a:prstDash val="dot"/>
                      <a:round/>
                      <a:headEnd type="none" w="sm" len="sm"/>
                      <a:tailEnd type="none" w="sm" len="sm"/>
                    </a:lnR>
                    <a:lnT w="8300" cap="flat" cmpd="sng">
                      <a:solidFill>
                        <a:srgbClr val="000000"/>
                      </a:solidFill>
                      <a:prstDash val="dot"/>
                      <a:round/>
                      <a:headEnd type="none" w="sm" len="sm"/>
                      <a:tailEnd type="none" w="sm" len="sm"/>
                    </a:lnT>
                    <a:lnB w="8300" cap="flat" cmpd="sng">
                      <a:solidFill>
                        <a:srgbClr val="000000"/>
                      </a:solidFill>
                      <a:prstDash val="dot"/>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cxnSp>
        <p:nvCxnSpPr>
          <p:cNvPr id="226" name="Google Shape;226;g3f6d87f1187_0_348"/>
          <p:cNvCxnSpPr/>
          <p:nvPr/>
        </p:nvCxnSpPr>
        <p:spPr>
          <a:xfrm>
            <a:off x="1161077" y="4595829"/>
            <a:ext cx="7300500" cy="0"/>
          </a:xfrm>
          <a:prstGeom prst="straightConnector1">
            <a:avLst/>
          </a:prstGeom>
          <a:noFill/>
          <a:ln w="8300" cap="flat" cmpd="sng">
            <a:solidFill>
              <a:srgbClr val="5C5DD4"/>
            </a:solidFill>
            <a:prstDash val="solid"/>
            <a:round/>
            <a:headEnd type="none" w="sm" len="sm"/>
            <a:tailEnd type="none" w="sm" len="sm"/>
          </a:ln>
        </p:spPr>
      </p:cxnSp>
      <p:sp>
        <p:nvSpPr>
          <p:cNvPr id="227" name="Google Shape;227;g3f6d87f1187_0_348"/>
          <p:cNvSpPr/>
          <p:nvPr/>
        </p:nvSpPr>
        <p:spPr>
          <a:xfrm>
            <a:off x="389795" y="2833492"/>
            <a:ext cx="8628600" cy="14247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t"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a:latin typeface="Cabin SemiBold"/>
                <a:ea typeface="Cabin SemiBold"/>
                <a:cs typeface="Cabin SemiBold"/>
                <a:sym typeface="Cabin SemiBold"/>
              </a:rPr>
              <a:t>Descripción de</a:t>
            </a:r>
            <a:r>
              <a:rPr lang="es-CL" sz="1000" b="1" i="0" u="none" strike="noStrike" cap="none">
                <a:solidFill>
                  <a:srgbClr val="000000"/>
                </a:solidFill>
                <a:latin typeface="Cabin SemiBold"/>
                <a:ea typeface="Cabin SemiBold"/>
                <a:cs typeface="Cabin SemiBold"/>
                <a:sym typeface="Cabin SemiBold"/>
              </a:rPr>
              <a:t> experiencias o rutina vinculada a problema(s) principal(es):  </a:t>
            </a:r>
            <a:endParaRPr sz="1000" b="1" i="0" u="none" strike="noStrike" cap="none">
              <a:solidFill>
                <a:srgbClr val="000000"/>
              </a:solidFill>
              <a:latin typeface="Cabin SemiBold"/>
              <a:ea typeface="Cabin SemiBold"/>
              <a:cs typeface="Cabin SemiBold"/>
              <a:sym typeface="Cabin SemiBold"/>
            </a:endParaRPr>
          </a:p>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Durante el fin de semana, Día sábado, durante la mañana mientras </a:t>
            </a:r>
            <a:r>
              <a:rPr lang="es-CL" sz="1000" b="1" i="0" u="none" strike="noStrike" cap="none">
                <a:solidFill>
                  <a:schemeClr val="dk1"/>
                </a:solidFill>
                <a:latin typeface="Cabin SemiBold"/>
                <a:ea typeface="Cabin SemiBold"/>
                <a:cs typeface="Cabin SemiBold"/>
                <a:sym typeface="Cabin SemiBold"/>
              </a:rPr>
              <a:t>Alexander </a:t>
            </a:r>
            <a:r>
              <a:rPr lang="es-CL" sz="1000" b="1" i="0" u="none" strike="noStrike" cap="none">
                <a:solidFill>
                  <a:srgbClr val="000000"/>
                </a:solidFill>
                <a:latin typeface="Cabin SemiBold"/>
                <a:ea typeface="Cabin SemiBold"/>
                <a:cs typeface="Cabin SemiBold"/>
                <a:sym typeface="Cabin SemiBold"/>
              </a:rPr>
              <a:t>toma desayuno planea salir a hacer trekking aprovechando un día soleado, se comunica con un amigo para poder ir con </a:t>
            </a:r>
            <a:r>
              <a:rPr lang="es-CL" sz="1000" b="1">
                <a:latin typeface="Cabin SemiBold"/>
                <a:ea typeface="Cabin SemiBold"/>
                <a:cs typeface="Cabin SemiBold"/>
                <a:sym typeface="Cabin SemiBold"/>
              </a:rPr>
              <a:t>él</a:t>
            </a:r>
            <a:r>
              <a:rPr lang="es-CL" sz="1000" b="1" i="0" u="none" strike="noStrike" cap="none">
                <a:solidFill>
                  <a:srgbClr val="000000"/>
                </a:solidFill>
                <a:latin typeface="Cabin SemiBold"/>
                <a:ea typeface="Cabin SemiBold"/>
                <a:cs typeface="Cabin SemiBold"/>
                <a:sym typeface="Cabin SemiBold"/>
              </a:rPr>
              <a:t>, pero el amigo no puede, aun así Alexander decide salir solo, sale de casa, toma el metro, la micro que lo deja fuera del inicio de la quebrada de Macul e inicia el trekking, cuando ya estaba a mitad de camino a su destino se desorienta y se accidenta (torcedura de tobillo, cae en un espino) estando solo, en ese momento siente una gran preocupación por no tener quien lo ayude, luego de un momento de estar gritando por ayuda, lo encuentran otras personas en </a:t>
            </a:r>
            <a:r>
              <a:rPr lang="es-CL" sz="1000" b="1">
                <a:latin typeface="Cabin SemiBold"/>
                <a:ea typeface="Cabin SemiBold"/>
                <a:cs typeface="Cabin SemiBold"/>
                <a:sym typeface="Cabin SemiBold"/>
              </a:rPr>
              <a:t>un</a:t>
            </a:r>
            <a:r>
              <a:rPr lang="es-CL" sz="1000" b="1" i="0" u="none" strike="noStrike" cap="none">
                <a:solidFill>
                  <a:srgbClr val="000000"/>
                </a:solidFill>
                <a:latin typeface="Cabin SemiBold"/>
                <a:ea typeface="Cabin SemiBold"/>
                <a:cs typeface="Cabin SemiBold"/>
                <a:sym typeface="Cabin SemiBold"/>
              </a:rPr>
              <a:t> sendero peligroso, lo ayudan a bajar le prestan primeros auxilio y luego de un momento logra irse de vuelta a casa </a:t>
            </a:r>
            <a:r>
              <a:rPr lang="es-CL" sz="1000" b="1" i="0" u="none" strike="noStrike" cap="none">
                <a:solidFill>
                  <a:schemeClr val="dk1"/>
                </a:solidFill>
                <a:latin typeface="Cabin SemiBold"/>
                <a:ea typeface="Cabin SemiBold"/>
                <a:cs typeface="Cabin SemiBold"/>
                <a:sym typeface="Cabin SemiBold"/>
              </a:rPr>
              <a:t>frustrado y triste, vuelve en uber </a:t>
            </a:r>
            <a:r>
              <a:rPr lang="es-CL" sz="1000" b="1" i="0" u="none" strike="noStrike" cap="none">
                <a:solidFill>
                  <a:srgbClr val="000000"/>
                </a:solidFill>
                <a:latin typeface="Cabin SemiBold"/>
                <a:ea typeface="Cabin SemiBold"/>
                <a:cs typeface="Cabin SemiBold"/>
                <a:sym typeface="Cabin SemiBold"/>
              </a:rPr>
              <a:t>ya que se había hecho de noche.</a:t>
            </a:r>
            <a:endParaRPr sz="3100" b="1" i="0" u="none" strike="noStrike" cap="none">
              <a:solidFill>
                <a:srgbClr val="000000"/>
              </a:solidFill>
              <a:latin typeface="Cabin SemiBold"/>
              <a:ea typeface="Cabin SemiBold"/>
              <a:cs typeface="Cabin SemiBold"/>
              <a:sym typeface="Cabin SemiBold"/>
            </a:endParaRPr>
          </a:p>
        </p:txBody>
      </p:sp>
      <p:sp>
        <p:nvSpPr>
          <p:cNvPr id="228" name="Google Shape;228;g3f6d87f1187_0_348"/>
          <p:cNvSpPr txBox="1"/>
          <p:nvPr/>
        </p:nvSpPr>
        <p:spPr>
          <a:xfrm>
            <a:off x="389666" y="400816"/>
            <a:ext cx="86286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P</a:t>
            </a:r>
            <a:r>
              <a:rPr lang="es-CL" sz="1100" b="0" i="0" u="none" strike="noStrike" cap="none">
                <a:solidFill>
                  <a:srgbClr val="000000"/>
                </a:solidFill>
                <a:latin typeface="Cabin"/>
                <a:ea typeface="Cabin"/>
                <a:cs typeface="Cabin"/>
                <a:sym typeface="Cabin"/>
              </a:rPr>
              <a:t>erfil base de usuario en torno al proyecto investigado; posteriormente</a:t>
            </a:r>
            <a:r>
              <a:rPr lang="es-CL" sz="1100">
                <a:latin typeface="Cabin"/>
                <a:ea typeface="Cabin"/>
                <a:cs typeface="Cabin"/>
                <a:sym typeface="Cabin"/>
              </a:rPr>
              <a:t> se realiza el </a:t>
            </a:r>
            <a:r>
              <a:rPr lang="es-CL" sz="1100" b="0" i="0" u="none" strike="noStrike" cap="none">
                <a:solidFill>
                  <a:srgbClr val="000000"/>
                </a:solidFill>
                <a:latin typeface="Cabin"/>
                <a:ea typeface="Cabin"/>
                <a:cs typeface="Cabin"/>
                <a:sym typeface="Cabin"/>
              </a:rPr>
              <a:t>mapa de viaje identificando necesidades, emociones, barreras y oportunidades en cada etapa de su experiencia.</a:t>
            </a:r>
            <a:endParaRPr sz="1100" b="0" i="0" u="none" strike="noStrike" cap="none">
              <a:solidFill>
                <a:srgbClr val="000000"/>
              </a:solidFill>
              <a:latin typeface="Cabin"/>
              <a:ea typeface="Cabin"/>
              <a:cs typeface="Cabin"/>
              <a:sym typeface="Cabin"/>
            </a:endParaRPr>
          </a:p>
        </p:txBody>
      </p:sp>
      <p:sp>
        <p:nvSpPr>
          <p:cNvPr id="229" name="Google Shape;229;g3f6d87f1187_0_348"/>
          <p:cNvSpPr txBox="1"/>
          <p:nvPr/>
        </p:nvSpPr>
        <p:spPr>
          <a:xfrm>
            <a:off x="910024" y="4438263"/>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8:00 AM</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Tomando Desayuno</a:t>
            </a:r>
            <a:endParaRPr sz="800" b="0" i="0" u="none" strike="noStrike" cap="none">
              <a:solidFill>
                <a:srgbClr val="000000"/>
              </a:solidFill>
              <a:latin typeface="Cabin"/>
              <a:ea typeface="Cabin"/>
              <a:cs typeface="Cabin"/>
              <a:sym typeface="Cabin"/>
            </a:endParaRPr>
          </a:p>
        </p:txBody>
      </p:sp>
      <p:sp>
        <p:nvSpPr>
          <p:cNvPr id="230" name="Google Shape;230;g3f6d87f1187_0_348"/>
          <p:cNvSpPr/>
          <p:nvPr/>
        </p:nvSpPr>
        <p:spPr>
          <a:xfrm>
            <a:off x="390114" y="847693"/>
            <a:ext cx="4379700" cy="328500"/>
          </a:xfrm>
          <a:prstGeom prst="rect">
            <a:avLst/>
          </a:prstGeom>
          <a:noFill/>
          <a:ln>
            <a:noFill/>
          </a:ln>
        </p:spPr>
        <p:txBody>
          <a:bodyPr spcFirstLastPara="1" wrap="square" lIns="17675" tIns="17675" rIns="17675" bIns="1767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s-CL" sz="1000" b="1" i="0" u="none" strike="noStrike" cap="none">
                <a:solidFill>
                  <a:schemeClr val="lt1"/>
                </a:solidFill>
                <a:highlight>
                  <a:srgbClr val="5C5DD4"/>
                </a:highlight>
                <a:latin typeface="Cabin SemiBold"/>
                <a:ea typeface="Cabin SemiBold"/>
                <a:cs typeface="Cabin SemiBold"/>
                <a:sym typeface="Cabin SemiBold"/>
              </a:rPr>
              <a:t>PERFIL DE USUARIO/CLIENTE REPRESENTATIVO</a:t>
            </a:r>
            <a:endParaRPr sz="1000" b="0" i="0" u="none" strike="noStrike" cap="none">
              <a:solidFill>
                <a:schemeClr val="lt1"/>
              </a:solidFill>
              <a:highlight>
                <a:srgbClr val="5C5DD4"/>
              </a:highlight>
              <a:latin typeface="Cabin"/>
              <a:ea typeface="Cabin"/>
              <a:cs typeface="Cabin"/>
              <a:sym typeface="Cabin"/>
            </a:endParaRPr>
          </a:p>
        </p:txBody>
      </p:sp>
      <p:sp>
        <p:nvSpPr>
          <p:cNvPr id="231" name="Google Shape;231;g3f6d87f1187_0_348"/>
          <p:cNvSpPr/>
          <p:nvPr/>
        </p:nvSpPr>
        <p:spPr>
          <a:xfrm>
            <a:off x="390114" y="1176364"/>
            <a:ext cx="1977300" cy="328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s-CL" sz="1000" b="1" i="0" u="none" strike="noStrike" cap="none">
                <a:solidFill>
                  <a:srgbClr val="000000"/>
                </a:solidFill>
                <a:latin typeface="Cabin SemiBold"/>
                <a:ea typeface="Cabin SemiBold"/>
                <a:cs typeface="Cabin SemiBold"/>
                <a:sym typeface="Cabin SemiBold"/>
              </a:rPr>
              <a:t>Nombre: Alexander Carrasco</a:t>
            </a:r>
            <a:endParaRPr sz="1000" b="1" i="0" u="none" strike="noStrike" cap="none">
              <a:solidFill>
                <a:srgbClr val="000000"/>
              </a:solidFill>
              <a:latin typeface="Cabin SemiBold"/>
              <a:ea typeface="Cabin SemiBold"/>
              <a:cs typeface="Cabin SemiBold"/>
              <a:sym typeface="Cabin SemiBold"/>
            </a:endParaRPr>
          </a:p>
        </p:txBody>
      </p:sp>
      <p:sp>
        <p:nvSpPr>
          <p:cNvPr id="232" name="Google Shape;232;g3f6d87f1187_0_348"/>
          <p:cNvSpPr/>
          <p:nvPr/>
        </p:nvSpPr>
        <p:spPr>
          <a:xfrm>
            <a:off x="2367296" y="1176364"/>
            <a:ext cx="728400" cy="328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ctr"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Edad: 20</a:t>
            </a:r>
            <a:endParaRPr sz="1000" b="1" i="0" u="none" strike="noStrike" cap="none">
              <a:solidFill>
                <a:srgbClr val="000000"/>
              </a:solidFill>
              <a:latin typeface="Cabin SemiBold"/>
              <a:ea typeface="Cabin SemiBold"/>
              <a:cs typeface="Cabin SemiBold"/>
              <a:sym typeface="Cabin SemiBold"/>
            </a:endParaRPr>
          </a:p>
        </p:txBody>
      </p:sp>
      <p:sp>
        <p:nvSpPr>
          <p:cNvPr id="233" name="Google Shape;233;g3f6d87f1187_0_348"/>
          <p:cNvSpPr/>
          <p:nvPr/>
        </p:nvSpPr>
        <p:spPr>
          <a:xfrm>
            <a:off x="390051" y="1505147"/>
            <a:ext cx="2705700" cy="328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ctr"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Dónde vive: La pintana</a:t>
            </a:r>
            <a:endParaRPr sz="1000" b="1" i="0" u="none" strike="noStrike" cap="none">
              <a:solidFill>
                <a:srgbClr val="000000"/>
              </a:solidFill>
              <a:latin typeface="Cabin SemiBold"/>
              <a:ea typeface="Cabin SemiBold"/>
              <a:cs typeface="Cabin SemiBold"/>
              <a:sym typeface="Cabin SemiBold"/>
            </a:endParaRPr>
          </a:p>
        </p:txBody>
      </p:sp>
      <p:sp>
        <p:nvSpPr>
          <p:cNvPr id="234" name="Google Shape;234;g3f6d87f1187_0_348"/>
          <p:cNvSpPr/>
          <p:nvPr/>
        </p:nvSpPr>
        <p:spPr>
          <a:xfrm>
            <a:off x="390051" y="1833932"/>
            <a:ext cx="2705700" cy="328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ctr"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Ocupación: Estudiante</a:t>
            </a:r>
            <a:endParaRPr sz="1000" b="1" i="0" u="none" strike="noStrike" cap="none">
              <a:solidFill>
                <a:srgbClr val="000000"/>
              </a:solidFill>
              <a:latin typeface="Cabin SemiBold"/>
              <a:ea typeface="Cabin SemiBold"/>
              <a:cs typeface="Cabin SemiBold"/>
              <a:sym typeface="Cabin SemiBold"/>
            </a:endParaRPr>
          </a:p>
        </p:txBody>
      </p:sp>
      <p:sp>
        <p:nvSpPr>
          <p:cNvPr id="235" name="Google Shape;235;g3f6d87f1187_0_348"/>
          <p:cNvSpPr/>
          <p:nvPr/>
        </p:nvSpPr>
        <p:spPr>
          <a:xfrm>
            <a:off x="3095735" y="1176364"/>
            <a:ext cx="2954400" cy="1315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t"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i="0" u="none" strike="noStrike" cap="none">
                <a:solidFill>
                  <a:srgbClr val="000000"/>
                </a:solidFill>
                <a:latin typeface="Cabin"/>
                <a:ea typeface="Cabin"/>
                <a:cs typeface="Cabin"/>
                <a:sym typeface="Cabin"/>
              </a:rPr>
              <a:t>Características generales: </a:t>
            </a:r>
            <a:endParaRPr sz="1000" i="0" u="none" strike="noStrike" cap="none">
              <a:solidFill>
                <a:srgbClr val="000000"/>
              </a:solidFill>
              <a:latin typeface="Cabin"/>
              <a:ea typeface="Cabin"/>
              <a:cs typeface="Cabin"/>
              <a:sym typeface="Cabin"/>
            </a:endParaRPr>
          </a:p>
          <a:p>
            <a:pPr marL="0" marR="0" lvl="0" indent="0" algn="l" rtl="0">
              <a:lnSpc>
                <a:spcPct val="115000"/>
              </a:lnSpc>
              <a:spcBef>
                <a:spcPts val="0"/>
              </a:spcBef>
              <a:spcAft>
                <a:spcPts val="0"/>
              </a:spcAft>
              <a:buClr>
                <a:srgbClr val="000000"/>
              </a:buClr>
              <a:buSzPts val="700"/>
              <a:buFont typeface="Arial"/>
              <a:buNone/>
            </a:pPr>
            <a:r>
              <a:rPr lang="es-CL" sz="1000" i="0" u="none" strike="noStrike" cap="none">
                <a:solidFill>
                  <a:srgbClr val="000000"/>
                </a:solidFill>
                <a:latin typeface="Cabin"/>
                <a:ea typeface="Cabin"/>
                <a:cs typeface="Cabin"/>
                <a:sym typeface="Cabin"/>
              </a:rPr>
              <a:t>le gusta juntarse con amigos a jugar online, salir a hacer trekking, tiene una familia pequeña, actualmente no está trabajando y dedica la mayoría de su tiempo para estudiar</a:t>
            </a:r>
            <a:endParaRPr sz="1000" i="0" u="none" strike="noStrike" cap="none">
              <a:solidFill>
                <a:srgbClr val="000000"/>
              </a:solidFill>
              <a:latin typeface="Cabin"/>
              <a:ea typeface="Cabin"/>
              <a:cs typeface="Cabin"/>
              <a:sym typeface="Cabin"/>
            </a:endParaRPr>
          </a:p>
          <a:p>
            <a:pPr marL="0" marR="0" lvl="0" indent="0" algn="l" rtl="0">
              <a:lnSpc>
                <a:spcPct val="115000"/>
              </a:lnSpc>
              <a:spcBef>
                <a:spcPts val="0"/>
              </a:spcBef>
              <a:spcAft>
                <a:spcPts val="0"/>
              </a:spcAft>
              <a:buClr>
                <a:srgbClr val="000000"/>
              </a:buClr>
              <a:buSzPts val="700"/>
              <a:buFont typeface="Arial"/>
              <a:buNone/>
            </a:pPr>
            <a:endParaRPr sz="1000" b="1" i="1" u="none" strike="noStrike" cap="none">
              <a:solidFill>
                <a:srgbClr val="000000"/>
              </a:solidFill>
              <a:latin typeface="Cabin SemiBold"/>
              <a:ea typeface="Cabin SemiBold"/>
              <a:cs typeface="Cabin SemiBold"/>
              <a:sym typeface="Cabin SemiBold"/>
            </a:endParaRPr>
          </a:p>
        </p:txBody>
      </p:sp>
      <p:sp>
        <p:nvSpPr>
          <p:cNvPr id="236" name="Google Shape;236;g3f6d87f1187_0_348"/>
          <p:cNvSpPr/>
          <p:nvPr/>
        </p:nvSpPr>
        <p:spPr>
          <a:xfrm>
            <a:off x="6047982" y="1183225"/>
            <a:ext cx="2968500" cy="6789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t"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Motivaciones: </a:t>
            </a:r>
            <a:endParaRPr sz="1000" b="1" i="0" u="none" strike="noStrike" cap="none">
              <a:solidFill>
                <a:srgbClr val="000000"/>
              </a:solidFill>
              <a:latin typeface="Cabin SemiBold"/>
              <a:ea typeface="Cabin SemiBold"/>
              <a:cs typeface="Cabin SemiBold"/>
              <a:sym typeface="Cabin SemiBold"/>
            </a:endParaRPr>
          </a:p>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conectarse con la naturaleza y disfrutar de un dia soleado</a:t>
            </a:r>
            <a:endParaRPr sz="1000" b="1" i="0" u="none" strike="noStrike" cap="none">
              <a:solidFill>
                <a:srgbClr val="000000"/>
              </a:solidFill>
              <a:latin typeface="Cabin SemiBold"/>
              <a:ea typeface="Cabin SemiBold"/>
              <a:cs typeface="Cabin SemiBold"/>
              <a:sym typeface="Cabin SemiBold"/>
            </a:endParaRPr>
          </a:p>
        </p:txBody>
      </p:sp>
      <p:grpSp>
        <p:nvGrpSpPr>
          <p:cNvPr id="237" name="Google Shape;237;g3f6d87f1187_0_348"/>
          <p:cNvGrpSpPr/>
          <p:nvPr/>
        </p:nvGrpSpPr>
        <p:grpSpPr>
          <a:xfrm>
            <a:off x="448668" y="5477799"/>
            <a:ext cx="231208" cy="249070"/>
            <a:chOff x="-1119050" y="1695475"/>
            <a:chExt cx="320100" cy="320100"/>
          </a:xfrm>
        </p:grpSpPr>
        <p:sp>
          <p:nvSpPr>
            <p:cNvPr id="238" name="Google Shape;238;g3f6d87f1187_0_348"/>
            <p:cNvSpPr/>
            <p:nvPr/>
          </p:nvSpPr>
          <p:spPr>
            <a:xfrm>
              <a:off x="-1119050" y="1695475"/>
              <a:ext cx="320100" cy="3201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cxnSp>
          <p:nvCxnSpPr>
            <p:cNvPr id="239" name="Google Shape;239;g3f6d87f1187_0_348"/>
            <p:cNvCxnSpPr/>
            <p:nvPr/>
          </p:nvCxnSpPr>
          <p:spPr>
            <a:xfrm>
              <a:off x="-1031750" y="1918450"/>
              <a:ext cx="145500" cy="0"/>
            </a:xfrm>
            <a:prstGeom prst="straightConnector1">
              <a:avLst/>
            </a:prstGeom>
            <a:noFill/>
            <a:ln w="8300" cap="flat" cmpd="sng">
              <a:solidFill>
                <a:srgbClr val="000000"/>
              </a:solidFill>
              <a:prstDash val="solid"/>
              <a:round/>
              <a:headEnd type="none" w="sm" len="sm"/>
              <a:tailEnd type="none" w="sm" len="sm"/>
            </a:ln>
          </p:spPr>
        </p:cxnSp>
        <p:sp>
          <p:nvSpPr>
            <p:cNvPr id="240" name="Google Shape;240;g3f6d87f1187_0_348"/>
            <p:cNvSpPr/>
            <p:nvPr/>
          </p:nvSpPr>
          <p:spPr>
            <a:xfrm>
              <a:off x="-1058725" y="1775025"/>
              <a:ext cx="59400" cy="66000"/>
            </a:xfrm>
            <a:prstGeom prst="arc">
              <a:avLst>
                <a:gd name="adj1" fmla="val 1553"/>
                <a:gd name="adj2" fmla="val 10689090"/>
              </a:avLst>
            </a:prstGeom>
            <a:no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41" name="Google Shape;241;g3f6d87f1187_0_348"/>
            <p:cNvSpPr/>
            <p:nvPr/>
          </p:nvSpPr>
          <p:spPr>
            <a:xfrm>
              <a:off x="-924350" y="1775025"/>
              <a:ext cx="59400" cy="66000"/>
            </a:xfrm>
            <a:prstGeom prst="arc">
              <a:avLst>
                <a:gd name="adj1" fmla="val 1553"/>
                <a:gd name="adj2" fmla="val 10689090"/>
              </a:avLst>
            </a:prstGeom>
            <a:no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grpSp>
        <p:nvGrpSpPr>
          <p:cNvPr id="242" name="Google Shape;242;g3f6d87f1187_0_348"/>
          <p:cNvGrpSpPr/>
          <p:nvPr/>
        </p:nvGrpSpPr>
        <p:grpSpPr>
          <a:xfrm>
            <a:off x="448665" y="4396486"/>
            <a:ext cx="231208" cy="249070"/>
            <a:chOff x="-1500050" y="1695475"/>
            <a:chExt cx="320100" cy="320100"/>
          </a:xfrm>
        </p:grpSpPr>
        <p:sp>
          <p:nvSpPr>
            <p:cNvPr id="243" name="Google Shape;243;g3f6d87f1187_0_348"/>
            <p:cNvSpPr/>
            <p:nvPr/>
          </p:nvSpPr>
          <p:spPr>
            <a:xfrm>
              <a:off x="-1500050" y="1695475"/>
              <a:ext cx="320100" cy="3201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44" name="Google Shape;244;g3f6d87f1187_0_348"/>
            <p:cNvSpPr/>
            <p:nvPr/>
          </p:nvSpPr>
          <p:spPr>
            <a:xfrm>
              <a:off x="-1432375" y="1796325"/>
              <a:ext cx="44700" cy="447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45" name="Google Shape;245;g3f6d87f1187_0_348"/>
            <p:cNvSpPr/>
            <p:nvPr/>
          </p:nvSpPr>
          <p:spPr>
            <a:xfrm>
              <a:off x="-1290650" y="1796325"/>
              <a:ext cx="44700" cy="447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46" name="Google Shape;246;g3f6d87f1187_0_348"/>
            <p:cNvSpPr/>
            <p:nvPr/>
          </p:nvSpPr>
          <p:spPr>
            <a:xfrm>
              <a:off x="-1422350" y="1819575"/>
              <a:ext cx="161700" cy="118800"/>
            </a:xfrm>
            <a:prstGeom prst="arc">
              <a:avLst>
                <a:gd name="adj1" fmla="val 631741"/>
                <a:gd name="adj2" fmla="val 9909520"/>
              </a:avLst>
            </a:prstGeom>
            <a:no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grpSp>
        <p:nvGrpSpPr>
          <p:cNvPr id="247" name="Google Shape;247;g3f6d87f1187_0_348"/>
          <p:cNvGrpSpPr/>
          <p:nvPr/>
        </p:nvGrpSpPr>
        <p:grpSpPr>
          <a:xfrm>
            <a:off x="448646" y="6487455"/>
            <a:ext cx="231208" cy="249070"/>
            <a:chOff x="-738050" y="1695475"/>
            <a:chExt cx="320100" cy="320100"/>
          </a:xfrm>
        </p:grpSpPr>
        <p:sp>
          <p:nvSpPr>
            <p:cNvPr id="248" name="Google Shape;248;g3f6d87f1187_0_348"/>
            <p:cNvSpPr/>
            <p:nvPr/>
          </p:nvSpPr>
          <p:spPr>
            <a:xfrm>
              <a:off x="-738050" y="1695475"/>
              <a:ext cx="320100" cy="3201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49" name="Google Shape;249;g3f6d87f1187_0_348"/>
            <p:cNvSpPr/>
            <p:nvPr/>
          </p:nvSpPr>
          <p:spPr>
            <a:xfrm>
              <a:off x="-670375" y="1796325"/>
              <a:ext cx="44700" cy="447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50" name="Google Shape;250;g3f6d87f1187_0_348"/>
            <p:cNvSpPr/>
            <p:nvPr/>
          </p:nvSpPr>
          <p:spPr>
            <a:xfrm>
              <a:off x="-528650" y="1796325"/>
              <a:ext cx="44700" cy="44700"/>
            </a:xfrm>
            <a:prstGeom prst="ellipse">
              <a:avLst/>
            </a:prstGeom>
            <a:solidFill>
              <a:srgbClr val="FFFFFF"/>
            </a:solid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251" name="Google Shape;251;g3f6d87f1187_0_348"/>
            <p:cNvSpPr/>
            <p:nvPr/>
          </p:nvSpPr>
          <p:spPr>
            <a:xfrm rot="10800000" flipH="1">
              <a:off x="-658850" y="1879575"/>
              <a:ext cx="161700" cy="126300"/>
            </a:xfrm>
            <a:prstGeom prst="arc">
              <a:avLst>
                <a:gd name="adj1" fmla="val 631741"/>
                <a:gd name="adj2" fmla="val 9909520"/>
              </a:avLst>
            </a:prstGeom>
            <a:noFill/>
            <a:ln w="8300" cap="flat" cmpd="sng">
              <a:solidFill>
                <a:srgbClr val="000000"/>
              </a:solidFill>
              <a:prstDash val="solid"/>
              <a:round/>
              <a:headEnd type="none" w="sm" len="sm"/>
              <a:tailEnd type="none" w="sm" len="sm"/>
            </a:ln>
          </p:spPr>
          <p:txBody>
            <a:bodyPr spcFirstLastPara="1" wrap="square" lIns="44900" tIns="44900" rIns="44900" bIns="44900"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cxnSp>
        <p:nvCxnSpPr>
          <p:cNvPr id="252" name="Google Shape;252;g3f6d87f1187_0_348"/>
          <p:cNvCxnSpPr/>
          <p:nvPr/>
        </p:nvCxnSpPr>
        <p:spPr>
          <a:xfrm>
            <a:off x="1161077" y="6631327"/>
            <a:ext cx="7300500" cy="0"/>
          </a:xfrm>
          <a:prstGeom prst="straightConnector1">
            <a:avLst/>
          </a:prstGeom>
          <a:noFill/>
          <a:ln w="8300" cap="flat" cmpd="sng">
            <a:solidFill>
              <a:srgbClr val="5C5DD4"/>
            </a:solidFill>
            <a:prstDash val="solid"/>
            <a:round/>
            <a:headEnd type="none" w="sm" len="sm"/>
            <a:tailEnd type="none" w="sm" len="sm"/>
          </a:ln>
        </p:spPr>
      </p:cxnSp>
      <p:sp>
        <p:nvSpPr>
          <p:cNvPr id="253" name="Google Shape;253;g3f6d87f1187_0_348"/>
          <p:cNvSpPr txBox="1"/>
          <p:nvPr/>
        </p:nvSpPr>
        <p:spPr>
          <a:xfrm>
            <a:off x="711355" y="6482757"/>
            <a:ext cx="2862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s-CL" sz="1800" b="1" i="0" u="none" strike="noStrike" cap="none">
                <a:solidFill>
                  <a:srgbClr val="5C5DD4"/>
                </a:solidFill>
                <a:latin typeface="Cabin"/>
                <a:ea typeface="Cabin"/>
                <a:cs typeface="Cabin"/>
                <a:sym typeface="Cabin"/>
              </a:rPr>
              <a:t>-</a:t>
            </a:r>
            <a:endParaRPr sz="1800" b="1" i="0" u="none" strike="noStrike" cap="none">
              <a:solidFill>
                <a:srgbClr val="5C5DD4"/>
              </a:solidFill>
              <a:latin typeface="Cabin"/>
              <a:ea typeface="Cabin"/>
              <a:cs typeface="Cabin"/>
              <a:sym typeface="Cabin"/>
            </a:endParaRPr>
          </a:p>
        </p:txBody>
      </p:sp>
      <p:sp>
        <p:nvSpPr>
          <p:cNvPr id="254" name="Google Shape;254;g3f6d87f1187_0_348"/>
          <p:cNvSpPr/>
          <p:nvPr/>
        </p:nvSpPr>
        <p:spPr>
          <a:xfrm>
            <a:off x="6047982" y="1861937"/>
            <a:ext cx="2968500" cy="6360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t"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Frustraciones: </a:t>
            </a:r>
            <a:endParaRPr sz="1000" b="1" i="0" u="none" strike="noStrike" cap="none">
              <a:solidFill>
                <a:srgbClr val="000000"/>
              </a:solidFill>
              <a:latin typeface="Cabin SemiBold"/>
              <a:ea typeface="Cabin SemiBold"/>
              <a:cs typeface="Cabin SemiBold"/>
              <a:sym typeface="Cabin SemiBold"/>
            </a:endParaRPr>
          </a:p>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La compañía, al momento de las salidas no tiene con quien poder salir.</a:t>
            </a:r>
            <a:endParaRPr sz="1000" b="1" i="0" u="none" strike="noStrike" cap="none">
              <a:solidFill>
                <a:srgbClr val="000000"/>
              </a:solidFill>
              <a:latin typeface="Cabin SemiBold"/>
              <a:ea typeface="Cabin SemiBold"/>
              <a:cs typeface="Cabin SemiBold"/>
              <a:sym typeface="Cabin SemiBold"/>
            </a:endParaRPr>
          </a:p>
        </p:txBody>
      </p:sp>
      <p:sp>
        <p:nvSpPr>
          <p:cNvPr id="255" name="Google Shape;255;g3f6d87f1187_0_348"/>
          <p:cNvSpPr/>
          <p:nvPr/>
        </p:nvSpPr>
        <p:spPr>
          <a:xfrm>
            <a:off x="390051" y="2488649"/>
            <a:ext cx="2968500" cy="292200"/>
          </a:xfrm>
          <a:prstGeom prst="rect">
            <a:avLst/>
          </a:prstGeom>
          <a:noFill/>
          <a:ln>
            <a:noFill/>
          </a:ln>
        </p:spPr>
        <p:txBody>
          <a:bodyPr spcFirstLastPara="1" wrap="square" lIns="17675" tIns="17675" rIns="17675" bIns="1767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s-CL" sz="1000" b="1" i="0" u="none" strike="noStrike" cap="none">
                <a:solidFill>
                  <a:schemeClr val="lt1"/>
                </a:solidFill>
                <a:highlight>
                  <a:srgbClr val="5C5DD4"/>
                </a:highlight>
                <a:latin typeface="Cabin SemiBold"/>
                <a:ea typeface="Cabin SemiBold"/>
                <a:cs typeface="Cabin SemiBold"/>
                <a:sym typeface="Cabin SemiBold"/>
              </a:rPr>
              <a:t>EXPERIENCIA PROPUESTA DE USUARIO/CLIENTE</a:t>
            </a:r>
            <a:endParaRPr sz="1000" b="0" i="0" u="none" strike="noStrike" cap="none">
              <a:solidFill>
                <a:schemeClr val="lt1"/>
              </a:solidFill>
              <a:highlight>
                <a:srgbClr val="5C5DD4"/>
              </a:highlight>
              <a:latin typeface="Cabin"/>
              <a:ea typeface="Cabin"/>
              <a:cs typeface="Cabin"/>
              <a:sym typeface="Cabin"/>
            </a:endParaRPr>
          </a:p>
        </p:txBody>
      </p:sp>
      <p:sp>
        <p:nvSpPr>
          <p:cNvPr id="256" name="Google Shape;256;g3f6d87f1187_0_348"/>
          <p:cNvSpPr txBox="1"/>
          <p:nvPr/>
        </p:nvSpPr>
        <p:spPr>
          <a:xfrm>
            <a:off x="1341168" y="6607246"/>
            <a:ext cx="1832100" cy="229200"/>
          </a:xfrm>
          <a:prstGeom prst="rect">
            <a:avLst/>
          </a:prstGeom>
          <a:noFill/>
          <a:ln>
            <a:noFill/>
          </a:ln>
        </p:spPr>
        <p:txBody>
          <a:bodyPr spcFirstLastPara="1" wrap="square" lIns="44900" tIns="44900" rIns="44900" bIns="4490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s-CL" sz="900" b="0" i="0" u="none" strike="noStrike" cap="none">
                <a:solidFill>
                  <a:srgbClr val="5C5DD4"/>
                </a:solidFill>
                <a:latin typeface="Cabin Medium"/>
                <a:ea typeface="Cabin Medium"/>
                <a:cs typeface="Cabin Medium"/>
                <a:sym typeface="Cabin Medium"/>
              </a:rPr>
              <a:t>ANTES</a:t>
            </a:r>
            <a:endParaRPr sz="900" b="0" i="0" u="none" strike="noStrike" cap="none">
              <a:solidFill>
                <a:srgbClr val="5C5DD4"/>
              </a:solidFill>
              <a:latin typeface="Cabin Medium"/>
              <a:ea typeface="Cabin Medium"/>
              <a:cs typeface="Cabin Medium"/>
              <a:sym typeface="Cabin Medium"/>
            </a:endParaRPr>
          </a:p>
        </p:txBody>
      </p:sp>
      <p:sp>
        <p:nvSpPr>
          <p:cNvPr id="257" name="Google Shape;257;g3f6d87f1187_0_348"/>
          <p:cNvSpPr txBox="1"/>
          <p:nvPr/>
        </p:nvSpPr>
        <p:spPr>
          <a:xfrm>
            <a:off x="3923128" y="6607255"/>
            <a:ext cx="1832100" cy="229200"/>
          </a:xfrm>
          <a:prstGeom prst="rect">
            <a:avLst/>
          </a:prstGeom>
          <a:noFill/>
          <a:ln>
            <a:noFill/>
          </a:ln>
        </p:spPr>
        <p:txBody>
          <a:bodyPr spcFirstLastPara="1" wrap="square" lIns="44900" tIns="44900" rIns="44900" bIns="4490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s-CL" sz="900" b="0" i="0" u="none" strike="noStrike" cap="none">
                <a:solidFill>
                  <a:srgbClr val="5C5DD4"/>
                </a:solidFill>
                <a:latin typeface="Cabin Medium"/>
                <a:ea typeface="Cabin Medium"/>
                <a:cs typeface="Cabin Medium"/>
                <a:sym typeface="Cabin Medium"/>
              </a:rPr>
              <a:t>DURANTE</a:t>
            </a:r>
            <a:endParaRPr sz="900" b="0" i="0" u="none" strike="noStrike" cap="none">
              <a:solidFill>
                <a:srgbClr val="5C5DD4"/>
              </a:solidFill>
              <a:latin typeface="Cabin Medium"/>
              <a:ea typeface="Cabin Medium"/>
              <a:cs typeface="Cabin Medium"/>
              <a:sym typeface="Cabin Medium"/>
            </a:endParaRPr>
          </a:p>
        </p:txBody>
      </p:sp>
      <p:sp>
        <p:nvSpPr>
          <p:cNvPr id="258" name="Google Shape;258;g3f6d87f1187_0_348"/>
          <p:cNvSpPr txBox="1"/>
          <p:nvPr/>
        </p:nvSpPr>
        <p:spPr>
          <a:xfrm>
            <a:off x="6616166" y="6607255"/>
            <a:ext cx="1832100" cy="229200"/>
          </a:xfrm>
          <a:prstGeom prst="rect">
            <a:avLst/>
          </a:prstGeom>
          <a:noFill/>
          <a:ln>
            <a:noFill/>
          </a:ln>
        </p:spPr>
        <p:txBody>
          <a:bodyPr spcFirstLastPara="1" wrap="square" lIns="44900" tIns="44900" rIns="44900" bIns="4490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s-CL" sz="900" b="0" i="0" u="none" strike="noStrike" cap="none">
                <a:solidFill>
                  <a:srgbClr val="5C5DD4"/>
                </a:solidFill>
                <a:latin typeface="Cabin Medium"/>
                <a:ea typeface="Cabin Medium"/>
                <a:cs typeface="Cabin Medium"/>
                <a:sym typeface="Cabin Medium"/>
              </a:rPr>
              <a:t>DESPUÉS</a:t>
            </a:r>
            <a:endParaRPr sz="900" b="0" i="0" u="none" strike="noStrike" cap="none">
              <a:solidFill>
                <a:srgbClr val="5C5DD4"/>
              </a:solidFill>
              <a:latin typeface="Cabin Medium"/>
              <a:ea typeface="Cabin Medium"/>
              <a:cs typeface="Cabin Medium"/>
              <a:sym typeface="Cabin Medium"/>
            </a:endParaRPr>
          </a:p>
        </p:txBody>
      </p:sp>
      <p:sp>
        <p:nvSpPr>
          <p:cNvPr id="259" name="Google Shape;259;g3f6d87f1187_0_348"/>
          <p:cNvSpPr/>
          <p:nvPr/>
        </p:nvSpPr>
        <p:spPr>
          <a:xfrm>
            <a:off x="390051" y="2162716"/>
            <a:ext cx="2705700" cy="3285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17675" tIns="17675" rIns="17675" bIns="17675" anchor="ctr" anchorCtr="0">
            <a:noAutofit/>
          </a:bodyPr>
          <a:lstStyle/>
          <a:p>
            <a:pPr marL="0" marR="0" lvl="0" indent="0" algn="l" rtl="0">
              <a:lnSpc>
                <a:spcPct val="115000"/>
              </a:lnSpc>
              <a:spcBef>
                <a:spcPts val="0"/>
              </a:spcBef>
              <a:spcAft>
                <a:spcPts val="0"/>
              </a:spcAft>
              <a:buClr>
                <a:srgbClr val="000000"/>
              </a:buClr>
              <a:buSzPts val="700"/>
              <a:buFont typeface="Arial"/>
              <a:buNone/>
            </a:pPr>
            <a:r>
              <a:rPr lang="es-CL" sz="1000" b="1" i="0" u="none" strike="noStrike" cap="none">
                <a:solidFill>
                  <a:srgbClr val="000000"/>
                </a:solidFill>
                <a:latin typeface="Cabin SemiBold"/>
                <a:ea typeface="Cabin SemiBold"/>
                <a:cs typeface="Cabin SemiBold"/>
                <a:sym typeface="Cabin SemiBold"/>
              </a:rPr>
              <a:t>Hobbies: Jugar online y hacer trekking</a:t>
            </a:r>
            <a:endParaRPr sz="1000" b="1" i="0" u="none" strike="noStrike" cap="none">
              <a:solidFill>
                <a:srgbClr val="000000"/>
              </a:solidFill>
              <a:latin typeface="Cabin SemiBold"/>
              <a:ea typeface="Cabin SemiBold"/>
              <a:cs typeface="Cabin SemiBold"/>
              <a:sym typeface="Cabin SemiBold"/>
            </a:endParaRPr>
          </a:p>
        </p:txBody>
      </p:sp>
      <p:cxnSp>
        <p:nvCxnSpPr>
          <p:cNvPr id="260" name="Google Shape;260;g3f6d87f1187_0_348"/>
          <p:cNvCxnSpPr/>
          <p:nvPr/>
        </p:nvCxnSpPr>
        <p:spPr>
          <a:xfrm>
            <a:off x="1147885" y="5635783"/>
            <a:ext cx="7300500" cy="0"/>
          </a:xfrm>
          <a:prstGeom prst="straightConnector1">
            <a:avLst/>
          </a:prstGeom>
          <a:noFill/>
          <a:ln w="8300" cap="flat" cmpd="sng">
            <a:solidFill>
              <a:srgbClr val="5C5DD4"/>
            </a:solidFill>
            <a:prstDash val="solid"/>
            <a:round/>
            <a:headEnd type="none" w="sm" len="sm"/>
            <a:tailEnd type="none" w="sm" len="sm"/>
          </a:ln>
        </p:spPr>
      </p:cxnSp>
      <p:sp>
        <p:nvSpPr>
          <p:cNvPr id="261" name="Google Shape;261;g3f6d87f1187_0_348"/>
          <p:cNvSpPr txBox="1"/>
          <p:nvPr/>
        </p:nvSpPr>
        <p:spPr>
          <a:xfrm>
            <a:off x="711355" y="4410830"/>
            <a:ext cx="2862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s-CL" sz="1800" b="1" i="0" u="none" strike="noStrike" cap="none">
                <a:solidFill>
                  <a:srgbClr val="5C5DD4"/>
                </a:solidFill>
                <a:latin typeface="Cabin"/>
                <a:ea typeface="Cabin"/>
                <a:cs typeface="Cabin"/>
                <a:sym typeface="Cabin"/>
              </a:rPr>
              <a:t>+</a:t>
            </a:r>
            <a:endParaRPr sz="1800" b="1" i="0" u="none" strike="noStrike" cap="none">
              <a:solidFill>
                <a:srgbClr val="5C5DD4"/>
              </a:solidFill>
              <a:latin typeface="Cabin"/>
              <a:ea typeface="Cabin"/>
              <a:cs typeface="Cabin"/>
              <a:sym typeface="Cabin"/>
            </a:endParaRPr>
          </a:p>
        </p:txBody>
      </p:sp>
      <p:sp>
        <p:nvSpPr>
          <p:cNvPr id="262" name="Google Shape;262;g3f6d87f1187_0_348"/>
          <p:cNvSpPr txBox="1"/>
          <p:nvPr/>
        </p:nvSpPr>
        <p:spPr>
          <a:xfrm>
            <a:off x="695387" y="5421310"/>
            <a:ext cx="3411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s-CL" sz="1800" b="1" i="0" u="none" strike="noStrike" cap="none">
                <a:solidFill>
                  <a:srgbClr val="5C5DD4"/>
                </a:solidFill>
                <a:latin typeface="Cabin"/>
                <a:ea typeface="Cabin"/>
                <a:cs typeface="Cabin"/>
                <a:sym typeface="Cabin"/>
              </a:rPr>
              <a:t>+-</a:t>
            </a:r>
            <a:endParaRPr sz="1800" b="1" i="0" u="none" strike="noStrike" cap="none">
              <a:solidFill>
                <a:srgbClr val="5C5DD4"/>
              </a:solidFill>
              <a:latin typeface="Cabin"/>
              <a:ea typeface="Cabin"/>
              <a:cs typeface="Cabin"/>
              <a:sym typeface="Cabin"/>
            </a:endParaRPr>
          </a:p>
        </p:txBody>
      </p:sp>
      <p:sp>
        <p:nvSpPr>
          <p:cNvPr id="263" name="Google Shape;263;g3f6d87f1187_0_348"/>
          <p:cNvSpPr/>
          <p:nvPr/>
        </p:nvSpPr>
        <p:spPr>
          <a:xfrm rot="5400000">
            <a:off x="7790559" y="5446242"/>
            <a:ext cx="2092800" cy="312000"/>
          </a:xfrm>
          <a:prstGeom prst="triangle">
            <a:avLst>
              <a:gd name="adj" fmla="val 52151"/>
            </a:avLst>
          </a:prstGeom>
          <a:solidFill>
            <a:srgbClr val="B9B9EA"/>
          </a:solidFill>
          <a:ln>
            <a:noFill/>
          </a:ln>
        </p:spPr>
        <p:txBody>
          <a:bodyPr spcFirstLastPara="1" wrap="square" lIns="79775" tIns="79775" rIns="79775" bIns="797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264" name="Google Shape;264;g3f6d87f1187_0_348"/>
          <p:cNvSpPr txBox="1"/>
          <p:nvPr/>
        </p:nvSpPr>
        <p:spPr>
          <a:xfrm>
            <a:off x="1987940" y="4438274"/>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9:00 AM</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escribe a un amigo</a:t>
            </a:r>
            <a:endParaRPr sz="800" b="0" i="0" u="none" strike="noStrike" cap="none">
              <a:solidFill>
                <a:srgbClr val="000000"/>
              </a:solidFill>
              <a:latin typeface="Cabin"/>
              <a:ea typeface="Cabin"/>
              <a:cs typeface="Cabin"/>
              <a:sym typeface="Cabin"/>
            </a:endParaRPr>
          </a:p>
        </p:txBody>
      </p:sp>
      <p:sp>
        <p:nvSpPr>
          <p:cNvPr id="265" name="Google Shape;265;g3f6d87f1187_0_348"/>
          <p:cNvSpPr txBox="1"/>
          <p:nvPr/>
        </p:nvSpPr>
        <p:spPr>
          <a:xfrm>
            <a:off x="2282890" y="6270872"/>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10:00 AM</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El amigo le niega la salida</a:t>
            </a:r>
            <a:endParaRPr sz="800" b="0" i="0" u="none" strike="noStrike" cap="none">
              <a:solidFill>
                <a:srgbClr val="000000"/>
              </a:solidFill>
              <a:latin typeface="Cabin"/>
              <a:ea typeface="Cabin"/>
              <a:cs typeface="Cabin"/>
              <a:sym typeface="Cabin"/>
            </a:endParaRPr>
          </a:p>
        </p:txBody>
      </p:sp>
      <p:sp>
        <p:nvSpPr>
          <p:cNvPr id="266" name="Google Shape;266;g3f6d87f1187_0_348"/>
          <p:cNvSpPr txBox="1"/>
          <p:nvPr/>
        </p:nvSpPr>
        <p:spPr>
          <a:xfrm>
            <a:off x="2560274" y="5354562"/>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11:00 AM</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Decide salir igualmente</a:t>
            </a:r>
            <a:endParaRPr sz="800" b="0" i="0" u="none" strike="noStrike" cap="none">
              <a:solidFill>
                <a:srgbClr val="000000"/>
              </a:solidFill>
              <a:latin typeface="Cabin"/>
              <a:ea typeface="Cabin"/>
              <a:cs typeface="Cabin"/>
              <a:sym typeface="Cabin"/>
            </a:endParaRPr>
          </a:p>
        </p:txBody>
      </p:sp>
      <p:sp>
        <p:nvSpPr>
          <p:cNvPr id="267" name="Google Shape;267;g3f6d87f1187_0_348"/>
          <p:cNvSpPr txBox="1"/>
          <p:nvPr/>
        </p:nvSpPr>
        <p:spPr>
          <a:xfrm>
            <a:off x="4710837" y="5339049"/>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13:00 PM </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sube a pesar del  peligro </a:t>
            </a:r>
            <a:endParaRPr sz="800" b="0" i="0" u="none" strike="noStrike" cap="none">
              <a:solidFill>
                <a:srgbClr val="000000"/>
              </a:solidFill>
              <a:latin typeface="Cabin"/>
              <a:ea typeface="Cabin"/>
              <a:cs typeface="Cabin"/>
              <a:sym typeface="Cabin"/>
            </a:endParaRPr>
          </a:p>
        </p:txBody>
      </p:sp>
      <p:sp>
        <p:nvSpPr>
          <p:cNvPr id="268" name="Google Shape;268;g3f6d87f1187_0_348"/>
          <p:cNvSpPr txBox="1"/>
          <p:nvPr/>
        </p:nvSpPr>
        <p:spPr>
          <a:xfrm>
            <a:off x="3635561" y="5351080"/>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12:00 AM</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Toma el metro, </a:t>
            </a:r>
            <a:r>
              <a:rPr lang="es-CL" sz="800" b="0" i="0" u="none" strike="noStrike" cap="none">
                <a:solidFill>
                  <a:schemeClr val="dk1"/>
                </a:solidFill>
                <a:latin typeface="Cabin"/>
                <a:ea typeface="Cabin"/>
                <a:cs typeface="Cabin"/>
                <a:sym typeface="Cabin"/>
              </a:rPr>
              <a:t>Toma la micro y lo deja en la quebrada</a:t>
            </a:r>
            <a:endParaRPr sz="800" b="0" i="0" u="none" strike="noStrike" cap="none">
              <a:solidFill>
                <a:srgbClr val="000000"/>
              </a:solidFill>
              <a:latin typeface="Cabin"/>
              <a:ea typeface="Cabin"/>
              <a:cs typeface="Cabin"/>
              <a:sym typeface="Cabin"/>
            </a:endParaRPr>
          </a:p>
        </p:txBody>
      </p:sp>
      <p:sp>
        <p:nvSpPr>
          <p:cNvPr id="269" name="Google Shape;269;g3f6d87f1187_0_348"/>
          <p:cNvSpPr txBox="1"/>
          <p:nvPr/>
        </p:nvSpPr>
        <p:spPr>
          <a:xfrm>
            <a:off x="5218066" y="6240096"/>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15:00 PM </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se desorienta a mitad de camino y </a:t>
            </a:r>
            <a:r>
              <a:rPr lang="es-CL" sz="800" b="0" i="0" u="none" strike="noStrike" cap="none">
                <a:solidFill>
                  <a:schemeClr val="dk1"/>
                </a:solidFill>
                <a:latin typeface="Cabin"/>
                <a:ea typeface="Cabin"/>
                <a:cs typeface="Cabin"/>
                <a:sym typeface="Cabin"/>
              </a:rPr>
              <a:t>se accidenta</a:t>
            </a:r>
            <a:endParaRPr sz="800" b="0" i="0" u="none" strike="noStrike" cap="none">
              <a:solidFill>
                <a:srgbClr val="000000"/>
              </a:solidFill>
              <a:latin typeface="Cabin"/>
              <a:ea typeface="Cabin"/>
              <a:cs typeface="Cabin"/>
              <a:sym typeface="Cabin"/>
            </a:endParaRPr>
          </a:p>
        </p:txBody>
      </p:sp>
      <p:sp>
        <p:nvSpPr>
          <p:cNvPr id="270" name="Google Shape;270;g3f6d87f1187_0_348"/>
          <p:cNvSpPr txBox="1"/>
          <p:nvPr/>
        </p:nvSpPr>
        <p:spPr>
          <a:xfrm>
            <a:off x="6293342" y="6240096"/>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17:00 PM </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Lo bajan para prestarle la ayuda correspondiente</a:t>
            </a:r>
            <a:endParaRPr sz="800" b="0" i="0" u="none" strike="noStrike" cap="none">
              <a:solidFill>
                <a:srgbClr val="000000"/>
              </a:solidFill>
              <a:latin typeface="Cabin"/>
              <a:ea typeface="Cabin"/>
              <a:cs typeface="Cabin"/>
              <a:sym typeface="Cabin"/>
            </a:endParaRPr>
          </a:p>
        </p:txBody>
      </p:sp>
      <p:sp>
        <p:nvSpPr>
          <p:cNvPr id="271" name="Google Shape;271;g3f6d87f1187_0_348"/>
          <p:cNvSpPr txBox="1"/>
          <p:nvPr/>
        </p:nvSpPr>
        <p:spPr>
          <a:xfrm>
            <a:off x="7368639" y="6240096"/>
            <a:ext cx="1075200" cy="525000"/>
          </a:xfrm>
          <a:prstGeom prst="rect">
            <a:avLst/>
          </a:prstGeom>
          <a:solidFill>
            <a:srgbClr val="EEFF41"/>
          </a:solidFill>
          <a:ln w="8300"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20:00 PM </a:t>
            </a:r>
            <a:endParaRPr sz="800" b="0" i="0" u="none" strike="noStrike" cap="none">
              <a:solidFill>
                <a:srgbClr val="000000"/>
              </a:solidFill>
              <a:latin typeface="Cabin"/>
              <a:ea typeface="Cabin"/>
              <a:cs typeface="Cabin"/>
              <a:sym typeface="Cabin"/>
            </a:endParaRPr>
          </a:p>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Logra irse a casa frustrado y triste</a:t>
            </a:r>
            <a:endParaRPr sz="800" b="0" i="0" u="none" strike="noStrike" cap="none">
              <a:solidFill>
                <a:srgbClr val="000000"/>
              </a:solidFill>
              <a:latin typeface="Cabin"/>
              <a:ea typeface="Cabin"/>
              <a:cs typeface="Cabin"/>
              <a:sym typeface="Cabin"/>
            </a:endParaRPr>
          </a:p>
        </p:txBody>
      </p:sp>
      <p:sp>
        <p:nvSpPr>
          <p:cNvPr id="272" name="Google Shape;272;g3f6d87f1187_0_348"/>
          <p:cNvSpPr txBox="1">
            <a:spLocks noGrp="1"/>
          </p:cNvSpPr>
          <p:nvPr>
            <p:ph type="title"/>
          </p:nvPr>
        </p:nvSpPr>
        <p:spPr>
          <a:xfrm>
            <a:off x="390113" y="35575"/>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6. Perfil y Mapa de viaje del usuario/cliente</a:t>
            </a:r>
            <a:endParaRPr sz="1200">
              <a:solidFill>
                <a:srgbClr val="FF0000"/>
              </a:solidFill>
              <a:highlight>
                <a:srgbClr val="5C5DD4"/>
              </a:highlight>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f6d87f1187_0_399"/>
          <p:cNvSpPr txBox="1">
            <a:spLocks noGrp="1"/>
          </p:cNvSpPr>
          <p:nvPr>
            <p:ph type="title"/>
          </p:nvPr>
        </p:nvSpPr>
        <p:spPr>
          <a:xfrm>
            <a:off x="389279" y="240576"/>
            <a:ext cx="8496300" cy="365100"/>
          </a:xfrm>
          <a:prstGeom prst="rect">
            <a:avLst/>
          </a:prstGeom>
          <a:noFill/>
          <a:ln>
            <a:noFill/>
          </a:ln>
        </p:spPr>
        <p:txBody>
          <a:bodyPr spcFirstLastPara="1" wrap="square" lIns="79775" tIns="39875" rIns="79775" bIns="39875" anchor="t" anchorCtr="0">
            <a:noAutofit/>
          </a:bodyPr>
          <a:lstStyle/>
          <a:p>
            <a:pPr marL="0" lvl="0" indent="0" algn="l" rtl="0">
              <a:lnSpc>
                <a:spcPct val="90000"/>
              </a:lnSpc>
              <a:spcBef>
                <a:spcPts val="0"/>
              </a:spcBef>
              <a:spcAft>
                <a:spcPts val="0"/>
              </a:spcAft>
              <a:buSzPts val="3800"/>
              <a:buNone/>
            </a:pPr>
            <a:r>
              <a:rPr lang="es-CL" sz="2100">
                <a:solidFill>
                  <a:schemeClr val="lt1"/>
                </a:solidFill>
                <a:highlight>
                  <a:srgbClr val="5C5DD4"/>
                </a:highlight>
                <a:latin typeface="Comfortaa"/>
                <a:ea typeface="Comfortaa"/>
                <a:cs typeface="Comfortaa"/>
                <a:sym typeface="Comfortaa"/>
              </a:rPr>
              <a:t>7. OPORTUNIDAD EN BASE A PROBLEMA</a:t>
            </a:r>
            <a:endParaRPr sz="1200">
              <a:solidFill>
                <a:srgbClr val="FF0000"/>
              </a:solidFill>
              <a:highlight>
                <a:srgbClr val="5C5DD4"/>
              </a:highlight>
              <a:latin typeface="Comfortaa"/>
              <a:ea typeface="Comfortaa"/>
              <a:cs typeface="Comfortaa"/>
              <a:sym typeface="Comfortaa"/>
            </a:endParaRPr>
          </a:p>
        </p:txBody>
      </p:sp>
      <p:graphicFrame>
        <p:nvGraphicFramePr>
          <p:cNvPr id="279" name="Google Shape;279;g3f6d87f1187_0_399"/>
          <p:cNvGraphicFramePr/>
          <p:nvPr/>
        </p:nvGraphicFramePr>
        <p:xfrm>
          <a:off x="344382" y="723092"/>
          <a:ext cx="8393650" cy="1550475"/>
        </p:xfrm>
        <a:graphic>
          <a:graphicData uri="http://schemas.openxmlformats.org/drawingml/2006/table">
            <a:tbl>
              <a:tblPr>
                <a:noFill/>
                <a:tableStyleId>{43D06EDE-987B-4894-A242-B41088D9BEBC}</a:tableStyleId>
              </a:tblPr>
              <a:tblGrid>
                <a:gridCol w="8393650">
                  <a:extLst>
                    <a:ext uri="{9D8B030D-6E8A-4147-A177-3AD203B41FA5}">
                      <a16:colId xmlns:a16="http://schemas.microsoft.com/office/drawing/2014/main" val="20000"/>
                    </a:ext>
                  </a:extLst>
                </a:gridCol>
              </a:tblGrid>
              <a:tr h="1550475">
                <a:tc>
                  <a:txBody>
                    <a:bodyPr/>
                    <a:lstStyle/>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Problema principal en el cual se enfocará el proyecto:</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i="1" u="none" strike="noStrike" cap="none">
                          <a:solidFill>
                            <a:schemeClr val="dk1"/>
                          </a:solidFill>
                          <a:latin typeface="Cabin"/>
                          <a:ea typeface="Cabin"/>
                          <a:cs typeface="Cabin"/>
                          <a:sym typeface="Cabin"/>
                        </a:rPr>
                        <a:t> ¿Qué situación concreta afecta negativamente a usuarios o clientes? ¿Dónde y cómo se presenta? ¿Por qué es importante abordarla?</a:t>
                      </a:r>
                      <a:endParaRPr sz="1200" i="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R: El no tener con quien ir a realizar trekking, ya que les produce inseguridad y desmotivación, esto se presenta cuando las personas que buscan desconectar y tener una actividad diferente para salir de la rutina, esto es importante ya que incentiva a la vida saludable tanto física, mental y espiritualmente, también ayuda abordar la seguridad de las personas y la conciencia ambiental sobre la flora y fauna. </a:t>
                      </a:r>
                      <a:endParaRPr sz="12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F0F0F0"/>
                    </a:solidFill>
                  </a:tcPr>
                </a:tc>
                <a:extLst>
                  <a:ext uri="{0D108BD9-81ED-4DB2-BD59-A6C34878D82A}">
                    <a16:rowId xmlns:a16="http://schemas.microsoft.com/office/drawing/2014/main" val="10000"/>
                  </a:ext>
                </a:extLst>
              </a:tr>
            </a:tbl>
          </a:graphicData>
        </a:graphic>
      </p:graphicFrame>
      <p:graphicFrame>
        <p:nvGraphicFramePr>
          <p:cNvPr id="280" name="Google Shape;280;g3f6d87f1187_0_399"/>
          <p:cNvGraphicFramePr/>
          <p:nvPr/>
        </p:nvGraphicFramePr>
        <p:xfrm>
          <a:off x="344382" y="4658447"/>
          <a:ext cx="8393650" cy="2022425"/>
        </p:xfrm>
        <a:graphic>
          <a:graphicData uri="http://schemas.openxmlformats.org/drawingml/2006/table">
            <a:tbl>
              <a:tblPr>
                <a:noFill/>
                <a:tableStyleId>{43D06EDE-987B-4894-A242-B41088D9BEBC}</a:tableStyleId>
              </a:tblPr>
              <a:tblGrid>
                <a:gridCol w="8393650">
                  <a:extLst>
                    <a:ext uri="{9D8B030D-6E8A-4147-A177-3AD203B41FA5}">
                      <a16:colId xmlns:a16="http://schemas.microsoft.com/office/drawing/2014/main" val="20000"/>
                    </a:ext>
                  </a:extLst>
                </a:gridCol>
              </a:tblGrid>
              <a:tr h="2022425">
                <a:tc>
                  <a:txBody>
                    <a:bodyPr/>
                    <a:lstStyle/>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Oportunidad: </a:t>
                      </a:r>
                      <a:r>
                        <a:rPr lang="es-CL" sz="1200" u="none" strike="noStrike" cap="none">
                          <a:solidFill>
                            <a:srgbClr val="5C5DD4"/>
                          </a:solidFill>
                          <a:highlight>
                            <a:srgbClr val="D7EAFF"/>
                          </a:highlight>
                          <a:latin typeface="Cabin"/>
                          <a:ea typeface="Cabin"/>
                          <a:cs typeface="Cabin"/>
                          <a:sym typeface="Cabin"/>
                        </a:rPr>
                        <a:t>[El Usuario]</a:t>
                      </a:r>
                      <a:r>
                        <a:rPr lang="es-CL" sz="1200" u="none" strike="noStrike" cap="none">
                          <a:solidFill>
                            <a:srgbClr val="5C5DD4"/>
                          </a:solidFill>
                          <a:latin typeface="Cabin"/>
                          <a:ea typeface="Cabin"/>
                          <a:cs typeface="Cabin"/>
                          <a:sym typeface="Cabin"/>
                        </a:rPr>
                        <a:t>  </a:t>
                      </a:r>
                      <a:r>
                        <a:rPr lang="es-CL" sz="1200" u="none" strike="noStrike" cap="none">
                          <a:solidFill>
                            <a:schemeClr val="dk1"/>
                          </a:solidFill>
                          <a:latin typeface="Cabin"/>
                          <a:ea typeface="Cabin"/>
                          <a:cs typeface="Cabin"/>
                          <a:sym typeface="Cabin"/>
                        </a:rPr>
                        <a:t> necesita</a:t>
                      </a:r>
                      <a:r>
                        <a:rPr lang="es-CL" sz="1200" u="none" strike="noStrike" cap="none">
                          <a:solidFill>
                            <a:srgbClr val="63A3EF"/>
                          </a:solidFill>
                          <a:latin typeface="Cabin"/>
                          <a:ea typeface="Cabin"/>
                          <a:cs typeface="Cabin"/>
                          <a:sym typeface="Cabin"/>
                        </a:rPr>
                        <a:t> </a:t>
                      </a:r>
                      <a:r>
                        <a:rPr lang="es-CL" sz="1200" u="none" strike="noStrike" cap="none">
                          <a:solidFill>
                            <a:srgbClr val="5C5DD4"/>
                          </a:solidFill>
                          <a:latin typeface="Cabin"/>
                          <a:ea typeface="Cabin"/>
                          <a:cs typeface="Cabin"/>
                          <a:sym typeface="Cabin"/>
                        </a:rPr>
                        <a:t> </a:t>
                      </a:r>
                      <a:r>
                        <a:rPr lang="es-CL" sz="1200" u="none" strike="noStrike" cap="none">
                          <a:solidFill>
                            <a:srgbClr val="5C5DD4"/>
                          </a:solidFill>
                          <a:highlight>
                            <a:srgbClr val="D7EAFF"/>
                          </a:highlight>
                          <a:latin typeface="Cabin"/>
                          <a:ea typeface="Cabin"/>
                          <a:cs typeface="Cabin"/>
                          <a:sym typeface="Cabin"/>
                        </a:rPr>
                        <a:t>[indicar principal necesidad]</a:t>
                      </a:r>
                      <a:r>
                        <a:rPr lang="es-CL" sz="1200" u="none" strike="noStrike" cap="none">
                          <a:solidFill>
                            <a:srgbClr val="5C5DD4"/>
                          </a:solidFill>
                          <a:latin typeface="Cabin"/>
                          <a:ea typeface="Cabin"/>
                          <a:cs typeface="Cabin"/>
                          <a:sym typeface="Cabin"/>
                        </a:rPr>
                        <a:t> </a:t>
                      </a:r>
                      <a:r>
                        <a:rPr lang="es-CL" sz="1200" u="none" strike="noStrike" cap="none">
                          <a:solidFill>
                            <a:srgbClr val="63A3EF"/>
                          </a:solidFill>
                          <a:latin typeface="Cabin"/>
                          <a:ea typeface="Cabin"/>
                          <a:cs typeface="Cabin"/>
                          <a:sym typeface="Cabin"/>
                        </a:rPr>
                        <a:t>  </a:t>
                      </a:r>
                      <a:r>
                        <a:rPr lang="es-CL" sz="1200" u="none" strike="noStrike" cap="none">
                          <a:solidFill>
                            <a:schemeClr val="dk1"/>
                          </a:solidFill>
                          <a:latin typeface="Cabin"/>
                          <a:ea typeface="Cabin"/>
                          <a:cs typeface="Cabin"/>
                          <a:sym typeface="Cabin"/>
                        </a:rPr>
                        <a:t>porque/para</a:t>
                      </a:r>
                      <a:r>
                        <a:rPr lang="es-CL" sz="1200" u="none" strike="noStrike" cap="none">
                          <a:solidFill>
                            <a:srgbClr val="63A3EF"/>
                          </a:solidFill>
                          <a:latin typeface="Cabin"/>
                          <a:ea typeface="Cabin"/>
                          <a:cs typeface="Cabin"/>
                          <a:sym typeface="Cabin"/>
                        </a:rPr>
                        <a:t> </a:t>
                      </a:r>
                      <a:r>
                        <a:rPr lang="es-CL" sz="1200" u="none" strike="noStrike" cap="none">
                          <a:solidFill>
                            <a:srgbClr val="5C5DD4"/>
                          </a:solidFill>
                          <a:latin typeface="Cabin"/>
                          <a:ea typeface="Cabin"/>
                          <a:cs typeface="Cabin"/>
                          <a:sym typeface="Cabin"/>
                        </a:rPr>
                        <a:t> </a:t>
                      </a:r>
                      <a:r>
                        <a:rPr lang="es-CL" sz="1200" u="none" strike="noStrike" cap="none">
                          <a:solidFill>
                            <a:srgbClr val="5C5DD4"/>
                          </a:solidFill>
                          <a:highlight>
                            <a:srgbClr val="D7EAFF"/>
                          </a:highlight>
                          <a:latin typeface="Cabin"/>
                          <a:ea typeface="Cabin"/>
                          <a:cs typeface="Cabin"/>
                          <a:sym typeface="Cabin"/>
                        </a:rPr>
                        <a:t>[declarar el motivo]</a:t>
                      </a:r>
                      <a:r>
                        <a:rPr lang="es-CL" sz="1200" u="none" strike="noStrike" cap="none">
                          <a:solidFill>
                            <a:srgbClr val="5C5DD4"/>
                          </a:solidFill>
                          <a:latin typeface="Cabin"/>
                          <a:ea typeface="Cabin"/>
                          <a:cs typeface="Cabin"/>
                          <a:sym typeface="Cabin"/>
                        </a:rPr>
                        <a:t> </a:t>
                      </a:r>
                      <a:r>
                        <a:rPr lang="es-CL" sz="1200" u="none" strike="noStrike" cap="none">
                          <a:solidFill>
                            <a:srgbClr val="63A3EF"/>
                          </a:solidFill>
                          <a:latin typeface="Cabin"/>
                          <a:ea typeface="Cabin"/>
                          <a:cs typeface="Cabin"/>
                          <a:sym typeface="Cabin"/>
                        </a:rPr>
                        <a:t> </a:t>
                      </a:r>
                      <a:r>
                        <a:rPr lang="es-CL" sz="1200" u="none" strike="noStrike" cap="none">
                          <a:solidFill>
                            <a:schemeClr val="dk1"/>
                          </a:solidFill>
                          <a:latin typeface="Cabin"/>
                          <a:ea typeface="Cabin"/>
                          <a:cs typeface="Cabin"/>
                          <a:sym typeface="Cabin"/>
                        </a:rPr>
                        <a:t>pero</a:t>
                      </a:r>
                      <a:r>
                        <a:rPr lang="es-CL" sz="1200" u="none" strike="noStrike" cap="none">
                          <a:solidFill>
                            <a:srgbClr val="63A3EF"/>
                          </a:solidFill>
                          <a:latin typeface="Cabin"/>
                          <a:ea typeface="Cabin"/>
                          <a:cs typeface="Cabin"/>
                          <a:sym typeface="Cabin"/>
                        </a:rPr>
                        <a:t> </a:t>
                      </a:r>
                      <a:r>
                        <a:rPr lang="es-CL" sz="1200" u="none" strike="noStrike" cap="none">
                          <a:solidFill>
                            <a:srgbClr val="5C5DD4"/>
                          </a:solidFill>
                          <a:latin typeface="Cabin"/>
                          <a:ea typeface="Cabin"/>
                          <a:cs typeface="Cabin"/>
                          <a:sym typeface="Cabin"/>
                        </a:rPr>
                        <a:t> </a:t>
                      </a:r>
                      <a:r>
                        <a:rPr lang="es-CL" sz="1200" u="none" strike="noStrike" cap="none">
                          <a:solidFill>
                            <a:srgbClr val="5C5DD4"/>
                          </a:solidFill>
                          <a:highlight>
                            <a:srgbClr val="D7EAFF"/>
                          </a:highlight>
                          <a:latin typeface="Cabin"/>
                          <a:ea typeface="Cabin"/>
                          <a:cs typeface="Cabin"/>
                          <a:sym typeface="Cabin"/>
                        </a:rPr>
                        <a:t>[indicar conflicto o limitaciones]</a:t>
                      </a:r>
                      <a:r>
                        <a:rPr lang="es-CL" sz="1200" u="none" strike="noStrike" cap="none">
                          <a:solidFill>
                            <a:srgbClr val="5C5DD4"/>
                          </a:solidFill>
                          <a:latin typeface="Cabin"/>
                          <a:ea typeface="Cabin"/>
                          <a:cs typeface="Cabin"/>
                          <a:sym typeface="Cabin"/>
                        </a:rPr>
                        <a:t> </a:t>
                      </a:r>
                      <a:endParaRPr sz="1200" u="none" strike="noStrike" cap="none">
                        <a:solidFill>
                          <a:srgbClr val="5C5DD4"/>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300"/>
                        <a:buFont typeface="Arial"/>
                        <a:buNone/>
                      </a:pPr>
                      <a:endParaRPr sz="12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E0E0E0"/>
                    </a:solidFill>
                  </a:tcPr>
                </a:tc>
                <a:extLst>
                  <a:ext uri="{0D108BD9-81ED-4DB2-BD59-A6C34878D82A}">
                    <a16:rowId xmlns:a16="http://schemas.microsoft.com/office/drawing/2014/main" val="10000"/>
                  </a:ext>
                </a:extLst>
              </a:tr>
            </a:tbl>
          </a:graphicData>
        </a:graphic>
      </p:graphicFrame>
      <p:sp>
        <p:nvSpPr>
          <p:cNvPr id="281" name="Google Shape;281;g3f6d87f1187_0_399"/>
          <p:cNvSpPr txBox="1"/>
          <p:nvPr/>
        </p:nvSpPr>
        <p:spPr>
          <a:xfrm>
            <a:off x="1016276" y="5179668"/>
            <a:ext cx="7538100" cy="594000"/>
          </a:xfrm>
          <a:prstGeom prst="rect">
            <a:avLst/>
          </a:prstGeom>
          <a:solidFill>
            <a:srgbClr val="B9B9EA"/>
          </a:solidFill>
          <a:ln w="8300" cap="flat" cmpd="sng">
            <a:solidFill>
              <a:srgbClr val="000000"/>
            </a:solidFill>
            <a:prstDash val="dot"/>
            <a:round/>
            <a:headEnd type="none" w="sm" len="sm"/>
            <a:tailEnd type="none" w="sm" len="sm"/>
          </a:ln>
        </p:spPr>
        <p:txBody>
          <a:bodyPr spcFirstLastPara="1" wrap="square" lIns="79775" tIns="79775" rIns="79775" bIns="79775" anchor="ctr" anchorCtr="0">
            <a:noAutofit/>
          </a:bodyPr>
          <a:lstStyle/>
          <a:p>
            <a:pPr marL="0" marR="0" lvl="0" indent="0" algn="l" rtl="0">
              <a:lnSpc>
                <a:spcPct val="100000"/>
              </a:lnSpc>
              <a:spcBef>
                <a:spcPts val="0"/>
              </a:spcBef>
              <a:spcAft>
                <a:spcPts val="0"/>
              </a:spcAft>
              <a:buClr>
                <a:schemeClr val="dk1"/>
              </a:buClr>
              <a:buSzPts val="1000"/>
              <a:buFont typeface="Arial"/>
              <a:buNone/>
            </a:pPr>
            <a:r>
              <a:rPr lang="es-CL" sz="1100" b="1" i="0" u="none" strike="noStrike" cap="none">
                <a:solidFill>
                  <a:schemeClr val="dk1"/>
                </a:solidFill>
                <a:latin typeface="Cabin"/>
                <a:ea typeface="Cabin"/>
                <a:cs typeface="Cabin"/>
                <a:sym typeface="Cabin"/>
              </a:rPr>
              <a:t>Oportunidad: </a:t>
            </a:r>
            <a:r>
              <a:rPr lang="es-CL" sz="1100" b="0" i="0" u="none" strike="noStrike" cap="none">
                <a:solidFill>
                  <a:schemeClr val="dk1"/>
                </a:solidFill>
                <a:latin typeface="Cabin"/>
                <a:ea typeface="Cabin"/>
                <a:cs typeface="Cabin"/>
                <a:sym typeface="Cabin"/>
              </a:rPr>
              <a:t>[</a:t>
            </a:r>
            <a:r>
              <a:rPr lang="es-CL" sz="1100">
                <a:solidFill>
                  <a:schemeClr val="dk1"/>
                </a:solidFill>
                <a:latin typeface="Cabin"/>
                <a:ea typeface="Cabin"/>
                <a:cs typeface="Cabin"/>
                <a:sym typeface="Cabin"/>
              </a:rPr>
              <a:t>el senderista solitario</a:t>
            </a:r>
            <a:r>
              <a:rPr lang="es-CL" sz="1100" b="0" i="0" u="none" strike="noStrike" cap="none">
                <a:solidFill>
                  <a:schemeClr val="dk1"/>
                </a:solidFill>
                <a:latin typeface="Cabin"/>
                <a:ea typeface="Cabin"/>
                <a:cs typeface="Cabin"/>
                <a:sym typeface="Cabin"/>
              </a:rPr>
              <a:t>]  necesita  [salir acompañado a hacer </a:t>
            </a:r>
            <a:r>
              <a:rPr lang="es-CL" sz="1100">
                <a:solidFill>
                  <a:schemeClr val="dk1"/>
                </a:solidFill>
                <a:latin typeface="Cabin"/>
                <a:ea typeface="Cabin"/>
                <a:cs typeface="Cabin"/>
                <a:sym typeface="Cabin"/>
              </a:rPr>
              <a:t>trekking</a:t>
            </a:r>
            <a:r>
              <a:rPr lang="es-CL" sz="1100" b="0" i="0" u="none" strike="noStrike" cap="none">
                <a:solidFill>
                  <a:schemeClr val="dk1"/>
                </a:solidFill>
                <a:latin typeface="Cabin"/>
                <a:ea typeface="Cabin"/>
                <a:cs typeface="Cabin"/>
                <a:sym typeface="Cabin"/>
              </a:rPr>
              <a:t>]</a:t>
            </a:r>
            <a:r>
              <a:rPr lang="es-CL" sz="1100">
                <a:solidFill>
                  <a:schemeClr val="dk1"/>
                </a:solidFill>
                <a:latin typeface="Cabin"/>
                <a:ea typeface="Cabin"/>
                <a:cs typeface="Cabin"/>
                <a:sym typeface="Cabin"/>
              </a:rPr>
              <a:t> </a:t>
            </a:r>
            <a:r>
              <a:rPr lang="es-CL" sz="1100" b="0" i="0" u="none" strike="noStrike" cap="none">
                <a:solidFill>
                  <a:schemeClr val="dk1"/>
                </a:solidFill>
                <a:latin typeface="Cabin"/>
                <a:ea typeface="Cabin"/>
                <a:cs typeface="Cabin"/>
                <a:sym typeface="Cabin"/>
              </a:rPr>
              <a:t>porque/para  [disfrutar y conectar con la naturaleza]  pero  [no consigue un acompañante para poder salir y sentirse seguro]</a:t>
            </a:r>
            <a:r>
              <a:rPr lang="es-CL" sz="1100" b="0" i="0" u="none" strike="noStrike" cap="none">
                <a:solidFill>
                  <a:srgbClr val="5C5DD4"/>
                </a:solidFill>
                <a:latin typeface="Cabin"/>
                <a:ea typeface="Cabin"/>
                <a:cs typeface="Cabin"/>
                <a:sym typeface="Cabin"/>
              </a:rPr>
              <a:t> </a:t>
            </a:r>
            <a:endParaRPr sz="1200" b="0" i="1" u="none" strike="noStrike" cap="none">
              <a:solidFill>
                <a:schemeClr val="dk1"/>
              </a:solidFill>
              <a:latin typeface="Cabin"/>
              <a:ea typeface="Cabin"/>
              <a:cs typeface="Cabin"/>
              <a:sym typeface="Cabin"/>
            </a:endParaRPr>
          </a:p>
        </p:txBody>
      </p:sp>
      <p:sp>
        <p:nvSpPr>
          <p:cNvPr id="282" name="Google Shape;282;g3f6d87f1187_0_399"/>
          <p:cNvSpPr txBox="1"/>
          <p:nvPr/>
        </p:nvSpPr>
        <p:spPr>
          <a:xfrm>
            <a:off x="440574" y="5892997"/>
            <a:ext cx="8393700" cy="692100"/>
          </a:xfrm>
          <a:prstGeom prst="rect">
            <a:avLst/>
          </a:prstGeom>
          <a:noFill/>
          <a:ln>
            <a:noFill/>
          </a:ln>
        </p:spPr>
        <p:txBody>
          <a:bodyPr spcFirstLastPara="1" wrap="square" lIns="79775" tIns="79775" rIns="79775" bIns="79775"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s-CL" sz="700" b="0" i="1" u="none" strike="noStrike" cap="none">
                <a:solidFill>
                  <a:schemeClr val="dk1"/>
                </a:solidFill>
                <a:latin typeface="Cabin"/>
                <a:ea typeface="Cabin"/>
                <a:cs typeface="Cabin"/>
                <a:sym typeface="Cabin"/>
              </a:rPr>
              <a:t>Ejemplos: </a:t>
            </a:r>
            <a:endParaRPr sz="700" b="0" i="1" u="none" strike="noStrike" cap="none">
              <a:solidFill>
                <a:schemeClr val="dk1"/>
              </a:solidFill>
              <a:latin typeface="Cabin"/>
              <a:ea typeface="Cabin"/>
              <a:cs typeface="Cabin"/>
              <a:sym typeface="Cabin"/>
            </a:endParaRPr>
          </a:p>
          <a:p>
            <a:pPr marL="0" marR="0" lvl="0" indent="0" algn="l" rtl="0">
              <a:lnSpc>
                <a:spcPct val="150000"/>
              </a:lnSpc>
              <a:spcBef>
                <a:spcPts val="0"/>
              </a:spcBef>
              <a:spcAft>
                <a:spcPts val="0"/>
              </a:spcAft>
              <a:buClr>
                <a:srgbClr val="000000"/>
              </a:buClr>
              <a:buSzPts val="1000"/>
              <a:buFont typeface="Arial"/>
              <a:buNone/>
            </a:pPr>
            <a:r>
              <a:rPr lang="es-CL" sz="600" b="0" i="1" u="none" strike="noStrike" cap="none">
                <a:solidFill>
                  <a:schemeClr val="dk1"/>
                </a:solidFill>
                <a:latin typeface="Cabin"/>
                <a:ea typeface="Cabin"/>
                <a:cs typeface="Cabin"/>
                <a:sym typeface="Cabin"/>
              </a:rPr>
              <a:t> "</a:t>
            </a:r>
            <a:r>
              <a:rPr lang="es-CL" sz="600" b="0" i="1" u="none" strike="noStrike" cap="none">
                <a:solidFill>
                  <a:srgbClr val="5C5DD4"/>
                </a:solidFill>
                <a:latin typeface="Cabin"/>
                <a:ea typeface="Cabin"/>
                <a:cs typeface="Cabin"/>
                <a:sym typeface="Cabin"/>
              </a:rPr>
              <a:t>UN RESTAURANTE </a:t>
            </a:r>
            <a:r>
              <a:rPr lang="es-CL" sz="600" b="0" i="1" u="none" strike="noStrike" cap="none">
                <a:solidFill>
                  <a:schemeClr val="dk1"/>
                </a:solidFill>
                <a:latin typeface="Cabin"/>
                <a:ea typeface="Cabin"/>
                <a:cs typeface="Cabin"/>
                <a:sym typeface="Cabin"/>
              </a:rPr>
              <a:t>necesita </a:t>
            </a:r>
            <a:r>
              <a:rPr lang="es-CL" sz="600" b="0" i="1" u="none" strike="noStrike" cap="none">
                <a:solidFill>
                  <a:srgbClr val="5C5DD4"/>
                </a:solidFill>
                <a:latin typeface="Cabin"/>
                <a:ea typeface="Cabin"/>
                <a:cs typeface="Cabin"/>
                <a:sym typeface="Cabin"/>
              </a:rPr>
              <a:t>MEJORAR SU ATENCIÓN AL PÚBLICO CELÍACO  </a:t>
            </a:r>
            <a:r>
              <a:rPr lang="es-CL" sz="600" b="0" i="1" u="none" strike="noStrike" cap="none">
                <a:solidFill>
                  <a:schemeClr val="dk1"/>
                </a:solidFill>
                <a:latin typeface="Cabin"/>
                <a:ea typeface="Cabin"/>
                <a:cs typeface="Cabin"/>
                <a:sym typeface="Cabin"/>
              </a:rPr>
              <a:t>para </a:t>
            </a:r>
            <a:r>
              <a:rPr lang="es-CL" sz="600" b="0" i="1" u="none" strike="noStrike" cap="none">
                <a:solidFill>
                  <a:srgbClr val="5C5DD4"/>
                </a:solidFill>
                <a:latin typeface="Cabin"/>
                <a:ea typeface="Cabin"/>
                <a:cs typeface="Cabin"/>
                <a:sym typeface="Cabin"/>
              </a:rPr>
              <a:t>AMPLIAR SU MERCADO</a:t>
            </a:r>
            <a:r>
              <a:rPr lang="es-CL" sz="600" b="0" i="1" u="none" strike="noStrike" cap="none">
                <a:solidFill>
                  <a:schemeClr val="dk1"/>
                </a:solidFill>
                <a:latin typeface="Cabin"/>
                <a:ea typeface="Cabin"/>
                <a:cs typeface="Cabin"/>
                <a:sym typeface="Cabin"/>
              </a:rPr>
              <a:t> pero </a:t>
            </a:r>
            <a:r>
              <a:rPr lang="es-CL" sz="600" b="0" i="1" u="none" strike="noStrike" cap="none">
                <a:solidFill>
                  <a:srgbClr val="5C5DD4"/>
                </a:solidFill>
                <a:latin typeface="Cabin"/>
                <a:ea typeface="Cabin"/>
                <a:cs typeface="Cabin"/>
                <a:sym typeface="Cabin"/>
              </a:rPr>
              <a:t>SE ENFRENTA A LA FALTA DE OFERTA DE PRODUCTOS ”</a:t>
            </a:r>
            <a:endParaRPr sz="600" b="0" i="1" u="none" strike="noStrike" cap="none">
              <a:solidFill>
                <a:srgbClr val="5C5DD4"/>
              </a:solidFill>
              <a:latin typeface="Cabin"/>
              <a:ea typeface="Cabin"/>
              <a:cs typeface="Cabin"/>
              <a:sym typeface="Cabin"/>
            </a:endParaRPr>
          </a:p>
          <a:p>
            <a:pPr marL="0" marR="0" lvl="0" indent="0" algn="l" rtl="0">
              <a:lnSpc>
                <a:spcPct val="150000"/>
              </a:lnSpc>
              <a:spcBef>
                <a:spcPts val="0"/>
              </a:spcBef>
              <a:spcAft>
                <a:spcPts val="0"/>
              </a:spcAft>
              <a:buClr>
                <a:schemeClr val="dk1"/>
              </a:buClr>
              <a:buSzPts val="1000"/>
              <a:buFont typeface="Arial"/>
              <a:buNone/>
            </a:pPr>
            <a:r>
              <a:rPr lang="es-CL" sz="600" b="0" i="1" u="none" strike="noStrike" cap="none">
                <a:solidFill>
                  <a:schemeClr val="dk1"/>
                </a:solidFill>
                <a:latin typeface="Cabin"/>
                <a:ea typeface="Cabin"/>
                <a:cs typeface="Cabin"/>
                <a:sym typeface="Cabin"/>
              </a:rPr>
              <a:t>“</a:t>
            </a:r>
            <a:r>
              <a:rPr lang="es-CL" sz="600" b="0" i="1" u="none" strike="noStrike" cap="none">
                <a:solidFill>
                  <a:srgbClr val="5C5DD4"/>
                </a:solidFill>
                <a:latin typeface="Cabin"/>
                <a:ea typeface="Cabin"/>
                <a:cs typeface="Cabin"/>
                <a:sym typeface="Cabin"/>
              </a:rPr>
              <a:t>UN OPERADOR TURÍSTICO </a:t>
            </a:r>
            <a:r>
              <a:rPr lang="es-CL" sz="600" b="0" i="1" u="none" strike="noStrike" cap="none">
                <a:solidFill>
                  <a:schemeClr val="dk1"/>
                </a:solidFill>
                <a:latin typeface="Cabin"/>
                <a:ea typeface="Cabin"/>
                <a:cs typeface="Cabin"/>
                <a:sym typeface="Cabin"/>
              </a:rPr>
              <a:t>necesita</a:t>
            </a:r>
            <a:r>
              <a:rPr lang="es-CL" sz="600" b="0" i="1" u="none" strike="noStrike" cap="none">
                <a:solidFill>
                  <a:srgbClr val="5C5DD4"/>
                </a:solidFill>
                <a:latin typeface="Cabin"/>
                <a:ea typeface="Cabin"/>
                <a:cs typeface="Cabin"/>
                <a:sym typeface="Cabin"/>
              </a:rPr>
              <a:t> TENER  EXPERIENCIAS INCLUSIVAS </a:t>
            </a:r>
            <a:r>
              <a:rPr lang="es-CL" sz="600" b="0" i="1" u="none" strike="noStrike" cap="none">
                <a:solidFill>
                  <a:schemeClr val="dk1"/>
                </a:solidFill>
                <a:latin typeface="Cabin"/>
                <a:ea typeface="Cabin"/>
                <a:cs typeface="Cabin"/>
                <a:sym typeface="Cabin"/>
              </a:rPr>
              <a:t>para</a:t>
            </a:r>
            <a:r>
              <a:rPr lang="es-CL" sz="600" b="0" i="1" u="none" strike="noStrike" cap="none">
                <a:solidFill>
                  <a:srgbClr val="5C5DD4"/>
                </a:solidFill>
                <a:latin typeface="Cabin"/>
                <a:ea typeface="Cabin"/>
                <a:cs typeface="Cabin"/>
                <a:sym typeface="Cabin"/>
              </a:rPr>
              <a:t> AMPLIAR SU MERCADO </a:t>
            </a:r>
            <a:r>
              <a:rPr lang="es-CL" sz="600" b="0" i="1" u="none" strike="noStrike" cap="none">
                <a:solidFill>
                  <a:schemeClr val="dk1"/>
                </a:solidFill>
                <a:latin typeface="Cabin"/>
                <a:ea typeface="Cabin"/>
                <a:cs typeface="Cabin"/>
                <a:sym typeface="Cabin"/>
              </a:rPr>
              <a:t>pero </a:t>
            </a:r>
            <a:r>
              <a:rPr lang="es-CL" sz="600" b="0" i="1" u="none" strike="noStrike" cap="none">
                <a:solidFill>
                  <a:srgbClr val="5C5DD4"/>
                </a:solidFill>
                <a:latin typeface="Cabin"/>
                <a:ea typeface="Cabin"/>
                <a:cs typeface="Cabin"/>
                <a:sym typeface="Cabin"/>
              </a:rPr>
              <a:t>SE ENCUENTRA CON INFRAESTRUCTURA NO ADAPTADA”</a:t>
            </a:r>
            <a:endParaRPr sz="600" b="0" i="1" u="none" strike="noStrike" cap="none">
              <a:solidFill>
                <a:srgbClr val="5C5DD4"/>
              </a:solidFill>
              <a:latin typeface="Cabin"/>
              <a:ea typeface="Cabin"/>
              <a:cs typeface="Cabin"/>
              <a:sym typeface="Cabin"/>
            </a:endParaRPr>
          </a:p>
          <a:p>
            <a:pPr marL="0" marR="0" lvl="0" indent="0" algn="l" rtl="0">
              <a:lnSpc>
                <a:spcPct val="150000"/>
              </a:lnSpc>
              <a:spcBef>
                <a:spcPts val="0"/>
              </a:spcBef>
              <a:spcAft>
                <a:spcPts val="0"/>
              </a:spcAft>
              <a:buClr>
                <a:srgbClr val="000000"/>
              </a:buClr>
              <a:buSzPts val="1000"/>
              <a:buFont typeface="Arial"/>
              <a:buNone/>
            </a:pPr>
            <a:r>
              <a:rPr lang="es-CL" sz="600" b="0" i="1" u="none" strike="noStrike" cap="none">
                <a:solidFill>
                  <a:schemeClr val="dk1"/>
                </a:solidFill>
                <a:latin typeface="Cabin"/>
                <a:ea typeface="Cabin"/>
                <a:cs typeface="Cabin"/>
                <a:sym typeface="Cabin"/>
              </a:rPr>
              <a:t>“</a:t>
            </a:r>
            <a:r>
              <a:rPr lang="es-CL" sz="600" b="0" i="1" u="none" strike="noStrike" cap="none">
                <a:solidFill>
                  <a:srgbClr val="5C5DD4"/>
                </a:solidFill>
                <a:latin typeface="Cabin"/>
                <a:ea typeface="Cabin"/>
                <a:cs typeface="Cabin"/>
                <a:sym typeface="Cabin"/>
              </a:rPr>
              <a:t>UNA CONSTRUCTORA </a:t>
            </a:r>
            <a:r>
              <a:rPr lang="es-CL" sz="600" b="0" i="1" u="none" strike="noStrike" cap="none">
                <a:solidFill>
                  <a:schemeClr val="dk1"/>
                </a:solidFill>
                <a:latin typeface="Cabin"/>
                <a:ea typeface="Cabin"/>
                <a:cs typeface="Cabin"/>
                <a:sym typeface="Cabin"/>
              </a:rPr>
              <a:t>necesita</a:t>
            </a:r>
            <a:r>
              <a:rPr lang="es-CL" sz="600" b="0" i="1" u="none" strike="noStrike" cap="none">
                <a:solidFill>
                  <a:srgbClr val="5C5DD4"/>
                </a:solidFill>
                <a:latin typeface="Cabin"/>
                <a:ea typeface="Cabin"/>
                <a:cs typeface="Cabin"/>
                <a:sym typeface="Cabin"/>
              </a:rPr>
              <a:t> REDUCIR SUS RESIDUOS EN OBRA </a:t>
            </a:r>
            <a:r>
              <a:rPr lang="es-CL" sz="600" b="0" i="1" u="none" strike="noStrike" cap="none">
                <a:solidFill>
                  <a:schemeClr val="dk1"/>
                </a:solidFill>
                <a:latin typeface="Cabin"/>
                <a:ea typeface="Cabin"/>
                <a:cs typeface="Cabin"/>
                <a:sym typeface="Cabin"/>
              </a:rPr>
              <a:t>para</a:t>
            </a:r>
            <a:r>
              <a:rPr lang="es-CL" sz="600" b="0" i="1" u="none" strike="noStrike" cap="none">
                <a:solidFill>
                  <a:srgbClr val="5C5DD4"/>
                </a:solidFill>
                <a:latin typeface="Cabin"/>
                <a:ea typeface="Cabin"/>
                <a:cs typeface="Cabin"/>
                <a:sym typeface="Cabin"/>
              </a:rPr>
              <a:t> CUMPLIR CON NORMATIVAS AMBIENTALES</a:t>
            </a:r>
            <a:r>
              <a:rPr lang="es-CL" sz="600" b="0" i="1" u="none" strike="noStrike" cap="none">
                <a:solidFill>
                  <a:schemeClr val="dk1"/>
                </a:solidFill>
                <a:latin typeface="Cabin"/>
                <a:ea typeface="Cabin"/>
                <a:cs typeface="Cabin"/>
                <a:sym typeface="Cabin"/>
              </a:rPr>
              <a:t> pero</a:t>
            </a:r>
            <a:r>
              <a:rPr lang="es-CL" sz="600" b="0" i="1" u="none" strike="noStrike" cap="none">
                <a:solidFill>
                  <a:srgbClr val="5C5DD4"/>
                </a:solidFill>
                <a:latin typeface="Cabin"/>
                <a:ea typeface="Cabin"/>
                <a:cs typeface="Cabin"/>
                <a:sym typeface="Cabin"/>
              </a:rPr>
              <a:t> CARECE DE UN SISTEMA DE GESTIÓN”</a:t>
            </a:r>
            <a:endParaRPr sz="600" b="0" i="1" u="none" strike="noStrike" cap="none">
              <a:solidFill>
                <a:srgbClr val="5C5DD4"/>
              </a:solidFill>
              <a:latin typeface="Cabin"/>
              <a:ea typeface="Cabin"/>
              <a:cs typeface="Cabin"/>
              <a:sym typeface="Cabin"/>
            </a:endParaRPr>
          </a:p>
        </p:txBody>
      </p:sp>
      <p:graphicFrame>
        <p:nvGraphicFramePr>
          <p:cNvPr id="283" name="Google Shape;283;g3f6d87f1187_0_399"/>
          <p:cNvGraphicFramePr/>
          <p:nvPr/>
        </p:nvGraphicFramePr>
        <p:xfrm>
          <a:off x="330270" y="2484397"/>
          <a:ext cx="8393650" cy="1994700"/>
        </p:xfrm>
        <a:graphic>
          <a:graphicData uri="http://schemas.openxmlformats.org/drawingml/2006/table">
            <a:tbl>
              <a:tblPr>
                <a:noFill/>
                <a:tableStyleId>{43D06EDE-987B-4894-A242-B41088D9BEBC}</a:tableStyleId>
              </a:tblPr>
              <a:tblGrid>
                <a:gridCol w="8393650">
                  <a:extLst>
                    <a:ext uri="{9D8B030D-6E8A-4147-A177-3AD203B41FA5}">
                      <a16:colId xmlns:a16="http://schemas.microsoft.com/office/drawing/2014/main" val="20000"/>
                    </a:ext>
                  </a:extLst>
                </a:gridCol>
              </a:tblGrid>
              <a:tr h="1550475">
                <a:tc>
                  <a:txBody>
                    <a:bodyPr/>
                    <a:lstStyle/>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Necesidad principal detectada en el usuario o cliente:</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i="1" u="none" strike="noStrike" cap="none">
                          <a:solidFill>
                            <a:schemeClr val="dk1"/>
                          </a:solidFill>
                          <a:latin typeface="Cabin"/>
                          <a:ea typeface="Cabin"/>
                          <a:cs typeface="Cabin"/>
                          <a:sym typeface="Cabin"/>
                        </a:rPr>
                        <a:t>¿Qué requiere o espera el usuario en esa situación? ¿Qué aspecto valora o necesita resolver para tener una mejor experiencia?</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R: El usuario requiere contar con compañía confiable para realizar actividades de trekking o camping.</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Espera sentirse de manera segura, motivado y disfrutar plenamente de la experiencia al aire libre. </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r>
                        <a:rPr lang="es-CL" sz="1200" b="1" u="none" strike="noStrike" cap="none">
                          <a:solidFill>
                            <a:schemeClr val="dk1"/>
                          </a:solidFill>
                          <a:latin typeface="Cabin"/>
                          <a:ea typeface="Cabin"/>
                          <a:cs typeface="Cabin"/>
                          <a:sym typeface="Cabin"/>
                        </a:rPr>
                        <a:t>Valora principalmente la seguridad, la posibilidad de compartir con otras personas y la oportunidad de desconectarse del ambiente de la ciudad y tener un momento grato </a:t>
                      </a:r>
                      <a:r>
                        <a:rPr lang="es-CL" sz="1200" b="1">
                          <a:solidFill>
                            <a:schemeClr val="dk1"/>
                          </a:solidFill>
                          <a:latin typeface="Cabin"/>
                          <a:ea typeface="Cabin"/>
                          <a:cs typeface="Cabin"/>
                          <a:sym typeface="Cabin"/>
                        </a:rPr>
                        <a:t>en </a:t>
                      </a:r>
                      <a:r>
                        <a:rPr lang="es-CL" sz="1200" b="1" u="none" strike="noStrike" cap="none">
                          <a:solidFill>
                            <a:schemeClr val="dk1"/>
                          </a:solidFill>
                          <a:latin typeface="Cabin"/>
                          <a:ea typeface="Cabin"/>
                          <a:cs typeface="Cabin"/>
                          <a:sym typeface="Cabin"/>
                        </a:rPr>
                        <a:t>la naturaleza.</a:t>
                      </a: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000"/>
                        <a:buFont typeface="Arial"/>
                        <a:buNone/>
                      </a:pPr>
                      <a:endParaRPr sz="1200" b="1" u="none" strike="noStrike" cap="none">
                        <a:solidFill>
                          <a:schemeClr val="dk1"/>
                        </a:solidFill>
                        <a:latin typeface="Cabin"/>
                        <a:ea typeface="Cabin"/>
                        <a:cs typeface="Cabin"/>
                        <a:sym typeface="Cabin"/>
                      </a:endParaRPr>
                    </a:p>
                    <a:p>
                      <a:pPr marL="0" marR="0" lvl="0" indent="0" algn="ctr" rtl="0">
                        <a:lnSpc>
                          <a:spcPct val="100000"/>
                        </a:lnSpc>
                        <a:spcBef>
                          <a:spcPts val="0"/>
                        </a:spcBef>
                        <a:spcAft>
                          <a:spcPts val="0"/>
                        </a:spcAft>
                        <a:buClr>
                          <a:schemeClr val="dk1"/>
                        </a:buClr>
                        <a:buSzPts val="1300"/>
                        <a:buFont typeface="Arial"/>
                        <a:buNone/>
                      </a:pPr>
                      <a:endParaRPr sz="1200" u="none" strike="noStrike" cap="none">
                        <a:latin typeface="Cabin"/>
                        <a:ea typeface="Cabin"/>
                        <a:cs typeface="Cabin"/>
                        <a:sym typeface="Cabin"/>
                      </a:endParaRPr>
                    </a:p>
                  </a:txBody>
                  <a:tcPr marL="78200" marR="78200" marT="82950" marB="82950">
                    <a:lnL w="8300" cap="flat" cmpd="sng">
                      <a:solidFill>
                        <a:schemeClr val="dk1"/>
                      </a:solidFill>
                      <a:prstDash val="solid"/>
                      <a:round/>
                      <a:headEnd type="none" w="sm" len="sm"/>
                      <a:tailEnd type="none" w="sm" len="sm"/>
                    </a:lnL>
                    <a:lnR w="8300" cap="flat" cmpd="sng">
                      <a:solidFill>
                        <a:schemeClr val="dk1"/>
                      </a:solidFill>
                      <a:prstDash val="solid"/>
                      <a:round/>
                      <a:headEnd type="none" w="sm" len="sm"/>
                      <a:tailEnd type="none" w="sm" len="sm"/>
                    </a:lnR>
                    <a:lnT w="8300" cap="flat" cmpd="sng">
                      <a:solidFill>
                        <a:schemeClr val="dk1"/>
                      </a:solidFill>
                      <a:prstDash val="solid"/>
                      <a:round/>
                      <a:headEnd type="none" w="sm" len="sm"/>
                      <a:tailEnd type="none" w="sm" len="sm"/>
                    </a:lnT>
                    <a:lnB w="8300" cap="flat" cmpd="sng">
                      <a:solidFill>
                        <a:schemeClr val="dk1"/>
                      </a:solidFill>
                      <a:prstDash val="solid"/>
                      <a:round/>
                      <a:headEnd type="none" w="sm" len="sm"/>
                      <a:tailEnd type="none" w="sm" len="sm"/>
                    </a:lnB>
                    <a:solidFill>
                      <a:srgbClr val="F0F0F0"/>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3838114d7a9_0_53"/>
          <p:cNvSpPr txBox="1">
            <a:spLocks noGrp="1"/>
          </p:cNvSpPr>
          <p:nvPr>
            <p:ph type="title"/>
          </p:nvPr>
        </p:nvSpPr>
        <p:spPr>
          <a:xfrm>
            <a:off x="389676" y="240575"/>
            <a:ext cx="8511000" cy="365100"/>
          </a:xfrm>
          <a:prstGeom prst="rect">
            <a:avLst/>
          </a:prstGeom>
          <a:noFill/>
          <a:ln>
            <a:noFill/>
          </a:ln>
        </p:spPr>
        <p:txBody>
          <a:bodyPr spcFirstLastPara="1" wrap="square" lIns="79775" tIns="39875" rIns="79775" bIns="39875" anchor="t" anchorCtr="0">
            <a:noAutofit/>
          </a:bodyPr>
          <a:lstStyle/>
          <a:p>
            <a:pPr marL="0" marR="0" lvl="0" indent="0" algn="l" rtl="0">
              <a:lnSpc>
                <a:spcPct val="90000"/>
              </a:lnSpc>
              <a:spcBef>
                <a:spcPts val="0"/>
              </a:spcBef>
              <a:spcAft>
                <a:spcPts val="0"/>
              </a:spcAft>
              <a:buClr>
                <a:srgbClr val="000000"/>
              </a:buClr>
              <a:buSzPts val="3800"/>
              <a:buFont typeface="Arial"/>
              <a:buNone/>
            </a:pPr>
            <a:r>
              <a:rPr lang="es-CL" sz="2100" b="1">
                <a:solidFill>
                  <a:schemeClr val="lt1"/>
                </a:solidFill>
                <a:highlight>
                  <a:srgbClr val="5C5DD4"/>
                </a:highlight>
                <a:latin typeface="Comfortaa"/>
                <a:ea typeface="Comfortaa"/>
                <a:cs typeface="Comfortaa"/>
                <a:sym typeface="Comfortaa"/>
              </a:rPr>
              <a:t>8. </a:t>
            </a:r>
            <a:r>
              <a:rPr lang="es-CL" sz="2100" b="1" i="0" u="none" strike="noStrike" cap="none">
                <a:solidFill>
                  <a:schemeClr val="lt1"/>
                </a:solidFill>
                <a:highlight>
                  <a:srgbClr val="5C5DD4"/>
                </a:highlight>
                <a:latin typeface="Comfortaa"/>
                <a:ea typeface="Comfortaa"/>
                <a:cs typeface="Comfortaa"/>
                <a:sym typeface="Comfortaa"/>
              </a:rPr>
              <a:t>ITERACIÓN DE LA PROPUESTA</a:t>
            </a:r>
            <a:endParaRPr sz="1200" b="1" i="0" u="none" strike="noStrike" cap="none">
              <a:solidFill>
                <a:srgbClr val="FF0000"/>
              </a:solidFill>
              <a:highlight>
                <a:srgbClr val="5C5DD4"/>
              </a:highlight>
              <a:latin typeface="Comfortaa"/>
              <a:ea typeface="Comfortaa"/>
              <a:cs typeface="Comfortaa"/>
              <a:sym typeface="Comfortaa"/>
            </a:endParaRPr>
          </a:p>
        </p:txBody>
      </p:sp>
      <p:sp>
        <p:nvSpPr>
          <p:cNvPr id="290" name="Google Shape;290;g3838114d7a9_0_53"/>
          <p:cNvSpPr txBox="1"/>
          <p:nvPr/>
        </p:nvSpPr>
        <p:spPr>
          <a:xfrm>
            <a:off x="389275" y="591650"/>
            <a:ext cx="85584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R</a:t>
            </a:r>
            <a:r>
              <a:rPr lang="es-CL" sz="1100" b="0" i="0" u="none" strike="noStrike" cap="none">
                <a:solidFill>
                  <a:srgbClr val="000000"/>
                </a:solidFill>
                <a:latin typeface="Cabin"/>
                <a:ea typeface="Cabin"/>
                <a:cs typeface="Cabin"/>
                <a:sym typeface="Cabin"/>
              </a:rPr>
              <a:t>esultados de la encuesta aplicada a nuestra propuesta. Identificamos fortalezas, aspectos a mejorar, sugerencias y elementos prescindibles. Esta reflexión grupal permitirá ajustar y optimizar la propuesta antes de su entrega final.</a:t>
            </a:r>
            <a:endParaRPr sz="1100" b="0" i="0" u="none" strike="noStrike" cap="none">
              <a:solidFill>
                <a:srgbClr val="000000"/>
              </a:solidFill>
              <a:latin typeface="Cabin"/>
              <a:ea typeface="Cabin"/>
              <a:cs typeface="Cabin"/>
              <a:sym typeface="Cabin"/>
            </a:endParaRPr>
          </a:p>
        </p:txBody>
      </p:sp>
      <p:sp>
        <p:nvSpPr>
          <p:cNvPr id="291" name="Google Shape;291;g3838114d7a9_0_53"/>
          <p:cNvSpPr txBox="1"/>
          <p:nvPr/>
        </p:nvSpPr>
        <p:spPr>
          <a:xfrm>
            <a:off x="9665523" y="7091314"/>
            <a:ext cx="1183200" cy="525000"/>
          </a:xfrm>
          <a:prstGeom prst="rect">
            <a:avLst/>
          </a:prstGeom>
          <a:solidFill>
            <a:srgbClr val="EEFF41"/>
          </a:solidFill>
          <a:ln w="9525" cap="flat" cmpd="sng">
            <a:solidFill>
              <a:srgbClr val="000000"/>
            </a:solidFill>
            <a:prstDash val="dot"/>
            <a:round/>
            <a:headEnd type="none" w="sm" len="sm"/>
            <a:tailEnd type="none" w="sm" len="sm"/>
          </a:ln>
        </p:spPr>
        <p:txBody>
          <a:bodyPr spcFirstLastPara="1" wrap="square" lIns="49625" tIns="49625" rIns="49625" bIns="496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s-CL" sz="800" b="0" i="0" u="none" strike="noStrike" cap="none">
                <a:solidFill>
                  <a:srgbClr val="000000"/>
                </a:solidFill>
                <a:latin typeface="Cabin"/>
                <a:ea typeface="Cabin"/>
                <a:cs typeface="Cabin"/>
                <a:sym typeface="Cabin"/>
              </a:rPr>
              <a:t>(escribir texto)</a:t>
            </a:r>
            <a:endParaRPr sz="800" b="0" i="0" u="none" strike="noStrike" cap="none">
              <a:solidFill>
                <a:srgbClr val="000000"/>
              </a:solidFill>
              <a:latin typeface="Cabin"/>
              <a:ea typeface="Cabin"/>
              <a:cs typeface="Cabin"/>
              <a:sym typeface="Cabin"/>
            </a:endParaRPr>
          </a:p>
        </p:txBody>
      </p:sp>
      <p:sp>
        <p:nvSpPr>
          <p:cNvPr id="292" name="Google Shape;292;g3838114d7a9_0_53"/>
          <p:cNvSpPr txBox="1"/>
          <p:nvPr/>
        </p:nvSpPr>
        <p:spPr>
          <a:xfrm>
            <a:off x="9382701" y="6865561"/>
            <a:ext cx="1383600" cy="578700"/>
          </a:xfrm>
          <a:prstGeom prst="rect">
            <a:avLst/>
          </a:prstGeom>
          <a:solidFill>
            <a:srgbClr val="EEFF41"/>
          </a:solidFill>
          <a:ln w="9525" cap="flat" cmpd="sng">
            <a:solidFill>
              <a:srgbClr val="000000"/>
            </a:solidFill>
            <a:prstDash val="dot"/>
            <a:round/>
            <a:headEnd type="none" w="sm" len="sm"/>
            <a:tailEnd type="none" w="sm" len="sm"/>
          </a:ln>
        </p:spPr>
        <p:txBody>
          <a:bodyPr spcFirstLastPara="1" wrap="square" lIns="56875" tIns="56875" rIns="56875" bIns="568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s-CL" sz="900" b="0" i="0" u="none" strike="noStrike" cap="none">
                <a:solidFill>
                  <a:srgbClr val="000000"/>
                </a:solidFill>
                <a:latin typeface="Cabin"/>
                <a:ea typeface="Cabin"/>
                <a:cs typeface="Cabin"/>
                <a:sym typeface="Cabin"/>
              </a:rPr>
              <a:t>(escribir texto)</a:t>
            </a:r>
            <a:endParaRPr sz="900" b="0" i="0" u="none" strike="noStrike" cap="none">
              <a:solidFill>
                <a:srgbClr val="000000"/>
              </a:solidFill>
              <a:latin typeface="Cabin"/>
              <a:ea typeface="Cabin"/>
              <a:cs typeface="Cabin"/>
              <a:sym typeface="Cabin"/>
            </a:endParaRPr>
          </a:p>
        </p:txBody>
      </p:sp>
      <p:sp>
        <p:nvSpPr>
          <p:cNvPr id="293" name="Google Shape;293;g3838114d7a9_0_53"/>
          <p:cNvSpPr txBox="1"/>
          <p:nvPr/>
        </p:nvSpPr>
        <p:spPr>
          <a:xfrm>
            <a:off x="9535101" y="7017961"/>
            <a:ext cx="1383600" cy="578700"/>
          </a:xfrm>
          <a:prstGeom prst="rect">
            <a:avLst/>
          </a:prstGeom>
          <a:solidFill>
            <a:srgbClr val="EEFF41"/>
          </a:solidFill>
          <a:ln w="9525" cap="flat" cmpd="sng">
            <a:solidFill>
              <a:srgbClr val="000000"/>
            </a:solidFill>
            <a:prstDash val="dot"/>
            <a:round/>
            <a:headEnd type="none" w="sm" len="sm"/>
            <a:tailEnd type="none" w="sm" len="sm"/>
          </a:ln>
        </p:spPr>
        <p:txBody>
          <a:bodyPr spcFirstLastPara="1" wrap="square" lIns="56875" tIns="56875" rIns="56875" bIns="568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s-CL" sz="900" b="0" i="0" u="none" strike="noStrike" cap="none">
                <a:solidFill>
                  <a:srgbClr val="000000"/>
                </a:solidFill>
                <a:latin typeface="Cabin"/>
                <a:ea typeface="Cabin"/>
                <a:cs typeface="Cabin"/>
                <a:sym typeface="Cabin"/>
              </a:rPr>
              <a:t>(escribir texto)</a:t>
            </a:r>
            <a:endParaRPr sz="900" b="0" i="0" u="none" strike="noStrike" cap="none">
              <a:solidFill>
                <a:srgbClr val="000000"/>
              </a:solidFill>
              <a:latin typeface="Cabin"/>
              <a:ea typeface="Cabin"/>
              <a:cs typeface="Cabin"/>
              <a:sym typeface="Cabin"/>
            </a:endParaRPr>
          </a:p>
        </p:txBody>
      </p:sp>
      <p:sp>
        <p:nvSpPr>
          <p:cNvPr id="294" name="Google Shape;294;g3838114d7a9_0_53"/>
          <p:cNvSpPr txBox="1"/>
          <p:nvPr/>
        </p:nvSpPr>
        <p:spPr>
          <a:xfrm>
            <a:off x="9687501" y="7170361"/>
            <a:ext cx="1383600" cy="578700"/>
          </a:xfrm>
          <a:prstGeom prst="rect">
            <a:avLst/>
          </a:prstGeom>
          <a:solidFill>
            <a:srgbClr val="EEFF41"/>
          </a:solidFill>
          <a:ln w="9525" cap="flat" cmpd="sng">
            <a:solidFill>
              <a:srgbClr val="000000"/>
            </a:solidFill>
            <a:prstDash val="dot"/>
            <a:round/>
            <a:headEnd type="none" w="sm" len="sm"/>
            <a:tailEnd type="none" w="sm" len="sm"/>
          </a:ln>
        </p:spPr>
        <p:txBody>
          <a:bodyPr spcFirstLastPara="1" wrap="square" lIns="56875" tIns="56875" rIns="56875" bIns="568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s-CL" sz="900" b="0" i="0" u="none" strike="noStrike" cap="none">
                <a:solidFill>
                  <a:srgbClr val="000000"/>
                </a:solidFill>
                <a:latin typeface="Cabin"/>
                <a:ea typeface="Cabin"/>
                <a:cs typeface="Cabin"/>
                <a:sym typeface="Cabin"/>
              </a:rPr>
              <a:t>(escribir texto)</a:t>
            </a:r>
            <a:endParaRPr sz="900" b="0" i="0" u="none" strike="noStrike" cap="none">
              <a:solidFill>
                <a:srgbClr val="000000"/>
              </a:solidFill>
              <a:latin typeface="Cabin"/>
              <a:ea typeface="Cabin"/>
              <a:cs typeface="Cabin"/>
              <a:sym typeface="Cabin"/>
            </a:endParaRPr>
          </a:p>
        </p:txBody>
      </p:sp>
      <p:sp>
        <p:nvSpPr>
          <p:cNvPr id="295" name="Google Shape;295;g3838114d7a9_0_53"/>
          <p:cNvSpPr txBox="1"/>
          <p:nvPr/>
        </p:nvSpPr>
        <p:spPr>
          <a:xfrm>
            <a:off x="9839901" y="7322761"/>
            <a:ext cx="1383600" cy="578700"/>
          </a:xfrm>
          <a:prstGeom prst="rect">
            <a:avLst/>
          </a:prstGeom>
          <a:solidFill>
            <a:srgbClr val="EEFF41"/>
          </a:solidFill>
          <a:ln w="9525" cap="flat" cmpd="sng">
            <a:solidFill>
              <a:srgbClr val="000000"/>
            </a:solidFill>
            <a:prstDash val="dot"/>
            <a:round/>
            <a:headEnd type="none" w="sm" len="sm"/>
            <a:tailEnd type="none" w="sm" len="sm"/>
          </a:ln>
        </p:spPr>
        <p:txBody>
          <a:bodyPr spcFirstLastPara="1" wrap="square" lIns="56875" tIns="56875" rIns="56875" bIns="568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s-CL" sz="900" b="0" i="0" u="none" strike="noStrike" cap="none">
                <a:solidFill>
                  <a:srgbClr val="000000"/>
                </a:solidFill>
                <a:latin typeface="Cabin"/>
                <a:ea typeface="Cabin"/>
                <a:cs typeface="Cabin"/>
                <a:sym typeface="Cabin"/>
              </a:rPr>
              <a:t>(escribir texto)</a:t>
            </a:r>
            <a:endParaRPr sz="900" b="0" i="0" u="none" strike="noStrike" cap="none">
              <a:solidFill>
                <a:srgbClr val="000000"/>
              </a:solidFill>
              <a:latin typeface="Cabin"/>
              <a:ea typeface="Cabin"/>
              <a:cs typeface="Cabin"/>
              <a:sym typeface="Cabin"/>
            </a:endParaRPr>
          </a:p>
        </p:txBody>
      </p:sp>
      <p:sp>
        <p:nvSpPr>
          <p:cNvPr id="296" name="Google Shape;296;g3838114d7a9_0_53"/>
          <p:cNvSpPr/>
          <p:nvPr/>
        </p:nvSpPr>
        <p:spPr>
          <a:xfrm>
            <a:off x="5119350" y="1095975"/>
            <a:ext cx="3709800" cy="2635800"/>
          </a:xfrm>
          <a:prstGeom prst="rect">
            <a:avLst/>
          </a:prstGeom>
          <a:solidFill>
            <a:srgbClr val="FFFFFF"/>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97" name="Google Shape;297;g3838114d7a9_0_53"/>
          <p:cNvSpPr/>
          <p:nvPr/>
        </p:nvSpPr>
        <p:spPr>
          <a:xfrm>
            <a:off x="638725" y="1095975"/>
            <a:ext cx="3939300" cy="2582400"/>
          </a:xfrm>
          <a:prstGeom prst="rect">
            <a:avLst/>
          </a:prstGeom>
          <a:solidFill>
            <a:srgbClr val="FFFFFF"/>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latin typeface="Arial"/>
              <a:ea typeface="Arial"/>
              <a:cs typeface="Arial"/>
              <a:sym typeface="Arial"/>
            </a:endParaRPr>
          </a:p>
        </p:txBody>
      </p:sp>
      <p:sp>
        <p:nvSpPr>
          <p:cNvPr id="298" name="Google Shape;298;g3838114d7a9_0_53"/>
          <p:cNvSpPr/>
          <p:nvPr/>
        </p:nvSpPr>
        <p:spPr>
          <a:xfrm>
            <a:off x="2970975" y="3922542"/>
            <a:ext cx="3709800" cy="2635800"/>
          </a:xfrm>
          <a:prstGeom prst="rect">
            <a:avLst/>
          </a:prstGeom>
          <a:solidFill>
            <a:srgbClr val="FFFFFF"/>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latin typeface="Arial"/>
              <a:ea typeface="Arial"/>
              <a:cs typeface="Arial"/>
              <a:sym typeface="Arial"/>
            </a:endParaRPr>
          </a:p>
        </p:txBody>
      </p:sp>
      <p:sp>
        <p:nvSpPr>
          <p:cNvPr id="299" name="Google Shape;299;g3838114d7a9_0_53"/>
          <p:cNvSpPr/>
          <p:nvPr/>
        </p:nvSpPr>
        <p:spPr>
          <a:xfrm rot="5400000">
            <a:off x="4007788" y="2346113"/>
            <a:ext cx="1681800" cy="320400"/>
          </a:xfrm>
          <a:prstGeom prst="triangle">
            <a:avLst>
              <a:gd name="adj" fmla="val 50000"/>
            </a:avLst>
          </a:prstGeom>
          <a:solidFill>
            <a:srgbClr val="B7B7B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g3838114d7a9_0_53"/>
          <p:cNvSpPr txBox="1"/>
          <p:nvPr/>
        </p:nvSpPr>
        <p:spPr>
          <a:xfrm>
            <a:off x="3055425" y="3950163"/>
            <a:ext cx="3592200" cy="2721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ELEMENTOS A ELIMINAR</a:t>
            </a:r>
            <a:endParaRPr sz="1000" b="1" i="0" u="none" strike="noStrike" cap="none">
              <a:solidFill>
                <a:srgbClr val="000000"/>
              </a:solidFill>
              <a:highlight>
                <a:srgbClr val="B9B9EA"/>
              </a:highlight>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900" b="0" i="0" u="none" strike="noStrike" cap="none">
                <a:solidFill>
                  <a:srgbClr val="888888"/>
                </a:solidFill>
                <a:latin typeface="Cabin"/>
                <a:ea typeface="Cabin"/>
                <a:cs typeface="Cabin"/>
                <a:sym typeface="Cabin"/>
              </a:rPr>
              <a:t>Identifica</a:t>
            </a:r>
            <a:r>
              <a:rPr lang="es-CL" sz="900">
                <a:solidFill>
                  <a:srgbClr val="888888"/>
                </a:solidFill>
                <a:latin typeface="Cabin"/>
                <a:ea typeface="Cabin"/>
                <a:cs typeface="Cabin"/>
                <a:sym typeface="Cabin"/>
              </a:rPr>
              <a:t>ndo</a:t>
            </a:r>
            <a:r>
              <a:rPr lang="es-CL" sz="900" b="0" i="0" u="none" strike="noStrike" cap="none">
                <a:solidFill>
                  <a:srgbClr val="888888"/>
                </a:solidFill>
                <a:latin typeface="Cabin"/>
                <a:ea typeface="Cabin"/>
                <a:cs typeface="Cabin"/>
                <a:sym typeface="Cabin"/>
              </a:rPr>
              <a:t> los componentes o aspectos que no aportan valor a la propuesta y que deberían ser desechados, según los comentarios y observaciones recibidas durante la revisión.</a:t>
            </a:r>
            <a:endParaRPr sz="900" b="0" i="0" u="none" strike="noStrike" cap="none">
              <a:solidFill>
                <a:srgbClr val="888888"/>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endParaRPr sz="900" b="0" i="0" u="none" strike="noStrike" cap="none">
              <a:solidFill>
                <a:srgbClr val="888888"/>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Según la retroalimentación, no se identificaron elementos negativos críticos que deban eliminarse. Sin embargo, se recomienda descartar cualquier contenido redundante o superficial que no aporte al desarrollo del proyecto, especialmente aquellas partes que no estén sustentadas con datos reales.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Elementos prescindibles: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-Información repetida o poco relevante dentro de la propuesta.</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-Hipótesis no verificadas o sin evidencia.</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800" b="0" i="0" u="none" strike="noStrike" cap="none">
                <a:solidFill>
                  <a:schemeClr val="dk1"/>
                </a:solidFill>
                <a:latin typeface="Cabin"/>
                <a:ea typeface="Cabin"/>
                <a:cs typeface="Cabin"/>
                <a:sym typeface="Cabin"/>
              </a:rPr>
              <a:t>-Descripciones extensas que no agreguen valor analítico.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endParaRPr sz="900" b="1"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bin"/>
              <a:ea typeface="Cabin"/>
              <a:cs typeface="Cabin"/>
              <a:sym typeface="Cabin"/>
            </a:endParaRPr>
          </a:p>
        </p:txBody>
      </p:sp>
      <p:sp>
        <p:nvSpPr>
          <p:cNvPr id="301" name="Google Shape;301;g3838114d7a9_0_53"/>
          <p:cNvSpPr txBox="1"/>
          <p:nvPr/>
        </p:nvSpPr>
        <p:spPr>
          <a:xfrm>
            <a:off x="4532325" y="2155300"/>
            <a:ext cx="587100" cy="702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s-CL" sz="2700" b="1" i="0" u="none" strike="noStrike" cap="none">
                <a:solidFill>
                  <a:schemeClr val="lt1"/>
                </a:solidFill>
                <a:latin typeface="Cabin"/>
                <a:ea typeface="Cabin"/>
                <a:cs typeface="Cabin"/>
                <a:sym typeface="Cabin"/>
              </a:rPr>
              <a:t>+</a:t>
            </a:r>
            <a:endParaRPr sz="2700" b="1" i="0" u="none" strike="noStrike" cap="none">
              <a:solidFill>
                <a:schemeClr val="lt1"/>
              </a:solidFill>
              <a:latin typeface="Cabin"/>
              <a:ea typeface="Cabin"/>
              <a:cs typeface="Cabin"/>
              <a:sym typeface="Cabin"/>
            </a:endParaRPr>
          </a:p>
        </p:txBody>
      </p:sp>
      <p:sp>
        <p:nvSpPr>
          <p:cNvPr id="302" name="Google Shape;302;g3838114d7a9_0_53"/>
          <p:cNvSpPr txBox="1"/>
          <p:nvPr/>
        </p:nvSpPr>
        <p:spPr>
          <a:xfrm>
            <a:off x="638900" y="1026513"/>
            <a:ext cx="3939300" cy="2721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RESULTADOS POSITIVOS:</a:t>
            </a:r>
            <a:endParaRPr sz="1000" b="0" i="0" u="none" strike="noStrike" cap="none">
              <a:solidFill>
                <a:srgbClr val="000000"/>
              </a:solidFill>
              <a:highlight>
                <a:srgbClr val="B9B9EA"/>
              </a:highlight>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900" b="0" i="0" u="none" strike="noStrike" cap="none">
                <a:solidFill>
                  <a:srgbClr val="888888"/>
                </a:solidFill>
                <a:latin typeface="Cabin"/>
                <a:ea typeface="Cabin"/>
                <a:cs typeface="Cabin"/>
                <a:sym typeface="Cabin"/>
              </a:rPr>
              <a:t>Identific</a:t>
            </a:r>
            <a:r>
              <a:rPr lang="es-CL" sz="900">
                <a:solidFill>
                  <a:srgbClr val="888888"/>
                </a:solidFill>
                <a:latin typeface="Cabin"/>
                <a:ea typeface="Cabin"/>
                <a:cs typeface="Cabin"/>
                <a:sym typeface="Cabin"/>
              </a:rPr>
              <a:t>ando</a:t>
            </a:r>
            <a:r>
              <a:rPr lang="es-CL" sz="900" b="0" i="0" u="none" strike="noStrike" cap="none">
                <a:solidFill>
                  <a:srgbClr val="888888"/>
                </a:solidFill>
                <a:latin typeface="Cabin"/>
                <a:ea typeface="Cabin"/>
                <a:cs typeface="Cabin"/>
                <a:sym typeface="Cabin"/>
              </a:rPr>
              <a:t> los aspectos destacados y fortalezas que fueron reconocidos durante la revisión de la propuesta en la encuesta.</a:t>
            </a:r>
            <a:endParaRPr sz="900">
              <a:solidFill>
                <a:srgbClr val="888888"/>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endParaRPr sz="900">
              <a:solidFill>
                <a:srgbClr val="888888"/>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800" b="0" i="0" u="none" strike="noStrike" cap="none">
                <a:solidFill>
                  <a:schemeClr val="dk1"/>
                </a:solidFill>
                <a:latin typeface="Cabin"/>
                <a:ea typeface="Cabin"/>
                <a:cs typeface="Cabin"/>
                <a:sym typeface="Cabin"/>
              </a:rPr>
              <a:t>Durante la revisión de la propuesta, se destacó la viabilidad del proyecto de trekking y su alto potencial de crecimiento en un mercado que valora el contacto con la naturaleza y las experiencias auténticas.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Se reconoció que el problema fue correctamente identificado, lo que demuestra una comprensión real de las necesidades del usuario objetivo.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Asimismo, se valoró que el equipo mostró una buena orientación hacia la innovación y el aprovechamiento de una tendencia creciente dentro del ecoturismo y las actividades al aire libre.</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Resumen de fortalezas destacadas: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-Proyecto factible con alto potencial de expansión.</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-Correcta identificación del problema principal.</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-Idea innovadora y con oportunidades de desarrollo.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800" b="0" i="0" u="none" strike="noStrike" cap="none">
                <a:solidFill>
                  <a:schemeClr val="dk1"/>
                </a:solidFill>
                <a:latin typeface="Cabin"/>
                <a:ea typeface="Cabin"/>
                <a:cs typeface="Cabin"/>
                <a:sym typeface="Cabin"/>
              </a:rPr>
              <a:t>-Interés en mejorar la seguridad y la experiencia del usuario en trekking.</a:t>
            </a:r>
            <a:endParaRPr sz="900" b="0" i="0" u="none" strike="noStrike" cap="none">
              <a:solidFill>
                <a:schemeClr val="dk1"/>
              </a:solidFill>
              <a:latin typeface="Cabin"/>
              <a:ea typeface="Cabin"/>
              <a:cs typeface="Cabin"/>
              <a:sym typeface="Cabin"/>
            </a:endParaRPr>
          </a:p>
        </p:txBody>
      </p:sp>
      <p:sp>
        <p:nvSpPr>
          <p:cNvPr id="303" name="Google Shape;303;g3838114d7a9_0_53"/>
          <p:cNvSpPr txBox="1"/>
          <p:nvPr/>
        </p:nvSpPr>
        <p:spPr>
          <a:xfrm>
            <a:off x="5119200" y="1123550"/>
            <a:ext cx="3709800" cy="263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MEJORAS A REALIZAR EN LA PROPUESTA:</a:t>
            </a:r>
            <a:endParaRPr sz="900" b="1" i="0" u="none" strike="noStrike" cap="none">
              <a:solidFill>
                <a:srgbClr val="888888"/>
              </a:solidFill>
              <a:highlight>
                <a:srgbClr val="B9B9EA"/>
              </a:highlight>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r>
              <a:rPr lang="es-CL" sz="900" b="0" i="0" u="none" strike="noStrike" cap="none">
                <a:solidFill>
                  <a:srgbClr val="888888"/>
                </a:solidFill>
                <a:latin typeface="Cabin"/>
                <a:ea typeface="Cabin"/>
                <a:cs typeface="Cabin"/>
                <a:sym typeface="Cabin"/>
              </a:rPr>
              <a:t>Identific</a:t>
            </a:r>
            <a:r>
              <a:rPr lang="es-CL" sz="900">
                <a:solidFill>
                  <a:srgbClr val="888888"/>
                </a:solidFill>
                <a:latin typeface="Cabin"/>
                <a:ea typeface="Cabin"/>
                <a:cs typeface="Cabin"/>
                <a:sym typeface="Cabin"/>
              </a:rPr>
              <a:t>amos</a:t>
            </a:r>
            <a:r>
              <a:rPr lang="es-CL" sz="900" b="0" i="0" u="none" strike="noStrike" cap="none">
                <a:solidFill>
                  <a:srgbClr val="888888"/>
                </a:solidFill>
                <a:latin typeface="Cabin"/>
                <a:ea typeface="Cabin"/>
                <a:cs typeface="Cabin"/>
                <a:sym typeface="Cabin"/>
              </a:rPr>
              <a:t> los ajustes necesarios y sugerencias para optimizar la propuesta.</a:t>
            </a:r>
            <a:endParaRPr sz="900" b="0" i="0" u="none" strike="noStrike" cap="none">
              <a:solidFill>
                <a:srgbClr val="888888"/>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endParaRPr sz="900" b="0" i="0" u="none" strike="noStrike" cap="none">
              <a:solidFill>
                <a:srgbClr val="888888"/>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Se sugiere reforzar la estructura del proyecto con un enfoque orientado al mercado.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Clarissa recomendó ampliar la investigación y crear un Buyer Persona más completo mediante un muestreo no probabilístico que permita representar mejor al público objetivo.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También se deben incluir estrategias de marketing digital enfocadas en ecoturismo.</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Mejoras propuestas: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-Desarrollar un Buyer Persona basado en más entrevistas y datos reales.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b="0" i="0" u="none" strike="noStrike" cap="none">
                <a:solidFill>
                  <a:schemeClr val="dk1"/>
                </a:solidFill>
                <a:latin typeface="Cabin"/>
                <a:ea typeface="Cabin"/>
                <a:cs typeface="Cabin"/>
                <a:sym typeface="Cabin"/>
              </a:rPr>
              <a:t>-Incorporar investigación de mercado y análisis de tendencias.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b="0" i="0" u="none" strike="noStrike" cap="none">
                <a:solidFill>
                  <a:schemeClr val="dk1"/>
                </a:solidFill>
                <a:latin typeface="Cabin"/>
                <a:ea typeface="Cabin"/>
                <a:cs typeface="Cabin"/>
                <a:sym typeface="Cabin"/>
              </a:rPr>
              <a:t>-Diseñar estrategias de marketing digital segmentadas.</a:t>
            </a:r>
            <a:endParaRPr sz="8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888888"/>
              </a:solidFill>
              <a:latin typeface="Cabin"/>
              <a:ea typeface="Cabin"/>
              <a:cs typeface="Cabin"/>
              <a:sym typeface="Cabin"/>
            </a:endParaRPr>
          </a:p>
          <a:p>
            <a:pPr marL="457200" marR="0" lvl="0" indent="0" algn="l" rtl="0">
              <a:lnSpc>
                <a:spcPct val="100000"/>
              </a:lnSpc>
              <a:spcBef>
                <a:spcPts val="0"/>
              </a:spcBef>
              <a:spcAft>
                <a:spcPts val="0"/>
              </a:spcAft>
              <a:buClr>
                <a:srgbClr val="000000"/>
              </a:buClr>
              <a:buSzPts val="900"/>
              <a:buFont typeface="Arial"/>
              <a:buNone/>
            </a:pPr>
            <a:endParaRPr sz="900" b="1" i="0" u="none" strike="noStrike" cap="none">
              <a:solidFill>
                <a:schemeClr val="dk1"/>
              </a:solidFill>
              <a:latin typeface="Cabin"/>
              <a:ea typeface="Cabin"/>
              <a:cs typeface="Cabin"/>
              <a:sym typeface="Cabi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6732cdb071_0_488"/>
          <p:cNvSpPr txBox="1">
            <a:spLocks noGrp="1"/>
          </p:cNvSpPr>
          <p:nvPr>
            <p:ph type="title"/>
          </p:nvPr>
        </p:nvSpPr>
        <p:spPr>
          <a:xfrm>
            <a:off x="389676" y="240575"/>
            <a:ext cx="8511000" cy="365100"/>
          </a:xfrm>
          <a:prstGeom prst="rect">
            <a:avLst/>
          </a:prstGeom>
          <a:noFill/>
          <a:ln>
            <a:noFill/>
          </a:ln>
        </p:spPr>
        <p:txBody>
          <a:bodyPr spcFirstLastPara="1" wrap="square" lIns="79775" tIns="39875" rIns="79775" bIns="39875" anchor="t" anchorCtr="0">
            <a:noAutofit/>
          </a:bodyPr>
          <a:lstStyle/>
          <a:p>
            <a:pPr marL="0" marR="0" lvl="0" indent="0" algn="l" rtl="0">
              <a:lnSpc>
                <a:spcPct val="90000"/>
              </a:lnSpc>
              <a:spcBef>
                <a:spcPts val="0"/>
              </a:spcBef>
              <a:spcAft>
                <a:spcPts val="0"/>
              </a:spcAft>
              <a:buClr>
                <a:srgbClr val="000000"/>
              </a:buClr>
              <a:buSzPts val="3800"/>
              <a:buFont typeface="Arial"/>
              <a:buNone/>
            </a:pPr>
            <a:r>
              <a:rPr lang="es-CL" sz="2100" b="1">
                <a:solidFill>
                  <a:schemeClr val="lt1"/>
                </a:solidFill>
                <a:highlight>
                  <a:srgbClr val="5C5DD4"/>
                </a:highlight>
                <a:latin typeface="Comfortaa"/>
                <a:ea typeface="Comfortaa"/>
                <a:cs typeface="Comfortaa"/>
                <a:sym typeface="Comfortaa"/>
              </a:rPr>
              <a:t>8. </a:t>
            </a:r>
            <a:r>
              <a:rPr lang="es-CL" sz="2100" b="1" i="0" u="none" strike="noStrike" cap="none">
                <a:solidFill>
                  <a:schemeClr val="lt1"/>
                </a:solidFill>
                <a:highlight>
                  <a:srgbClr val="5C5DD4"/>
                </a:highlight>
                <a:latin typeface="Comfortaa"/>
                <a:ea typeface="Comfortaa"/>
                <a:cs typeface="Comfortaa"/>
                <a:sym typeface="Comfortaa"/>
              </a:rPr>
              <a:t>ITERACIÓN DE LA PROPUESTA</a:t>
            </a:r>
            <a:endParaRPr sz="1200" b="1" i="0" u="none" strike="noStrike" cap="none">
              <a:solidFill>
                <a:srgbClr val="FF0000"/>
              </a:solidFill>
              <a:highlight>
                <a:srgbClr val="5C5DD4"/>
              </a:highlight>
              <a:latin typeface="Comfortaa"/>
              <a:ea typeface="Comfortaa"/>
              <a:cs typeface="Comfortaa"/>
              <a:sym typeface="Comfortaa"/>
            </a:endParaRPr>
          </a:p>
          <a:p>
            <a:pPr marL="0" marR="0" lvl="0" indent="0" algn="l" rtl="0">
              <a:lnSpc>
                <a:spcPct val="90000"/>
              </a:lnSpc>
              <a:spcBef>
                <a:spcPts val="0"/>
              </a:spcBef>
              <a:spcAft>
                <a:spcPts val="0"/>
              </a:spcAft>
              <a:buClr>
                <a:srgbClr val="000000"/>
              </a:buClr>
              <a:buSzPts val="3800"/>
              <a:buFont typeface="Arial"/>
              <a:buNone/>
            </a:pPr>
            <a:endParaRPr sz="2100" b="1" i="0" u="none" strike="noStrike" cap="none">
              <a:solidFill>
                <a:schemeClr val="lt1"/>
              </a:solidFill>
              <a:highlight>
                <a:srgbClr val="5C5DD4"/>
              </a:highlight>
              <a:latin typeface="Comfortaa"/>
              <a:ea typeface="Comfortaa"/>
              <a:cs typeface="Comfortaa"/>
              <a:sym typeface="Comfortaa"/>
            </a:endParaRPr>
          </a:p>
        </p:txBody>
      </p:sp>
      <p:sp>
        <p:nvSpPr>
          <p:cNvPr id="310" name="Google Shape;310;g36732cdb071_0_488"/>
          <p:cNvSpPr txBox="1"/>
          <p:nvPr/>
        </p:nvSpPr>
        <p:spPr>
          <a:xfrm>
            <a:off x="389275" y="591650"/>
            <a:ext cx="85584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a:latin typeface="Cabin"/>
                <a:ea typeface="Cabin"/>
                <a:cs typeface="Cabin"/>
                <a:sym typeface="Cabin"/>
              </a:rPr>
              <a:t>C</a:t>
            </a:r>
            <a:r>
              <a:rPr lang="es-CL" sz="1100" b="0" i="0" u="none" strike="noStrike" cap="none">
                <a:solidFill>
                  <a:srgbClr val="000000"/>
                </a:solidFill>
                <a:latin typeface="Cabin"/>
                <a:ea typeface="Cabin"/>
                <a:cs typeface="Cabin"/>
                <a:sym typeface="Cabin"/>
              </a:rPr>
              <a:t>ompara</a:t>
            </a:r>
            <a:r>
              <a:rPr lang="es-CL" sz="1100">
                <a:latin typeface="Cabin"/>
                <a:ea typeface="Cabin"/>
                <a:cs typeface="Cabin"/>
                <a:sym typeface="Cabin"/>
              </a:rPr>
              <a:t>ndo</a:t>
            </a:r>
            <a:r>
              <a:rPr lang="es-CL" sz="1100" b="0" i="0" u="none" strike="noStrike" cap="none">
                <a:solidFill>
                  <a:srgbClr val="000000"/>
                </a:solidFill>
                <a:latin typeface="Cabin"/>
                <a:ea typeface="Cabin"/>
                <a:cs typeface="Cabin"/>
                <a:sym typeface="Cabin"/>
              </a:rPr>
              <a:t> la propuesta inicial con </a:t>
            </a:r>
            <a:r>
              <a:rPr lang="es-CL" sz="1100">
                <a:latin typeface="Cabin"/>
                <a:ea typeface="Cabin"/>
                <a:cs typeface="Cabin"/>
                <a:sym typeface="Cabin"/>
              </a:rPr>
              <a:t>la</a:t>
            </a:r>
            <a:r>
              <a:rPr lang="es-CL" sz="1100" b="0" i="0" u="none" strike="noStrike" cap="none">
                <a:solidFill>
                  <a:srgbClr val="000000"/>
                </a:solidFill>
                <a:latin typeface="Cabin"/>
                <a:ea typeface="Cabin"/>
                <a:cs typeface="Cabin"/>
                <a:sym typeface="Cabin"/>
              </a:rPr>
              <a:t> versión iterada, evaluando funcionalidad, diseño, aplicabilidad y usabilidad. Esta actividad permite identificar mejoras clave y reflexionar sobre cómo evolucionó la solución tras el proceso de revisión y retroalimentación.</a:t>
            </a:r>
            <a:endParaRPr sz="1100" b="0" i="0" u="none" strike="noStrike" cap="none">
              <a:solidFill>
                <a:srgbClr val="000000"/>
              </a:solidFill>
              <a:latin typeface="Cabin"/>
              <a:ea typeface="Cabin"/>
              <a:cs typeface="Cabin"/>
              <a:sym typeface="Cabin"/>
            </a:endParaRPr>
          </a:p>
        </p:txBody>
      </p:sp>
      <p:sp>
        <p:nvSpPr>
          <p:cNvPr id="311" name="Google Shape;311;g36732cdb071_0_488"/>
          <p:cNvSpPr/>
          <p:nvPr/>
        </p:nvSpPr>
        <p:spPr>
          <a:xfrm>
            <a:off x="638725" y="1095975"/>
            <a:ext cx="3939300" cy="5507400"/>
          </a:xfrm>
          <a:prstGeom prst="rect">
            <a:avLst/>
          </a:prstGeom>
          <a:solidFill>
            <a:srgbClr val="E0E0E0"/>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latin typeface="Arial"/>
              <a:ea typeface="Arial"/>
              <a:cs typeface="Arial"/>
              <a:sym typeface="Arial"/>
            </a:endParaRPr>
          </a:p>
        </p:txBody>
      </p:sp>
      <p:sp>
        <p:nvSpPr>
          <p:cNvPr id="312" name="Google Shape;312;g36732cdb071_0_488"/>
          <p:cNvSpPr/>
          <p:nvPr/>
        </p:nvSpPr>
        <p:spPr>
          <a:xfrm>
            <a:off x="4898325" y="1095975"/>
            <a:ext cx="3939300" cy="5507400"/>
          </a:xfrm>
          <a:prstGeom prst="rect">
            <a:avLst/>
          </a:prstGeom>
          <a:solidFill>
            <a:srgbClr val="B9B9EA"/>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latin typeface="Arial"/>
              <a:ea typeface="Arial"/>
              <a:cs typeface="Arial"/>
              <a:sym typeface="Arial"/>
            </a:endParaRPr>
          </a:p>
        </p:txBody>
      </p:sp>
      <p:sp>
        <p:nvSpPr>
          <p:cNvPr id="313" name="Google Shape;313;g36732cdb071_0_488"/>
          <p:cNvSpPr txBox="1"/>
          <p:nvPr/>
        </p:nvSpPr>
        <p:spPr>
          <a:xfrm>
            <a:off x="4939725" y="1153725"/>
            <a:ext cx="3815400" cy="550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s-CL" sz="900" b="1" i="0" u="none" strike="noStrike" cap="none">
                <a:solidFill>
                  <a:srgbClr val="000000"/>
                </a:solidFill>
                <a:highlight>
                  <a:schemeClr val="lt1"/>
                </a:highlight>
                <a:latin typeface="Cabin"/>
                <a:ea typeface="Cabin"/>
                <a:cs typeface="Cabin"/>
                <a:sym typeface="Cabin"/>
              </a:rPr>
              <a:t>ITERACIÓN DE LA SOLUCIÓN (versión mejorada de la propuesta)</a:t>
            </a:r>
            <a:endParaRPr sz="900" b="1" i="0" u="none" strike="noStrike" cap="none">
              <a:solidFill>
                <a:srgbClr val="000000"/>
              </a:solidFill>
              <a:highlight>
                <a:schemeClr val="lt1"/>
              </a:highlight>
              <a:latin typeface="Cabin"/>
              <a:ea typeface="Cabin"/>
              <a:cs typeface="Cabin"/>
              <a:sym typeface="Cabin"/>
            </a:endParaRPr>
          </a:p>
          <a:p>
            <a:pPr marL="0" marR="0" lvl="0" indent="0" algn="l" rtl="0">
              <a:lnSpc>
                <a:spcPct val="100000"/>
              </a:lnSpc>
              <a:spcBef>
                <a:spcPts val="0"/>
              </a:spcBef>
              <a:spcAft>
                <a:spcPts val="0"/>
              </a:spcAft>
              <a:buClr>
                <a:srgbClr val="000000"/>
              </a:buClr>
              <a:buSzPts val="1000"/>
              <a:buFont typeface="Arial"/>
              <a:buNone/>
            </a:pPr>
            <a:endParaRPr sz="900" b="0" i="0" u="none" strike="noStrike" cap="none">
              <a:solidFill>
                <a:srgbClr val="000000"/>
              </a:solidFill>
              <a:highlight>
                <a:srgbClr val="B9B9EA"/>
              </a:highlight>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fortaleció la claridad de la función principal del proyecto (por ejemplo, si es una app, una web o ambas) y su utilidad para los usuarios de trekking?</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delimitó con mayor claridad el público objetivo, definiendo si el proyecto se dirige a principiantes, expertos, familias o turistas?</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logró definir qué hace diferente a nuestra propuesta frente a otras plataformas o servicios de trekking existentes?</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incorporaron nuevas funciones que mejoren la seguridad del usuario, como GPS en tiempo real, alertas de emergencia o rutas verificadas?</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mejoró la manera en que se comunica el valor de la propuesta?</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¿El modelo de monetización del proyecto (membresías, comisiones, publicidad, etc.) se definió claramente y resulta comprensible para los usuarios?</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basaron las decisiones del proyecto en la creación de perfiles de usuarios (Buyer Persona) más definidos?</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¿Las mejoras implementadas permiten una experiencia de usuario más intuitiva, fluida y funcional?</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¿Se incorporaron elementos que refuercen la sostenibilidad, el turismo responsable o el bienestar en la naturaleza?</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¿Las innovaciones y mejoras implementadas hacen que el proyecto sea más atractivo y competitivo frente a otras alternativas del mercado?</a:t>
            </a:r>
            <a:endParaRPr sz="1000" b="0" i="0" u="none" strike="noStrike" cap="none">
              <a:solidFill>
                <a:schemeClr val="dk1"/>
              </a:solidFill>
              <a:latin typeface="Cabin"/>
              <a:ea typeface="Cabin"/>
              <a:cs typeface="Cabin"/>
              <a:sym typeface="Cabin"/>
            </a:endParaRPr>
          </a:p>
          <a:p>
            <a:pPr marL="0" marR="0" lvl="0" indent="0" algn="l" rtl="0">
              <a:lnSpc>
                <a:spcPct val="100000"/>
              </a:lnSpc>
              <a:spcBef>
                <a:spcPts val="0"/>
              </a:spcBef>
              <a:spcAft>
                <a:spcPts val="0"/>
              </a:spcAft>
              <a:buNone/>
            </a:pPr>
            <a:endParaRPr sz="1000">
              <a:solidFill>
                <a:schemeClr val="dk1"/>
              </a:solidFill>
              <a:latin typeface="Cabin"/>
              <a:ea typeface="Cabin"/>
              <a:cs typeface="Cabin"/>
              <a:sym typeface="Cabin"/>
            </a:endParaRPr>
          </a:p>
          <a:p>
            <a:pPr marL="0" marR="0" lvl="0" indent="0" algn="l" rtl="0">
              <a:lnSpc>
                <a:spcPct val="100000"/>
              </a:lnSpc>
              <a:spcBef>
                <a:spcPts val="0"/>
              </a:spcBef>
              <a:spcAft>
                <a:spcPts val="0"/>
              </a:spcAft>
              <a:buNone/>
            </a:pPr>
            <a:endParaRPr sz="1000">
              <a:solidFill>
                <a:schemeClr val="dk1"/>
              </a:solidFill>
              <a:latin typeface="Cabin"/>
              <a:ea typeface="Cabin"/>
              <a:cs typeface="Cabin"/>
              <a:sym typeface="Cabin"/>
            </a:endParaRPr>
          </a:p>
          <a:p>
            <a:pPr marL="0" marR="0" lvl="0" indent="0" algn="ctr" rtl="0">
              <a:lnSpc>
                <a:spcPct val="100000"/>
              </a:lnSpc>
              <a:spcBef>
                <a:spcPts val="0"/>
              </a:spcBef>
              <a:spcAft>
                <a:spcPts val="0"/>
              </a:spcAft>
              <a:buNone/>
            </a:pPr>
            <a:r>
              <a:rPr lang="es-CL" sz="800">
                <a:solidFill>
                  <a:schemeClr val="dk1"/>
                </a:solidFill>
                <a:latin typeface="Cabin"/>
                <a:ea typeface="Cabin"/>
                <a:cs typeface="Cabin"/>
                <a:sym typeface="Cabin"/>
              </a:rPr>
              <a:t>(ESTAS PREGUNTAS NOS HICIMOS PARA MEJORAR EL PROYECTO Y SE REALIZARON A MEDIDA QUE AVANZAMOS)</a:t>
            </a:r>
            <a:endParaRPr sz="800">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Cabin"/>
              <a:ea typeface="Cabin"/>
              <a:cs typeface="Cabin"/>
              <a:sym typeface="Cabin"/>
            </a:endParaRPr>
          </a:p>
        </p:txBody>
      </p:sp>
      <p:sp>
        <p:nvSpPr>
          <p:cNvPr id="314" name="Google Shape;314;g36732cdb071_0_488"/>
          <p:cNvSpPr txBox="1"/>
          <p:nvPr/>
        </p:nvSpPr>
        <p:spPr>
          <a:xfrm>
            <a:off x="604950" y="1172275"/>
            <a:ext cx="3815400" cy="447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400"/>
              </a:spcBef>
              <a:spcAft>
                <a:spcPts val="0"/>
              </a:spcAft>
              <a:buClr>
                <a:srgbClr val="000000"/>
              </a:buClr>
              <a:buSzPts val="1000"/>
              <a:buFont typeface="Arial"/>
              <a:buNone/>
            </a:pPr>
            <a:r>
              <a:rPr lang="es-CL" sz="1000" b="0" i="0" u="none" strike="noStrike" cap="none">
                <a:solidFill>
                  <a:schemeClr val="dk1"/>
                </a:solidFill>
                <a:highlight>
                  <a:schemeClr val="lt1"/>
                </a:highlight>
                <a:latin typeface="Cabin"/>
                <a:ea typeface="Cabin"/>
                <a:cs typeface="Cabin"/>
                <a:sym typeface="Cabin"/>
              </a:rPr>
              <a:t>PRIMERA VERSIÓN DE LA SOLUCIÓN</a:t>
            </a:r>
            <a:endParaRPr sz="1000" b="0" i="0" u="none" strike="noStrike" cap="none">
              <a:solidFill>
                <a:schemeClr val="dk1"/>
              </a:solidFill>
              <a:highlight>
                <a:schemeClr val="lt1"/>
              </a:highlight>
              <a:latin typeface="Cabin"/>
              <a:ea typeface="Cabin"/>
              <a:cs typeface="Cabin"/>
              <a:sym typeface="Cabin"/>
            </a:endParaRPr>
          </a:p>
          <a:p>
            <a:pPr marL="0" marR="0" lvl="0" indent="0" algn="l" rtl="0">
              <a:lnSpc>
                <a:spcPct val="100000"/>
              </a:lnSpc>
              <a:spcBef>
                <a:spcPts val="1400"/>
              </a:spcBef>
              <a:spcAft>
                <a:spcPts val="0"/>
              </a:spcAft>
              <a:buClr>
                <a:srgbClr val="000000"/>
              </a:buClr>
              <a:buSzPts val="1100"/>
              <a:buFont typeface="Arial"/>
              <a:buNone/>
            </a:pPr>
            <a:r>
              <a:rPr lang="es-CL" sz="1100" b="0" i="0" u="none" strike="noStrike" cap="none">
                <a:solidFill>
                  <a:schemeClr val="dk1"/>
                </a:solidFill>
                <a:latin typeface="Cabin"/>
                <a:ea typeface="Cabin"/>
                <a:cs typeface="Cabin"/>
                <a:sym typeface="Cabin"/>
              </a:rPr>
              <a:t>FUNCIONALIDAD</a:t>
            </a:r>
            <a:endParaRPr sz="1100" b="0" i="0" u="none" strike="noStrike" cap="none">
              <a:solidFill>
                <a:schemeClr val="dk1"/>
              </a:solidFill>
              <a:latin typeface="Cabin"/>
              <a:ea typeface="Cabin"/>
              <a:cs typeface="Cabin"/>
              <a:sym typeface="Cabin"/>
            </a:endParaRPr>
          </a:p>
          <a:p>
            <a:pPr marL="457200" marR="0" lvl="0" indent="-292100" algn="l" rtl="0">
              <a:lnSpc>
                <a:spcPct val="100000"/>
              </a:lnSpc>
              <a:spcBef>
                <a:spcPts val="120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¿Es factible el proyecto de trekking? </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¿Qué debilidades encuentran en este proyecto?</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¿Si pudieras invertir en el proyecto que te convencería y que te preocupa?</a:t>
            </a:r>
            <a:endParaRPr sz="1000" b="0" i="0" u="none" strike="noStrike" cap="none">
              <a:solidFill>
                <a:schemeClr val="dk1"/>
              </a:solidFill>
              <a:latin typeface="Cabin"/>
              <a:ea typeface="Cabin"/>
              <a:cs typeface="Cabin"/>
              <a:sym typeface="Cabin"/>
            </a:endParaRPr>
          </a:p>
          <a:p>
            <a:pPr marL="0" marR="0" lvl="0" indent="0" algn="l" rtl="0">
              <a:lnSpc>
                <a:spcPct val="100000"/>
              </a:lnSpc>
              <a:spcBef>
                <a:spcPts val="1400"/>
              </a:spcBef>
              <a:spcAft>
                <a:spcPts val="0"/>
              </a:spcAft>
              <a:buClr>
                <a:srgbClr val="000000"/>
              </a:buClr>
              <a:buSzPts val="1100"/>
              <a:buFont typeface="Arial"/>
              <a:buNone/>
            </a:pPr>
            <a:r>
              <a:rPr lang="es-CL" sz="1100" b="0" i="0" u="none" strike="noStrike" cap="none">
                <a:solidFill>
                  <a:schemeClr val="dk1"/>
                </a:solidFill>
                <a:latin typeface="Cabin"/>
                <a:ea typeface="Cabin"/>
                <a:cs typeface="Cabin"/>
                <a:sym typeface="Cabin"/>
              </a:rPr>
              <a:t>APLICABILIDAD</a:t>
            </a:r>
            <a:endParaRPr sz="1100" b="0" i="0" u="none" strike="noStrike" cap="none">
              <a:solidFill>
                <a:schemeClr val="dk1"/>
              </a:solidFill>
              <a:latin typeface="Cabin"/>
              <a:ea typeface="Cabin"/>
              <a:cs typeface="Cabin"/>
              <a:sym typeface="Cabin"/>
            </a:endParaRPr>
          </a:p>
          <a:p>
            <a:pPr marL="457200" marR="0" lvl="0" indent="-292100" algn="l" rtl="0">
              <a:lnSpc>
                <a:spcPct val="100000"/>
              </a:lnSpc>
              <a:spcBef>
                <a:spcPts val="120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¿Qué puntos mejorarían del proyecto? </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¿Qué agregarían ustedes a nuestro proyecto?</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bin"/>
              <a:buChar char="●"/>
            </a:pPr>
            <a:r>
              <a:rPr lang="es-CL" sz="1000" b="0" i="0" u="none" strike="noStrike" cap="none">
                <a:solidFill>
                  <a:schemeClr val="dk1"/>
                </a:solidFill>
                <a:latin typeface="Cabin"/>
                <a:ea typeface="Cabin"/>
                <a:cs typeface="Cabin"/>
                <a:sym typeface="Cabin"/>
              </a:rPr>
              <a:t>¿Qué quitarían a nuestro proyecto?</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¿Recomendarías nuestra propuesta? </a:t>
            </a:r>
            <a:endParaRPr sz="1000" b="0" i="0" u="none" strike="noStrike" cap="none">
              <a:solidFill>
                <a:schemeClr val="dk1"/>
              </a:solidFill>
              <a:latin typeface="Cabin"/>
              <a:ea typeface="Cabin"/>
              <a:cs typeface="Cabin"/>
              <a:sym typeface="Cabin"/>
            </a:endParaRPr>
          </a:p>
          <a:p>
            <a:pPr marL="0" marR="0" lvl="0" indent="0" algn="l" rtl="0">
              <a:lnSpc>
                <a:spcPct val="100000"/>
              </a:lnSpc>
              <a:spcBef>
                <a:spcPts val="1400"/>
              </a:spcBef>
              <a:spcAft>
                <a:spcPts val="0"/>
              </a:spcAft>
              <a:buClr>
                <a:srgbClr val="000000"/>
              </a:buClr>
              <a:buSzPts val="1100"/>
              <a:buFont typeface="Arial"/>
              <a:buNone/>
            </a:pPr>
            <a:r>
              <a:rPr lang="es-CL" sz="1100" b="0" i="0" u="none" strike="noStrike" cap="none">
                <a:solidFill>
                  <a:schemeClr val="dk1"/>
                </a:solidFill>
                <a:latin typeface="Cabin"/>
                <a:ea typeface="Cabin"/>
                <a:cs typeface="Cabin"/>
                <a:sym typeface="Cabin"/>
              </a:rPr>
              <a:t>USABILIDAD</a:t>
            </a:r>
            <a:endParaRPr sz="1100" b="0" i="0" u="none" strike="noStrike" cap="none">
              <a:solidFill>
                <a:schemeClr val="dk1"/>
              </a:solidFill>
              <a:latin typeface="Cabin"/>
              <a:ea typeface="Cabin"/>
              <a:cs typeface="Cabin"/>
              <a:sym typeface="Cabin"/>
            </a:endParaRPr>
          </a:p>
          <a:p>
            <a:pPr marL="457200" marR="0" lvl="0" indent="-292100" algn="l" rtl="0">
              <a:lnSpc>
                <a:spcPct val="100000"/>
              </a:lnSpc>
              <a:spcBef>
                <a:spcPts val="120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¿Qué harían ustedes para que el marketing del proyecto llegue a más personas? </a:t>
            </a:r>
            <a:endParaRPr sz="1000" b="0" i="0" u="none" strike="noStrike" cap="none">
              <a:solidFill>
                <a:schemeClr val="dk1"/>
              </a:solidFill>
              <a:latin typeface="Cabin"/>
              <a:ea typeface="Cabin"/>
              <a:cs typeface="Cabin"/>
              <a:sym typeface="Cabin"/>
            </a:endParaRPr>
          </a:p>
          <a:p>
            <a:pPr marL="457200" marR="0" lvl="0" indent="-292100" algn="l" rtl="0">
              <a:lnSpc>
                <a:spcPct val="100000"/>
              </a:lnSpc>
              <a:spcBef>
                <a:spcPts val="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¿Cómo podríamos comunicar mejor el valor de nuestra propuesta? </a:t>
            </a:r>
            <a:endParaRPr sz="1000" b="0" i="0" u="none" strike="noStrike" cap="none">
              <a:solidFill>
                <a:schemeClr val="dk1"/>
              </a:solidFill>
              <a:latin typeface="Cabin"/>
              <a:ea typeface="Cabin"/>
              <a:cs typeface="Cabin"/>
              <a:sym typeface="Cabin"/>
            </a:endParaRPr>
          </a:p>
          <a:p>
            <a:pPr marL="0" marR="0" lvl="0" indent="0" algn="l" rtl="0">
              <a:lnSpc>
                <a:spcPct val="100000"/>
              </a:lnSpc>
              <a:spcBef>
                <a:spcPts val="1200"/>
              </a:spcBef>
              <a:spcAft>
                <a:spcPts val="0"/>
              </a:spcAft>
              <a:buClr>
                <a:srgbClr val="000000"/>
              </a:buClr>
              <a:buSzPts val="1100"/>
              <a:buFont typeface="Arial"/>
              <a:buNone/>
            </a:pPr>
            <a:r>
              <a:rPr lang="es-CL" sz="1100" b="0" i="0" u="none" strike="noStrike" cap="none">
                <a:solidFill>
                  <a:schemeClr val="dk1"/>
                </a:solidFill>
                <a:latin typeface="Cabin"/>
                <a:ea typeface="Cabin"/>
                <a:cs typeface="Cabin"/>
                <a:sym typeface="Cabin"/>
              </a:rPr>
              <a:t>OTROS ASPECTOS RELEVANTES</a:t>
            </a:r>
            <a:endParaRPr sz="1100" b="0" i="0" u="none" strike="noStrike" cap="none">
              <a:solidFill>
                <a:schemeClr val="dk1"/>
              </a:solidFill>
              <a:latin typeface="Cabin"/>
              <a:ea typeface="Cabin"/>
              <a:cs typeface="Cabin"/>
              <a:sym typeface="Cabin"/>
            </a:endParaRPr>
          </a:p>
          <a:p>
            <a:pPr marL="457200" marR="0" lvl="0" indent="-292100" algn="l" rtl="0">
              <a:lnSpc>
                <a:spcPct val="100000"/>
              </a:lnSpc>
              <a:spcBef>
                <a:spcPts val="1200"/>
              </a:spcBef>
              <a:spcAft>
                <a:spcPts val="0"/>
              </a:spcAft>
              <a:buClr>
                <a:schemeClr val="dk1"/>
              </a:buClr>
              <a:buSzPts val="1000"/>
              <a:buFont typeface="Calibri"/>
              <a:buChar char="●"/>
            </a:pPr>
            <a:r>
              <a:rPr lang="es-CL" sz="1000" b="0" i="0" u="none" strike="noStrike" cap="none">
                <a:solidFill>
                  <a:schemeClr val="dk1"/>
                </a:solidFill>
                <a:latin typeface="Cabin"/>
                <a:ea typeface="Cabin"/>
                <a:cs typeface="Cabin"/>
                <a:sym typeface="Cabin"/>
              </a:rPr>
              <a:t>¿Qué aspectos destacan de este proyecto y qué fortalezas pueden reconocer? </a:t>
            </a:r>
            <a:endParaRPr sz="1000" b="0" i="0" u="none" strike="noStrike" cap="none">
              <a:solidFill>
                <a:srgbClr val="000000"/>
              </a:solidFill>
              <a:latin typeface="Cabin"/>
              <a:ea typeface="Cabin"/>
              <a:cs typeface="Cabin"/>
              <a:sym typeface="Cabi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3f84fc51fa7_1_5"/>
          <p:cNvSpPr/>
          <p:nvPr/>
        </p:nvSpPr>
        <p:spPr>
          <a:xfrm>
            <a:off x="670925" y="1100300"/>
            <a:ext cx="8198700" cy="5716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g3f84fc51fa7_1_5"/>
          <p:cNvSpPr txBox="1"/>
          <p:nvPr/>
        </p:nvSpPr>
        <p:spPr>
          <a:xfrm>
            <a:off x="389275" y="591650"/>
            <a:ext cx="8806200" cy="419100"/>
          </a:xfrm>
          <a:prstGeom prst="rect">
            <a:avLst/>
          </a:prstGeom>
          <a:noFill/>
          <a:ln>
            <a:noFill/>
          </a:ln>
        </p:spPr>
        <p:txBody>
          <a:bodyPr spcFirstLastPara="1" wrap="square" lIns="79775" tIns="39875" rIns="79775" bIns="398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s-CL" sz="1100" b="0" i="0" u="none" strike="noStrike" cap="none">
                <a:solidFill>
                  <a:srgbClr val="000000"/>
                </a:solidFill>
                <a:latin typeface="Cabin"/>
                <a:ea typeface="Cabin"/>
                <a:cs typeface="Cabin"/>
                <a:sym typeface="Cabin"/>
              </a:rPr>
              <a:t>Completen de forma clara y coherente, enfocándose en la lógica general de su proyecto. Usen un lenguaje preciso, eviten repeticiones y asegúrense de que todas las secciones </a:t>
            </a:r>
            <a:r>
              <a:rPr lang="es-CL" sz="1100">
                <a:latin typeface="Cabin"/>
                <a:ea typeface="Cabin"/>
                <a:cs typeface="Cabin"/>
                <a:sym typeface="Cabin"/>
              </a:rPr>
              <a:t>están</a:t>
            </a:r>
            <a:r>
              <a:rPr lang="es-CL" sz="1100" b="0" i="0" u="none" strike="noStrike" cap="none">
                <a:solidFill>
                  <a:srgbClr val="000000"/>
                </a:solidFill>
                <a:latin typeface="Cabin"/>
                <a:ea typeface="Cabin"/>
                <a:cs typeface="Cabin"/>
                <a:sym typeface="Cabin"/>
              </a:rPr>
              <a:t> conectadas entre sí. El objetivo es representar su idea de forma simple, estratégica y comprensible.</a:t>
            </a:r>
            <a:endParaRPr sz="1100" b="0" i="0" u="none" strike="noStrike" cap="none">
              <a:solidFill>
                <a:srgbClr val="000000"/>
              </a:solidFill>
              <a:latin typeface="Cabin"/>
              <a:ea typeface="Cabin"/>
              <a:cs typeface="Cabin"/>
              <a:sym typeface="Cabin"/>
            </a:endParaRPr>
          </a:p>
        </p:txBody>
      </p:sp>
      <p:cxnSp>
        <p:nvCxnSpPr>
          <p:cNvPr id="322" name="Google Shape;322;g3f84fc51fa7_1_5"/>
          <p:cNvCxnSpPr/>
          <p:nvPr/>
        </p:nvCxnSpPr>
        <p:spPr>
          <a:xfrm>
            <a:off x="638725" y="5120582"/>
            <a:ext cx="8198700" cy="0"/>
          </a:xfrm>
          <a:prstGeom prst="straightConnector1">
            <a:avLst/>
          </a:prstGeom>
          <a:noFill/>
          <a:ln w="9525" cap="flat" cmpd="sng">
            <a:solidFill>
              <a:schemeClr val="dk2"/>
            </a:solidFill>
            <a:prstDash val="solid"/>
            <a:round/>
            <a:headEnd type="none" w="sm" len="sm"/>
            <a:tailEnd type="none" w="sm" len="sm"/>
          </a:ln>
        </p:spPr>
      </p:cxnSp>
      <p:sp>
        <p:nvSpPr>
          <p:cNvPr id="323" name="Google Shape;323;g3f84fc51fa7_1_5"/>
          <p:cNvSpPr txBox="1"/>
          <p:nvPr/>
        </p:nvSpPr>
        <p:spPr>
          <a:xfrm>
            <a:off x="3998588" y="1375863"/>
            <a:ext cx="1659600" cy="281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-La única app que combina búsqueda de compañeros de trekking, rutas locales y seguridad en tiempo real</a:t>
            </a:r>
            <a:endParaRPr sz="9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-Eventos privados con código de invitación: trekking seguro con personas que tú eliges o donde quieras publicarlo.</a:t>
            </a:r>
            <a:endParaRPr sz="9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-Foro interno por evento para coordinación sin depender de grupos de WhatsApp</a:t>
            </a:r>
            <a:endParaRPr sz="9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-Botón SOS con GPS integrado: entregando tranquilidad y seguridad ante emergencias para el usuario y sus contactos</a:t>
            </a:r>
            <a:endParaRPr sz="9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-Manual de supervivencia, kits de emergencia y consejos dentro de la app</a:t>
            </a:r>
            <a:endParaRPr sz="9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900" i="1">
                <a:solidFill>
                  <a:schemeClr val="dk1"/>
                </a:solidFill>
                <a:latin typeface="Cabin"/>
                <a:ea typeface="Cabin"/>
                <a:cs typeface="Cabin"/>
                <a:sym typeface="Cabin"/>
              </a:rPr>
              <a:t>-Todo en un solo lugar</a:t>
            </a:r>
            <a:endParaRPr sz="900" i="1">
              <a:solidFill>
                <a:schemeClr val="dk1"/>
              </a:solidFill>
              <a:latin typeface="Cabin"/>
              <a:ea typeface="Cabin"/>
              <a:cs typeface="Cabin"/>
              <a:sym typeface="Cabin"/>
            </a:endParaRPr>
          </a:p>
        </p:txBody>
      </p:sp>
      <p:cxnSp>
        <p:nvCxnSpPr>
          <p:cNvPr id="324" name="Google Shape;324;g3f84fc51fa7_1_5"/>
          <p:cNvCxnSpPr/>
          <p:nvPr/>
        </p:nvCxnSpPr>
        <p:spPr>
          <a:xfrm rot="10800000">
            <a:off x="7205971" y="1096124"/>
            <a:ext cx="0" cy="4023900"/>
          </a:xfrm>
          <a:prstGeom prst="straightConnector1">
            <a:avLst/>
          </a:prstGeom>
          <a:noFill/>
          <a:ln w="9525" cap="flat" cmpd="sng">
            <a:solidFill>
              <a:schemeClr val="dk2"/>
            </a:solidFill>
            <a:prstDash val="solid"/>
            <a:round/>
            <a:headEnd type="none" w="sm" len="sm"/>
            <a:tailEnd type="none" w="sm" len="sm"/>
          </a:ln>
        </p:spPr>
      </p:cxnSp>
      <p:cxnSp>
        <p:nvCxnSpPr>
          <p:cNvPr id="325" name="Google Shape;325;g3f84fc51fa7_1_5"/>
          <p:cNvCxnSpPr/>
          <p:nvPr/>
        </p:nvCxnSpPr>
        <p:spPr>
          <a:xfrm rot="10800000">
            <a:off x="3956351" y="1100289"/>
            <a:ext cx="0" cy="4023900"/>
          </a:xfrm>
          <a:prstGeom prst="straightConnector1">
            <a:avLst/>
          </a:prstGeom>
          <a:noFill/>
          <a:ln w="9525" cap="flat" cmpd="sng">
            <a:solidFill>
              <a:schemeClr val="dk2"/>
            </a:solidFill>
            <a:prstDash val="solid"/>
            <a:round/>
            <a:headEnd type="none" w="sm" len="sm"/>
            <a:tailEnd type="none" w="sm" len="sm"/>
          </a:ln>
        </p:spPr>
      </p:cxnSp>
      <p:cxnSp>
        <p:nvCxnSpPr>
          <p:cNvPr id="326" name="Google Shape;326;g3f84fc51fa7_1_5"/>
          <p:cNvCxnSpPr/>
          <p:nvPr/>
        </p:nvCxnSpPr>
        <p:spPr>
          <a:xfrm rot="10800000">
            <a:off x="5615119" y="1100289"/>
            <a:ext cx="0" cy="4023900"/>
          </a:xfrm>
          <a:prstGeom prst="straightConnector1">
            <a:avLst/>
          </a:prstGeom>
          <a:noFill/>
          <a:ln w="9525" cap="flat" cmpd="sng">
            <a:solidFill>
              <a:schemeClr val="dk2"/>
            </a:solidFill>
            <a:prstDash val="solid"/>
            <a:round/>
            <a:headEnd type="none" w="sm" len="sm"/>
            <a:tailEnd type="none" w="sm" len="sm"/>
          </a:ln>
        </p:spPr>
      </p:cxnSp>
      <p:cxnSp>
        <p:nvCxnSpPr>
          <p:cNvPr id="327" name="Google Shape;327;g3f84fc51fa7_1_5"/>
          <p:cNvCxnSpPr/>
          <p:nvPr/>
        </p:nvCxnSpPr>
        <p:spPr>
          <a:xfrm rot="10800000">
            <a:off x="2297584" y="1100289"/>
            <a:ext cx="0" cy="4023900"/>
          </a:xfrm>
          <a:prstGeom prst="straightConnector1">
            <a:avLst/>
          </a:prstGeom>
          <a:noFill/>
          <a:ln w="9525" cap="flat" cmpd="sng">
            <a:solidFill>
              <a:schemeClr val="dk2"/>
            </a:solidFill>
            <a:prstDash val="solid"/>
            <a:round/>
            <a:headEnd type="none" w="sm" len="sm"/>
            <a:tailEnd type="none" w="sm" len="sm"/>
          </a:ln>
        </p:spPr>
      </p:cxnSp>
      <p:cxnSp>
        <p:nvCxnSpPr>
          <p:cNvPr id="328" name="Google Shape;328;g3f84fc51fa7_1_5"/>
          <p:cNvCxnSpPr/>
          <p:nvPr/>
        </p:nvCxnSpPr>
        <p:spPr>
          <a:xfrm>
            <a:off x="2297576" y="3112165"/>
            <a:ext cx="1659600" cy="10200"/>
          </a:xfrm>
          <a:prstGeom prst="straightConnector1">
            <a:avLst/>
          </a:prstGeom>
          <a:noFill/>
          <a:ln w="9525" cap="flat" cmpd="sng">
            <a:solidFill>
              <a:schemeClr val="dk2"/>
            </a:solidFill>
            <a:prstDash val="solid"/>
            <a:round/>
            <a:headEnd type="none" w="sm" len="sm"/>
            <a:tailEnd type="none" w="sm" len="sm"/>
          </a:ln>
        </p:spPr>
      </p:cxnSp>
      <p:cxnSp>
        <p:nvCxnSpPr>
          <p:cNvPr id="329" name="Google Shape;329;g3f84fc51fa7_1_5"/>
          <p:cNvCxnSpPr/>
          <p:nvPr/>
        </p:nvCxnSpPr>
        <p:spPr>
          <a:xfrm>
            <a:off x="5615111" y="3105335"/>
            <a:ext cx="1590900" cy="5400"/>
          </a:xfrm>
          <a:prstGeom prst="straightConnector1">
            <a:avLst/>
          </a:prstGeom>
          <a:noFill/>
          <a:ln w="9525" cap="flat" cmpd="sng">
            <a:solidFill>
              <a:schemeClr val="dk2"/>
            </a:solidFill>
            <a:prstDash val="solid"/>
            <a:round/>
            <a:headEnd type="none" w="sm" len="sm"/>
            <a:tailEnd type="none" w="sm" len="sm"/>
          </a:ln>
        </p:spPr>
      </p:cxnSp>
      <p:cxnSp>
        <p:nvCxnSpPr>
          <p:cNvPr id="330" name="Google Shape;330;g3f84fc51fa7_1_5"/>
          <p:cNvCxnSpPr/>
          <p:nvPr/>
        </p:nvCxnSpPr>
        <p:spPr>
          <a:xfrm rot="10800000" flipH="1">
            <a:off x="4760163" y="5120575"/>
            <a:ext cx="7800" cy="1708200"/>
          </a:xfrm>
          <a:prstGeom prst="straightConnector1">
            <a:avLst/>
          </a:prstGeom>
          <a:noFill/>
          <a:ln w="9525" cap="flat" cmpd="sng">
            <a:solidFill>
              <a:schemeClr val="dk2"/>
            </a:solidFill>
            <a:prstDash val="solid"/>
            <a:round/>
            <a:headEnd type="none" w="sm" len="sm"/>
            <a:tailEnd type="none" w="sm" len="sm"/>
          </a:ln>
        </p:spPr>
      </p:cxnSp>
      <p:sp>
        <p:nvSpPr>
          <p:cNvPr id="331" name="Google Shape;331;g3f84fc51fa7_1_5"/>
          <p:cNvSpPr txBox="1"/>
          <p:nvPr/>
        </p:nvSpPr>
        <p:spPr>
          <a:xfrm>
            <a:off x="5700462" y="1091120"/>
            <a:ext cx="14202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VENTAJA INJUSTA</a:t>
            </a:r>
            <a:endParaRPr sz="1000" b="1" i="0" u="none" strike="noStrike" cap="none">
              <a:solidFill>
                <a:srgbClr val="000000"/>
              </a:solidFill>
              <a:highlight>
                <a:srgbClr val="B9B9EA"/>
              </a:highlight>
              <a:latin typeface="Cabin"/>
              <a:ea typeface="Cabin"/>
              <a:cs typeface="Cabin"/>
              <a:sym typeface="Cabin"/>
            </a:endParaRPr>
          </a:p>
        </p:txBody>
      </p:sp>
      <p:sp>
        <p:nvSpPr>
          <p:cNvPr id="332" name="Google Shape;332;g3f84fc51fa7_1_5"/>
          <p:cNvSpPr txBox="1"/>
          <p:nvPr/>
        </p:nvSpPr>
        <p:spPr>
          <a:xfrm>
            <a:off x="5815123" y="5142600"/>
            <a:ext cx="20325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MECANISMOS DE INGRESOS</a:t>
            </a:r>
            <a:endParaRPr sz="1000" b="1" i="0" u="none" strike="noStrike" cap="none">
              <a:solidFill>
                <a:srgbClr val="000000"/>
              </a:solidFill>
              <a:highlight>
                <a:srgbClr val="B9B9EA"/>
              </a:highlight>
              <a:latin typeface="Cabin"/>
              <a:ea typeface="Cabin"/>
              <a:cs typeface="Cabin"/>
              <a:sym typeface="Cabin"/>
            </a:endParaRPr>
          </a:p>
        </p:txBody>
      </p:sp>
      <p:sp>
        <p:nvSpPr>
          <p:cNvPr id="333" name="Google Shape;333;g3f84fc51fa7_1_5"/>
          <p:cNvSpPr txBox="1"/>
          <p:nvPr/>
        </p:nvSpPr>
        <p:spPr>
          <a:xfrm>
            <a:off x="2071277" y="5142600"/>
            <a:ext cx="12048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ESTRUCTURA SIMPLE DE COSTOS</a:t>
            </a:r>
            <a:endParaRPr sz="1000" b="1" i="0" u="none" strike="noStrike" cap="none">
              <a:solidFill>
                <a:srgbClr val="000000"/>
              </a:solidFill>
              <a:highlight>
                <a:srgbClr val="B9B9EA"/>
              </a:highlight>
              <a:latin typeface="Cabin"/>
              <a:ea typeface="Cabin"/>
              <a:cs typeface="Cabin"/>
              <a:sym typeface="Cabin"/>
            </a:endParaRPr>
          </a:p>
        </p:txBody>
      </p:sp>
      <p:sp>
        <p:nvSpPr>
          <p:cNvPr id="334" name="Google Shape;334;g3f84fc51fa7_1_5"/>
          <p:cNvSpPr txBox="1"/>
          <p:nvPr/>
        </p:nvSpPr>
        <p:spPr>
          <a:xfrm>
            <a:off x="2464575" y="3065663"/>
            <a:ext cx="13494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MÉTRICAS CLAVE</a:t>
            </a:r>
            <a:endParaRPr sz="1000" b="1" i="0" u="none" strike="noStrike" cap="none">
              <a:solidFill>
                <a:srgbClr val="000000"/>
              </a:solidFill>
              <a:highlight>
                <a:srgbClr val="B9B9EA"/>
              </a:highlight>
              <a:latin typeface="Cabin"/>
              <a:ea typeface="Cabin"/>
              <a:cs typeface="Cabin"/>
              <a:sym typeface="Cabin"/>
            </a:endParaRPr>
          </a:p>
        </p:txBody>
      </p:sp>
      <p:sp>
        <p:nvSpPr>
          <p:cNvPr id="335" name="Google Shape;335;g3f84fc51fa7_1_5"/>
          <p:cNvSpPr txBox="1"/>
          <p:nvPr/>
        </p:nvSpPr>
        <p:spPr>
          <a:xfrm>
            <a:off x="3897837" y="1091113"/>
            <a:ext cx="17325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800" b="1" i="0" u="none" strike="noStrike" cap="none">
                <a:solidFill>
                  <a:srgbClr val="000000"/>
                </a:solidFill>
                <a:highlight>
                  <a:srgbClr val="B9B9EA"/>
                </a:highlight>
                <a:latin typeface="Cabin"/>
                <a:ea typeface="Cabin"/>
                <a:cs typeface="Cabin"/>
                <a:sym typeface="Cabin"/>
              </a:rPr>
              <a:t>PROPUESTA ÚNICA DE VALOR</a:t>
            </a:r>
            <a:endParaRPr sz="800" b="1" i="0" u="none" strike="noStrike" cap="none">
              <a:solidFill>
                <a:srgbClr val="000000"/>
              </a:solidFill>
              <a:highlight>
                <a:srgbClr val="B9B9EA"/>
              </a:highlight>
              <a:latin typeface="Cabin"/>
              <a:ea typeface="Cabin"/>
              <a:cs typeface="Cabin"/>
              <a:sym typeface="Cabin"/>
            </a:endParaRPr>
          </a:p>
        </p:txBody>
      </p:sp>
      <p:sp>
        <p:nvSpPr>
          <p:cNvPr id="336" name="Google Shape;336;g3f84fc51fa7_1_5"/>
          <p:cNvSpPr txBox="1"/>
          <p:nvPr/>
        </p:nvSpPr>
        <p:spPr>
          <a:xfrm>
            <a:off x="961557" y="1093145"/>
            <a:ext cx="9942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PROBLEMAS</a:t>
            </a:r>
            <a:endParaRPr sz="1000" b="1" i="0" u="none" strike="noStrike" cap="none">
              <a:solidFill>
                <a:srgbClr val="000000"/>
              </a:solidFill>
              <a:highlight>
                <a:srgbClr val="B9B9EA"/>
              </a:highlight>
              <a:latin typeface="Cabin"/>
              <a:ea typeface="Cabin"/>
              <a:cs typeface="Cabin"/>
              <a:sym typeface="Cabin"/>
            </a:endParaRPr>
          </a:p>
        </p:txBody>
      </p:sp>
      <p:sp>
        <p:nvSpPr>
          <p:cNvPr id="337" name="Google Shape;337;g3f84fc51fa7_1_5"/>
          <p:cNvSpPr txBox="1"/>
          <p:nvPr/>
        </p:nvSpPr>
        <p:spPr>
          <a:xfrm>
            <a:off x="2611267" y="1091133"/>
            <a:ext cx="10560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SOLUCIÓN</a:t>
            </a:r>
            <a:endParaRPr sz="1000" b="1" i="0" u="none" strike="noStrike" cap="none">
              <a:solidFill>
                <a:srgbClr val="000000"/>
              </a:solidFill>
              <a:highlight>
                <a:srgbClr val="B9B9EA"/>
              </a:highlight>
              <a:latin typeface="Cabin"/>
              <a:ea typeface="Cabin"/>
              <a:cs typeface="Cabin"/>
              <a:sym typeface="Cabin"/>
            </a:endParaRPr>
          </a:p>
        </p:txBody>
      </p:sp>
      <p:sp>
        <p:nvSpPr>
          <p:cNvPr id="338" name="Google Shape;338;g3f84fc51fa7_1_5"/>
          <p:cNvSpPr txBox="1"/>
          <p:nvPr/>
        </p:nvSpPr>
        <p:spPr>
          <a:xfrm>
            <a:off x="5615125" y="3054225"/>
            <a:ext cx="1590900" cy="2505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CANALES DE DIFUSIÓN</a:t>
            </a:r>
            <a:endParaRPr sz="1000" b="1" i="0" u="none" strike="noStrike" cap="none">
              <a:solidFill>
                <a:srgbClr val="000000"/>
              </a:solidFill>
              <a:highlight>
                <a:srgbClr val="B9B9EA"/>
              </a:highlight>
              <a:latin typeface="Cabin"/>
              <a:ea typeface="Cabin"/>
              <a:cs typeface="Cabin"/>
              <a:sym typeface="Cabin"/>
            </a:endParaRPr>
          </a:p>
        </p:txBody>
      </p:sp>
      <p:sp>
        <p:nvSpPr>
          <p:cNvPr id="339" name="Google Shape;339;g3f84fc51fa7_1_5"/>
          <p:cNvSpPr txBox="1"/>
          <p:nvPr/>
        </p:nvSpPr>
        <p:spPr>
          <a:xfrm>
            <a:off x="800600" y="3556525"/>
            <a:ext cx="1383600" cy="5034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a:highlight>
                  <a:srgbClr val="B9B9EA"/>
                </a:highlight>
                <a:latin typeface="Cabin"/>
                <a:ea typeface="Cabin"/>
                <a:cs typeface="Cabin"/>
                <a:sym typeface="Cabin"/>
              </a:rPr>
              <a:t>4</a:t>
            </a:r>
            <a:r>
              <a:rPr lang="es-CL" sz="1000" b="1" i="0" u="none" strike="noStrike" cap="none">
                <a:solidFill>
                  <a:srgbClr val="000000"/>
                </a:solidFill>
                <a:highlight>
                  <a:srgbClr val="B9B9EA"/>
                </a:highlight>
                <a:latin typeface="Cabin"/>
                <a:ea typeface="Cabin"/>
                <a:cs typeface="Cabin"/>
                <a:sym typeface="Cabin"/>
              </a:rPr>
              <a:t> PRINCIPALES COMPETIDORES O ALTERNATIVAS</a:t>
            </a:r>
            <a:endParaRPr sz="1000" b="1" i="0" u="none" strike="noStrike" cap="none">
              <a:solidFill>
                <a:srgbClr val="000000"/>
              </a:solidFill>
              <a:highlight>
                <a:srgbClr val="B9B9EA"/>
              </a:highlight>
              <a:latin typeface="Cabin"/>
              <a:ea typeface="Cabin"/>
              <a:cs typeface="Cabin"/>
              <a:sym typeface="Cabin"/>
            </a:endParaRPr>
          </a:p>
        </p:txBody>
      </p:sp>
      <p:cxnSp>
        <p:nvCxnSpPr>
          <p:cNvPr id="340" name="Google Shape;340;g3f84fc51fa7_1_5"/>
          <p:cNvCxnSpPr/>
          <p:nvPr/>
        </p:nvCxnSpPr>
        <p:spPr>
          <a:xfrm>
            <a:off x="743675" y="3406500"/>
            <a:ext cx="1501800" cy="0"/>
          </a:xfrm>
          <a:prstGeom prst="straightConnector1">
            <a:avLst/>
          </a:prstGeom>
          <a:noFill/>
          <a:ln w="9525" cap="flat" cmpd="sng">
            <a:solidFill>
              <a:schemeClr val="dk2"/>
            </a:solidFill>
            <a:prstDash val="dot"/>
            <a:round/>
            <a:headEnd type="none" w="sm" len="sm"/>
            <a:tailEnd type="none" w="sm" len="sm"/>
          </a:ln>
        </p:spPr>
      </p:cxnSp>
      <p:sp>
        <p:nvSpPr>
          <p:cNvPr id="341" name="Google Shape;341;g3f84fc51fa7_1_5"/>
          <p:cNvSpPr txBox="1"/>
          <p:nvPr/>
        </p:nvSpPr>
        <p:spPr>
          <a:xfrm>
            <a:off x="7489926" y="1263800"/>
            <a:ext cx="994200" cy="285900"/>
          </a:xfrm>
          <a:prstGeom prst="rect">
            <a:avLst/>
          </a:prstGeom>
          <a:no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CL" sz="1000" b="1" i="0" u="none" strike="noStrike" cap="none">
                <a:solidFill>
                  <a:srgbClr val="000000"/>
                </a:solidFill>
                <a:highlight>
                  <a:srgbClr val="B9B9EA"/>
                </a:highlight>
                <a:latin typeface="Cabin"/>
                <a:ea typeface="Cabin"/>
                <a:cs typeface="Cabin"/>
                <a:sym typeface="Cabin"/>
              </a:rPr>
              <a:t>ADOPTANTE TEMPRANO</a:t>
            </a:r>
            <a:endParaRPr sz="1000" b="1" i="0" u="none" strike="noStrike" cap="none">
              <a:solidFill>
                <a:srgbClr val="000000"/>
              </a:solidFill>
              <a:highlight>
                <a:srgbClr val="B9B9EA"/>
              </a:highlight>
              <a:latin typeface="Cabin"/>
              <a:ea typeface="Cabin"/>
              <a:cs typeface="Cabin"/>
              <a:sym typeface="Cabin"/>
            </a:endParaRPr>
          </a:p>
        </p:txBody>
      </p:sp>
      <p:sp>
        <p:nvSpPr>
          <p:cNvPr id="342" name="Google Shape;342;g3f84fc51fa7_1_5"/>
          <p:cNvSpPr txBox="1"/>
          <p:nvPr/>
        </p:nvSpPr>
        <p:spPr>
          <a:xfrm>
            <a:off x="662590" y="1327263"/>
            <a:ext cx="1659600" cy="203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-Personas que quieren hacer trekking no encuentran compañeros de aventura confiables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-Las rutas de trekking en Santiago están dispersas en múltiples plataformas sin centralización de su información.</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-No existe información técnica unificada (altitud, dificultad, equipamiento o consejos) de los senderos locales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-Falta de herramientas de seguridad accesibles durante la actividad (SOS, GPS, contactos de emergencia)</a:t>
            </a:r>
            <a:endParaRPr sz="800" i="1">
              <a:solidFill>
                <a:schemeClr val="dk1"/>
              </a:solidFill>
              <a:latin typeface="Cabin"/>
              <a:ea typeface="Cabin"/>
              <a:cs typeface="Cabin"/>
              <a:sym typeface="Cabin"/>
            </a:endParaRPr>
          </a:p>
        </p:txBody>
      </p:sp>
      <p:sp>
        <p:nvSpPr>
          <p:cNvPr id="343" name="Google Shape;343;g3f84fc51fa7_1_5"/>
          <p:cNvSpPr txBox="1"/>
          <p:nvPr/>
        </p:nvSpPr>
        <p:spPr>
          <a:xfrm>
            <a:off x="5615125" y="3339400"/>
            <a:ext cx="1590900" cy="178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-Instagram y TikTok: contenido de rutas y experiencias de trekking en Santiago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-Comunidades de Reddit Chile y grupos de Facebook de senderismo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-Código de invitación viral: cada usuario comparte su evento y atrae nuevos usuarios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-Alianzas con tiendas outdoor (Lippi, Doite, Andesgear)</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-App Store y Google Play con ASO optimizado para "trekking Santiago"</a:t>
            </a:r>
            <a:endParaRPr sz="800" i="1">
              <a:solidFill>
                <a:schemeClr val="dk1"/>
              </a:solidFill>
              <a:latin typeface="Cabin"/>
              <a:ea typeface="Cabin"/>
              <a:cs typeface="Cabin"/>
              <a:sym typeface="Cabin"/>
            </a:endParaRPr>
          </a:p>
        </p:txBody>
      </p:sp>
      <p:sp>
        <p:nvSpPr>
          <p:cNvPr id="344" name="Google Shape;344;g3f84fc51fa7_1_5"/>
          <p:cNvSpPr txBox="1"/>
          <p:nvPr/>
        </p:nvSpPr>
        <p:spPr>
          <a:xfrm>
            <a:off x="7157225" y="1654475"/>
            <a:ext cx="1659600" cy="2539800"/>
          </a:xfrm>
          <a:prstGeom prst="rect">
            <a:avLst/>
          </a:prstGeom>
          <a:noFill/>
          <a:ln>
            <a:noFill/>
          </a:ln>
        </p:spPr>
        <p:txBody>
          <a:bodyPr spcFirstLastPara="1" wrap="square" lIns="91425" tIns="91425" rIns="91425" bIns="91425" anchor="t" anchorCtr="0">
            <a:spAutoFit/>
          </a:bodyPr>
          <a:lstStyle/>
          <a:p>
            <a:pPr marL="180000" marR="0" lvl="0" indent="-142875" algn="l" rtl="0">
              <a:lnSpc>
                <a:spcPct val="100000"/>
              </a:lnSpc>
              <a:spcBef>
                <a:spcPts val="0"/>
              </a:spcBef>
              <a:spcAft>
                <a:spcPts val="0"/>
              </a:spcAft>
              <a:buClr>
                <a:schemeClr val="dk1"/>
              </a:buClr>
              <a:buSzPts val="900"/>
              <a:buFont typeface="Cabin"/>
              <a:buChar char="●"/>
            </a:pPr>
            <a:r>
              <a:rPr lang="es-CL" sz="900" i="1">
                <a:solidFill>
                  <a:schemeClr val="dk1"/>
                </a:solidFill>
                <a:latin typeface="Cabin"/>
                <a:ea typeface="Cabin"/>
                <a:cs typeface="Cabin"/>
                <a:sym typeface="Cabin"/>
              </a:rPr>
              <a:t>Personas &gt;= 18 años que practican o quieren iniciar el trekking en la RM</a:t>
            </a:r>
            <a:endParaRPr sz="900" i="1">
              <a:solidFill>
                <a:schemeClr val="dk1"/>
              </a:solidFill>
              <a:latin typeface="Cabin"/>
              <a:ea typeface="Cabin"/>
              <a:cs typeface="Cabin"/>
              <a:sym typeface="Cabin"/>
            </a:endParaRPr>
          </a:p>
          <a:p>
            <a:pPr marL="180000" marR="0" lvl="0" indent="-142875" algn="l" rtl="0">
              <a:lnSpc>
                <a:spcPct val="100000"/>
              </a:lnSpc>
              <a:spcBef>
                <a:spcPts val="0"/>
              </a:spcBef>
              <a:spcAft>
                <a:spcPts val="0"/>
              </a:spcAft>
              <a:buClr>
                <a:schemeClr val="dk1"/>
              </a:buClr>
              <a:buSzPts val="900"/>
              <a:buFont typeface="Cabin"/>
              <a:buChar char="●"/>
            </a:pPr>
            <a:r>
              <a:rPr lang="es-CL" sz="900" i="1">
                <a:solidFill>
                  <a:schemeClr val="dk1"/>
                </a:solidFill>
                <a:latin typeface="Cabin"/>
                <a:ea typeface="Cabin"/>
                <a:cs typeface="Cabin"/>
                <a:sym typeface="Cabin"/>
              </a:rPr>
              <a:t>Sin red social específica para esta actividad</a:t>
            </a:r>
            <a:endParaRPr sz="900" i="1">
              <a:solidFill>
                <a:schemeClr val="dk1"/>
              </a:solidFill>
              <a:latin typeface="Cabin"/>
              <a:ea typeface="Cabin"/>
              <a:cs typeface="Cabin"/>
              <a:sym typeface="Cabin"/>
            </a:endParaRPr>
          </a:p>
          <a:p>
            <a:pPr marL="180000" marR="0" lvl="0" indent="-142875" algn="l" rtl="0">
              <a:lnSpc>
                <a:spcPct val="100000"/>
              </a:lnSpc>
              <a:spcBef>
                <a:spcPts val="0"/>
              </a:spcBef>
              <a:spcAft>
                <a:spcPts val="0"/>
              </a:spcAft>
              <a:buClr>
                <a:schemeClr val="dk1"/>
              </a:buClr>
              <a:buSzPts val="900"/>
              <a:buFont typeface="Cabin"/>
              <a:buChar char="●"/>
            </a:pPr>
            <a:r>
              <a:rPr lang="es-CL" sz="900" i="1">
                <a:solidFill>
                  <a:schemeClr val="dk1"/>
                </a:solidFill>
                <a:latin typeface="Cabin"/>
                <a:ea typeface="Cabin"/>
                <a:cs typeface="Cabin"/>
                <a:sym typeface="Cabin"/>
              </a:rPr>
              <a:t>Valoran la seguridad y la información técnica antes de salir</a:t>
            </a:r>
            <a:endParaRPr sz="900" i="1">
              <a:solidFill>
                <a:schemeClr val="dk1"/>
              </a:solidFill>
              <a:latin typeface="Cabin"/>
              <a:ea typeface="Cabin"/>
              <a:cs typeface="Cabin"/>
              <a:sym typeface="Cabin"/>
            </a:endParaRPr>
          </a:p>
          <a:p>
            <a:pPr marL="180000" marR="0" lvl="0" indent="-142875" algn="l" rtl="0">
              <a:lnSpc>
                <a:spcPct val="100000"/>
              </a:lnSpc>
              <a:spcBef>
                <a:spcPts val="0"/>
              </a:spcBef>
              <a:spcAft>
                <a:spcPts val="0"/>
              </a:spcAft>
              <a:buClr>
                <a:schemeClr val="dk1"/>
              </a:buClr>
              <a:buSzPts val="900"/>
              <a:buFont typeface="Cabin"/>
              <a:buChar char="●"/>
            </a:pPr>
            <a:r>
              <a:rPr lang="es-CL" sz="900" i="1">
                <a:solidFill>
                  <a:schemeClr val="dk1"/>
                </a:solidFill>
                <a:latin typeface="Cabin"/>
                <a:ea typeface="Cabin"/>
                <a:cs typeface="Cabin"/>
                <a:sym typeface="Cabin"/>
              </a:rPr>
              <a:t>Usan smartphone a diario y están familiarizados con apps sociales y de comunidad</a:t>
            </a:r>
            <a:endParaRPr sz="900" i="1">
              <a:solidFill>
                <a:schemeClr val="dk1"/>
              </a:solidFill>
              <a:latin typeface="Cabin"/>
              <a:ea typeface="Cabin"/>
              <a:cs typeface="Cabin"/>
              <a:sym typeface="Cabin"/>
            </a:endParaRPr>
          </a:p>
          <a:p>
            <a:pPr marL="180000" marR="0" lvl="0" indent="-142875" algn="l" rtl="0">
              <a:lnSpc>
                <a:spcPct val="100000"/>
              </a:lnSpc>
              <a:spcBef>
                <a:spcPts val="0"/>
              </a:spcBef>
              <a:spcAft>
                <a:spcPts val="0"/>
              </a:spcAft>
              <a:buClr>
                <a:schemeClr val="dk1"/>
              </a:buClr>
              <a:buSzPts val="900"/>
              <a:buFont typeface="Cabin"/>
              <a:buChar char="●"/>
            </a:pPr>
            <a:r>
              <a:rPr lang="es-CL" sz="900" i="1">
                <a:solidFill>
                  <a:schemeClr val="dk1"/>
                </a:solidFill>
                <a:latin typeface="Cabin"/>
                <a:ea typeface="Cabin"/>
                <a:cs typeface="Cabin"/>
                <a:sym typeface="Cabin"/>
              </a:rPr>
              <a:t>Buscan actividades al aire libre que sean accesibles en Santiago sin contar con experiencia avanzada.</a:t>
            </a:r>
            <a:endParaRPr sz="900" i="1">
              <a:solidFill>
                <a:schemeClr val="dk1"/>
              </a:solidFill>
              <a:latin typeface="Cabin"/>
              <a:ea typeface="Cabin"/>
              <a:cs typeface="Cabin"/>
              <a:sym typeface="Cabin"/>
            </a:endParaRPr>
          </a:p>
          <a:p>
            <a:pPr marL="457200" marR="0" lvl="0" indent="0" algn="l" rtl="0">
              <a:lnSpc>
                <a:spcPct val="100000"/>
              </a:lnSpc>
              <a:spcBef>
                <a:spcPts val="0"/>
              </a:spcBef>
              <a:spcAft>
                <a:spcPts val="0"/>
              </a:spcAft>
              <a:buNone/>
            </a:pPr>
            <a:endParaRPr sz="900" i="1">
              <a:solidFill>
                <a:schemeClr val="dk1"/>
              </a:solidFill>
              <a:latin typeface="Cabin"/>
              <a:ea typeface="Cabin"/>
              <a:cs typeface="Cabin"/>
              <a:sym typeface="Cabin"/>
            </a:endParaRPr>
          </a:p>
        </p:txBody>
      </p:sp>
      <p:sp>
        <p:nvSpPr>
          <p:cNvPr id="345" name="Google Shape;345;g3f84fc51fa7_1_5"/>
          <p:cNvSpPr txBox="1"/>
          <p:nvPr/>
        </p:nvSpPr>
        <p:spPr>
          <a:xfrm>
            <a:off x="4762500" y="5299675"/>
            <a:ext cx="4046400" cy="153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800" i="1" dirty="0">
                <a:solidFill>
                  <a:schemeClr val="dk1"/>
                </a:solidFill>
                <a:latin typeface="Cabin"/>
                <a:ea typeface="Cabin"/>
                <a:cs typeface="Cabin"/>
                <a:sym typeface="Cabin"/>
              </a:rPr>
              <a:t>-Plan mensual: Creación de 5 eventos grupales a la vez, Acceso a galería 50GB, podrás subir las fotos del evento(~$4.000/mes)</a:t>
            </a:r>
            <a:endParaRPr sz="800" i="1" dirty="0">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dirty="0">
                <a:solidFill>
                  <a:schemeClr val="dk1"/>
                </a:solidFill>
                <a:latin typeface="Cabin"/>
                <a:ea typeface="Cabin"/>
                <a:cs typeface="Cabin"/>
                <a:sym typeface="Cabin"/>
              </a:rPr>
              <a:t>-Plan trimestral - Membresía organizador: plan para guías o clubes que crean múltiples eventos, Insignia de perfil "Senderista Premium", Creación de 15 eventos grupales a la vez, Acceso a galería 100GB, podrás subir las fotos del evento (~$13.350 - Pagando $3.337 / mes)</a:t>
            </a:r>
            <a:endParaRPr sz="800" i="1" dirty="0">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dirty="0">
                <a:solidFill>
                  <a:schemeClr val="dk1"/>
                </a:solidFill>
                <a:latin typeface="Cabin"/>
                <a:ea typeface="Cabin"/>
                <a:cs typeface="Cabin"/>
                <a:sym typeface="Cabin"/>
              </a:rPr>
              <a:t>-Plan Anual: plan para guías o clubes que crean múltiples eventos, Insignia de perfil "Senderista Premium", Creación de eventos  grupales ilimitados, Acceso a galería 200GB, podrás subir las fotos del evento, Descuentos exclusivos en Multiverso creaciones (Poleras con tu paisaje o animal favorito) -($39.000, Pagando $3.250 / mes) (Agregar Insignia  </a:t>
            </a:r>
            <a:r>
              <a:rPr lang="es-CL" sz="800" i="1" dirty="0" err="1">
                <a:solidFill>
                  <a:schemeClr val="dk1"/>
                </a:solidFill>
                <a:latin typeface="Cabin"/>
                <a:ea typeface="Cabin"/>
                <a:cs typeface="Cabin"/>
                <a:sym typeface="Cabin"/>
              </a:rPr>
              <a:t>guia</a:t>
            </a:r>
            <a:r>
              <a:rPr lang="es-CL" sz="800" i="1" dirty="0">
                <a:solidFill>
                  <a:schemeClr val="dk1"/>
                </a:solidFill>
                <a:latin typeface="Cabin"/>
                <a:ea typeface="Cabin"/>
                <a:cs typeface="Cabin"/>
                <a:sym typeface="Cabin"/>
              </a:rPr>
              <a:t>)</a:t>
            </a:r>
            <a:endParaRPr sz="800" i="1" dirty="0">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dirty="0">
                <a:solidFill>
                  <a:schemeClr val="dk1"/>
                </a:solidFill>
                <a:latin typeface="Cabin"/>
                <a:ea typeface="Cabin"/>
                <a:cs typeface="Cabin"/>
                <a:sym typeface="Cabin"/>
              </a:rPr>
              <a:t>-Futura integración con </a:t>
            </a:r>
            <a:r>
              <a:rPr lang="es-CL" sz="800" i="1" dirty="0" err="1">
                <a:solidFill>
                  <a:schemeClr val="dk1"/>
                </a:solidFill>
                <a:latin typeface="Cabin"/>
                <a:ea typeface="Cabin"/>
                <a:cs typeface="Cabin"/>
                <a:sym typeface="Cabin"/>
              </a:rPr>
              <a:t>Firebase</a:t>
            </a:r>
            <a:r>
              <a:rPr lang="es-CL" sz="800" i="1" dirty="0">
                <a:solidFill>
                  <a:schemeClr val="dk1"/>
                </a:solidFill>
                <a:latin typeface="Cabin"/>
                <a:ea typeface="Cabin"/>
                <a:cs typeface="Cabin"/>
                <a:sym typeface="Cabin"/>
              </a:rPr>
              <a:t> Storage para fotos de perfil y galería (escalable)</a:t>
            </a:r>
            <a:endParaRPr sz="800" i="1" dirty="0">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800" i="1" dirty="0">
                <a:solidFill>
                  <a:schemeClr val="dk1"/>
                </a:solidFill>
                <a:latin typeface="Cabin"/>
                <a:ea typeface="Cabin"/>
                <a:cs typeface="Cabin"/>
                <a:sym typeface="Cabin"/>
              </a:rPr>
              <a:t>- Marketplace integrado: ventas de productos o servicios relacionados con trekking y camping.</a:t>
            </a:r>
            <a:endParaRPr sz="800" i="1" dirty="0">
              <a:solidFill>
                <a:schemeClr val="dk1"/>
              </a:solidFill>
              <a:latin typeface="Cabin"/>
              <a:ea typeface="Cabin"/>
              <a:cs typeface="Cabin"/>
              <a:sym typeface="Cabin"/>
            </a:endParaRPr>
          </a:p>
        </p:txBody>
      </p:sp>
      <p:sp>
        <p:nvSpPr>
          <p:cNvPr id="346" name="Google Shape;346;g3f84fc51fa7_1_5"/>
          <p:cNvSpPr txBox="1"/>
          <p:nvPr/>
        </p:nvSpPr>
        <p:spPr>
          <a:xfrm>
            <a:off x="783075" y="5496025"/>
            <a:ext cx="37812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-Firebase (Firestore, Auth): plan gratuito hasta cierto límite, luego ~$25/mes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-APIs externas: OpenRouteService, OpenWeatherMap, Thunderforest (planes gratuitos)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-Capacitor plugins y mantenimiento de la app: costo de desarrollo propio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-Google Play Store ($25 único) y App Store ($99/año)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endParaRPr sz="8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 Marketing y distribución: publicidad en redes sociales, campañas de difusión, alianzas estratégicas ($85.000/mes).</a:t>
            </a:r>
            <a:endParaRPr sz="800" i="1">
              <a:solidFill>
                <a:schemeClr val="dk1"/>
              </a:solidFill>
              <a:latin typeface="Cabin"/>
              <a:ea typeface="Cabin"/>
              <a:cs typeface="Cabin"/>
              <a:sym typeface="Cabin"/>
            </a:endParaRPr>
          </a:p>
        </p:txBody>
      </p:sp>
      <p:sp>
        <p:nvSpPr>
          <p:cNvPr id="347" name="Google Shape;347;g3f84fc51fa7_1_5"/>
          <p:cNvSpPr txBox="1"/>
          <p:nvPr/>
        </p:nvSpPr>
        <p:spPr>
          <a:xfrm>
            <a:off x="2349663" y="3214013"/>
            <a:ext cx="1579200" cy="1908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-Nº de usuarios registrados activos mensualmente</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-Nº de eventos creados y participantes por evento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-Tasa de retención semanal (usuarios que vuelven)</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-Uso del botón SOS (indicador de confianza)</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-Rutas consultadas por sesión</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-Tiempo promedio de uso de la app en terreno</a:t>
            </a:r>
            <a:endParaRPr sz="800" i="1">
              <a:solidFill>
                <a:schemeClr val="dk1"/>
              </a:solidFill>
              <a:latin typeface="Cabin"/>
              <a:ea typeface="Cabin"/>
              <a:cs typeface="Cabin"/>
              <a:sym typeface="Cabin"/>
            </a:endParaRPr>
          </a:p>
          <a:p>
            <a:pPr marL="0" lvl="0" indent="0" algn="l" rtl="0">
              <a:spcBef>
                <a:spcPts val="0"/>
              </a:spcBef>
              <a:spcAft>
                <a:spcPts val="0"/>
              </a:spcAft>
              <a:buClr>
                <a:schemeClr val="dk1"/>
              </a:buClr>
              <a:buSzPts val="900"/>
              <a:buFont typeface="Arial"/>
              <a:buNone/>
            </a:pPr>
            <a:r>
              <a:rPr lang="es-CL" sz="800" i="1">
                <a:solidFill>
                  <a:schemeClr val="dk1"/>
                </a:solidFill>
                <a:latin typeface="Cabin"/>
                <a:ea typeface="Cabin"/>
                <a:cs typeface="Cabin"/>
                <a:sym typeface="Cabin"/>
              </a:rPr>
              <a:t>- Satisfacción: calificación promedio &gt;8/10 en encuestas post-salida</a:t>
            </a:r>
            <a:endParaRPr sz="800" i="1">
              <a:solidFill>
                <a:schemeClr val="dk1"/>
              </a:solidFill>
              <a:latin typeface="Cabin"/>
              <a:ea typeface="Cabin"/>
              <a:cs typeface="Cabin"/>
              <a:sym typeface="Cabin"/>
            </a:endParaRPr>
          </a:p>
        </p:txBody>
      </p:sp>
      <p:sp>
        <p:nvSpPr>
          <p:cNvPr id="348" name="Google Shape;348;g3f84fc51fa7_1_5"/>
          <p:cNvSpPr txBox="1"/>
          <p:nvPr/>
        </p:nvSpPr>
        <p:spPr>
          <a:xfrm>
            <a:off x="5616113" y="1296650"/>
            <a:ext cx="1579200" cy="153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-Base de datos de rutas de Santiago a través de wikiloc.</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-Sistema de seguridad SOS integrado que genera confianza y diferenciación real</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-Arquitectura modular con Firebase que escala sin costo inicial</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-Comunidad cerrada y verificada: solo usuarios registrados pueden unirse a eventos</a:t>
            </a:r>
            <a:endParaRPr sz="800" i="1">
              <a:solidFill>
                <a:schemeClr val="dk1"/>
              </a:solidFill>
              <a:latin typeface="Cabin"/>
              <a:ea typeface="Cabin"/>
              <a:cs typeface="Cabin"/>
              <a:sym typeface="Cabin"/>
            </a:endParaRPr>
          </a:p>
        </p:txBody>
      </p:sp>
      <p:sp>
        <p:nvSpPr>
          <p:cNvPr id="349" name="Google Shape;349;g3f84fc51fa7_1_5"/>
          <p:cNvSpPr txBox="1"/>
          <p:nvPr/>
        </p:nvSpPr>
        <p:spPr>
          <a:xfrm>
            <a:off x="389676" y="240575"/>
            <a:ext cx="8511000" cy="365100"/>
          </a:xfrm>
          <a:prstGeom prst="rect">
            <a:avLst/>
          </a:prstGeom>
          <a:noFill/>
          <a:ln>
            <a:noFill/>
          </a:ln>
        </p:spPr>
        <p:txBody>
          <a:bodyPr spcFirstLastPara="1" wrap="square" lIns="79775" tIns="39875" rIns="79775" bIns="39875" anchor="t" anchorCtr="0">
            <a:noAutofit/>
          </a:bodyPr>
          <a:lstStyle/>
          <a:p>
            <a:pPr marL="0" marR="0" lvl="0" indent="0" algn="l" rtl="0">
              <a:lnSpc>
                <a:spcPct val="90000"/>
              </a:lnSpc>
              <a:spcBef>
                <a:spcPts val="0"/>
              </a:spcBef>
              <a:spcAft>
                <a:spcPts val="0"/>
              </a:spcAft>
              <a:buClr>
                <a:srgbClr val="000000"/>
              </a:buClr>
              <a:buSzPts val="2100"/>
              <a:buFont typeface="Arial"/>
              <a:buNone/>
            </a:pPr>
            <a:r>
              <a:rPr lang="es-CL" sz="2100" b="1">
                <a:solidFill>
                  <a:schemeClr val="lt1"/>
                </a:solidFill>
                <a:highlight>
                  <a:srgbClr val="5C5DD4"/>
                </a:highlight>
                <a:latin typeface="Comfortaa"/>
                <a:ea typeface="Comfortaa"/>
                <a:cs typeface="Comfortaa"/>
                <a:sym typeface="Comfortaa"/>
              </a:rPr>
              <a:t>9. </a:t>
            </a:r>
            <a:r>
              <a:rPr lang="es-CL" sz="2100" b="1" i="0" u="none" strike="noStrike" cap="none">
                <a:solidFill>
                  <a:schemeClr val="lt1"/>
                </a:solidFill>
                <a:highlight>
                  <a:srgbClr val="5C5DD4"/>
                </a:highlight>
                <a:latin typeface="Comfortaa"/>
                <a:ea typeface="Comfortaa"/>
                <a:cs typeface="Comfortaa"/>
                <a:sym typeface="Comfortaa"/>
              </a:rPr>
              <a:t>LEAN CANVAS </a:t>
            </a:r>
            <a:endParaRPr sz="1200" b="1" i="0" u="none" strike="noStrike" cap="none">
              <a:solidFill>
                <a:srgbClr val="FF0000"/>
              </a:solidFill>
              <a:highlight>
                <a:srgbClr val="5C5DD4"/>
              </a:highlight>
              <a:latin typeface="Comfortaa"/>
              <a:ea typeface="Comfortaa"/>
              <a:cs typeface="Comfortaa"/>
              <a:sym typeface="Comfortaa"/>
            </a:endParaRPr>
          </a:p>
        </p:txBody>
      </p:sp>
      <p:sp>
        <p:nvSpPr>
          <p:cNvPr id="350" name="Google Shape;350;g3f84fc51fa7_1_5"/>
          <p:cNvSpPr txBox="1"/>
          <p:nvPr/>
        </p:nvSpPr>
        <p:spPr>
          <a:xfrm>
            <a:off x="662600" y="4059925"/>
            <a:ext cx="16596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-Wikiloc (rutas, sin comunidad local)</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-AllTrails (internacional, sin eventos)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-Grupos WhatsApp (sin herramientas de seguridad)</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rgbClr val="000000"/>
              </a:buClr>
              <a:buSzPts val="900"/>
              <a:buFont typeface="Arial"/>
              <a:buNone/>
            </a:pPr>
            <a:r>
              <a:rPr lang="es-CL" sz="800" i="1">
                <a:solidFill>
                  <a:schemeClr val="dk1"/>
                </a:solidFill>
                <a:latin typeface="Cabin"/>
                <a:ea typeface="Cabin"/>
                <a:cs typeface="Cabin"/>
                <a:sym typeface="Cabin"/>
              </a:rPr>
              <a:t>-Strava (rutas, internacional, enfocado a deportistas)</a:t>
            </a:r>
            <a:endParaRPr sz="800" i="1">
              <a:solidFill>
                <a:schemeClr val="dk1"/>
              </a:solidFill>
              <a:latin typeface="Cabin"/>
              <a:ea typeface="Cabin"/>
              <a:cs typeface="Cabin"/>
              <a:sym typeface="Cabin"/>
            </a:endParaRPr>
          </a:p>
        </p:txBody>
      </p:sp>
      <p:sp>
        <p:nvSpPr>
          <p:cNvPr id="351" name="Google Shape;351;g3f84fc51fa7_1_5"/>
          <p:cNvSpPr txBox="1"/>
          <p:nvPr/>
        </p:nvSpPr>
        <p:spPr>
          <a:xfrm>
            <a:off x="2273575" y="1299463"/>
            <a:ext cx="1707600" cy="166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-App móvil con sistema de eventos privados de trekking con código de invitación único (TRK-XXXXXX)</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-Base de datos de rutas en Santiago con información técnica: altitud, dificultad, distancia, equipamiento</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-GPS tracking en tiempo real con exportación GPX y mapa interactivo con senderos</a:t>
            </a:r>
            <a:endParaRPr sz="800" i="1">
              <a:solidFill>
                <a:schemeClr val="dk1"/>
              </a:solidFill>
              <a:latin typeface="Cabin"/>
              <a:ea typeface="Cabin"/>
              <a:cs typeface="Cabin"/>
              <a:sym typeface="Cabin"/>
            </a:endParaRPr>
          </a:p>
          <a:p>
            <a:pPr marL="0" marR="0" lvl="0" indent="0" algn="l" rtl="0">
              <a:lnSpc>
                <a:spcPct val="100000"/>
              </a:lnSpc>
              <a:spcBef>
                <a:spcPts val="0"/>
              </a:spcBef>
              <a:spcAft>
                <a:spcPts val="0"/>
              </a:spcAft>
              <a:buClr>
                <a:schemeClr val="dk1"/>
              </a:buClr>
              <a:buSzPts val="1100"/>
              <a:buFont typeface="Arial"/>
              <a:buNone/>
            </a:pPr>
            <a:r>
              <a:rPr lang="es-CL" sz="800" i="1">
                <a:solidFill>
                  <a:schemeClr val="dk1"/>
                </a:solidFill>
                <a:latin typeface="Cabin"/>
                <a:ea typeface="Cabin"/>
                <a:cs typeface="Cabin"/>
                <a:sym typeface="Cabin"/>
              </a:rPr>
              <a:t>-Sistema SOS que envía ubicación GPS a contactos de emergencia por SMS y WhatsApp</a:t>
            </a:r>
            <a:endParaRPr sz="800" i="1">
              <a:solidFill>
                <a:schemeClr val="dk1"/>
              </a:solidFill>
              <a:latin typeface="Cabin"/>
              <a:ea typeface="Cabin"/>
              <a:cs typeface="Cabin"/>
              <a:sym typeface="Cabin"/>
            </a:endParaRPr>
          </a:p>
        </p:txBody>
      </p:sp>
    </p:spTree>
  </p:cSld>
  <p:clrMapOvr>
    <a:masterClrMapping/>
  </p:clrMapOvr>
</p:sld>
</file>

<file path=ppt/theme/theme1.xml><?xml version="1.0" encoding="utf-8"?>
<a:theme xmlns:a="http://schemas.openxmlformats.org/drawingml/2006/main" name="Tema H.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5993</Words>
  <Application>Microsoft Office PowerPoint</Application>
  <PresentationFormat>Presentación en pantalla (4:3)</PresentationFormat>
  <Paragraphs>492</Paragraphs>
  <Slides>14</Slides>
  <Notes>14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14</vt:i4>
      </vt:variant>
    </vt:vector>
  </HeadingPairs>
  <TitlesOfParts>
    <vt:vector size="24" baseType="lpstr">
      <vt:lpstr>Comfortaa</vt:lpstr>
      <vt:lpstr>Comfortaa Medium</vt:lpstr>
      <vt:lpstr>Barlow Condensed</vt:lpstr>
      <vt:lpstr>Calibri</vt:lpstr>
      <vt:lpstr>Cabin SemiBold</vt:lpstr>
      <vt:lpstr>Cabin</vt:lpstr>
      <vt:lpstr>Arial</vt:lpstr>
      <vt:lpstr>Cabin Medium</vt:lpstr>
      <vt:lpstr>Josefin Sans</vt:lpstr>
      <vt:lpstr>Tema H.E</vt:lpstr>
      <vt:lpstr>Presentación de PowerPoint</vt:lpstr>
      <vt:lpstr>LIENZO DE PERSPECTIVA EN EQUIPO</vt:lpstr>
      <vt:lpstr>Presentación de PowerPoint</vt:lpstr>
      <vt:lpstr>3. MAPA DE CONTEXTO</vt:lpstr>
      <vt:lpstr>4. IDENTIFICAR UN PROBLEMA</vt:lpstr>
      <vt:lpstr>5. PAUTA DE ENTREVISTAS</vt:lpstr>
      <vt:lpstr>5. PAUTA DE ENTREVISTAS</vt:lpstr>
      <vt:lpstr>Presentación de PowerPoint</vt:lpstr>
      <vt:lpstr>5. PAUTA DE ENTREVISTAS</vt:lpstr>
      <vt:lpstr>6. Perfil y Mapa de viaje del usuario/cliente</vt:lpstr>
      <vt:lpstr>7. OPORTUNIDAD EN BASE A PROBLEMA</vt:lpstr>
      <vt:lpstr>8. ITERACIÓN DE LA PROPUESTA</vt:lpstr>
      <vt:lpstr>8. ITERACIÓN DE LA PROPUESTA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Camilafernanda Varas Sanchez</dc:creator>
  <cp:lastModifiedBy>ISMAEL ALBERTO HORTA CHAVEZ</cp:lastModifiedBy>
  <cp:revision>2</cp:revision>
  <dcterms:created xsi:type="dcterms:W3CDTF">2023-12-18T17:06:19Z</dcterms:created>
  <dcterms:modified xsi:type="dcterms:W3CDTF">2026-10-01T00:58:12Z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0x010100BFF81ADBDA01B0498A9FE80E49B43E6D</vt:lpwstr>
  </property>
  <property fmtid="{D5CDD505-2E9C-101B-9397-08002B2CF9AE}" pid="3" name="MediaServiceImageTags">
    <vt:lpwstr/>
  </property>
</Properties>
</file>